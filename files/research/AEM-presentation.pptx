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8"/>
  </p:notesMasterIdLst>
  <p:sldIdLst>
    <p:sldId id="338" r:id="rId2"/>
    <p:sldId id="339" r:id="rId3"/>
    <p:sldId id="340" r:id="rId4"/>
    <p:sldId id="341" r:id="rId5"/>
    <p:sldId id="342" r:id="rId6"/>
    <p:sldId id="343" r:id="rId7"/>
    <p:sldId id="337" r:id="rId8"/>
    <p:sldId id="344" r:id="rId9"/>
    <p:sldId id="345" r:id="rId10"/>
    <p:sldId id="346" r:id="rId11"/>
    <p:sldId id="347" r:id="rId12"/>
    <p:sldId id="354" r:id="rId13"/>
    <p:sldId id="349" r:id="rId14"/>
    <p:sldId id="350" r:id="rId15"/>
    <p:sldId id="353" r:id="rId16"/>
    <p:sldId id="35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0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34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267F0E-EE14-4B45-AEF7-9D2F720D8837}" type="datetimeFigureOut">
              <a:rPr lang="en-CA" smtClean="0"/>
              <a:t>2026-02-23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E40DF-E801-437E-86BD-F2DE0BEFE8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9816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E40DF-E801-437E-86BD-F2DE0BEFE8F9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1396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994CE-D2B4-B99A-26E4-C5BD5B8AA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2C5B3C-F1A5-F8C6-3B5C-CBEA2EDB9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EC1CE-53F2-60FE-F448-8762AC902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18AF-D8C9-4833-A671-A5CB2840D3B5}" type="datetimeFigureOut">
              <a:rPr lang="en-CA" smtClean="0"/>
              <a:t>2026-02-23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06011-8376-C1DA-9F98-F0832CA0F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9D939-72B4-0078-623A-B75D7D98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143D-F339-421F-95C1-0BC3DFF1E9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6615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1B9FA-5580-F97B-05BF-F04B056B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409B-BFB0-79F7-42B7-630F949D6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098D4-69F8-4FE6-B6DE-B90C26B7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18AF-D8C9-4833-A671-A5CB2840D3B5}" type="datetimeFigureOut">
              <a:rPr lang="en-CA" smtClean="0"/>
              <a:t>2026-02-23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6AFF2-0D5E-EDA5-A44A-8EB2B8C95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E8A52-880A-5EAD-6AFE-ADFD14E89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143D-F339-421F-95C1-0BC3DFF1E9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938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CA137-6885-80AB-1275-0069B99F2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D70A5-E156-9899-4773-19AD04FFC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A681D-6025-A54B-5C07-9CFACA48B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18AF-D8C9-4833-A671-A5CB2840D3B5}" type="datetimeFigureOut">
              <a:rPr lang="en-CA" smtClean="0"/>
              <a:t>2026-02-23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5880F-4C23-27A4-9284-D2D5F7F43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B9F1B-4E88-BA3A-A373-3C3DEFF20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143D-F339-421F-95C1-0BC3DFF1E9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26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80F8C-EC19-AE71-B592-B5B955D0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42A44-35BF-12D5-8AC7-A6BB23466E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0EC94-1A15-F13E-F7BF-5AC85B56B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C417D-8910-1F73-F003-8535E3886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18AF-D8C9-4833-A671-A5CB2840D3B5}" type="datetimeFigureOut">
              <a:rPr lang="en-CA" smtClean="0"/>
              <a:t>2026-02-23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D786B-DBE5-CF74-055D-E18F5DF67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C5665-94C9-FB1F-EA7D-689C1F20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143D-F339-421F-95C1-0BC3DFF1E9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7368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F3EEE-B40F-CF92-5952-5394AADF5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EDC0A-8DA8-A943-CD0A-0211301EE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12D076-AA7A-5345-DD47-BF01381CD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88F51E-AF74-EB2D-7241-66BE416D78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491F98-3683-5298-AE16-C7B0874BD4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70BEBD-48B6-8001-DC6B-0A23A91D7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18AF-D8C9-4833-A671-A5CB2840D3B5}" type="datetimeFigureOut">
              <a:rPr lang="en-CA" smtClean="0"/>
              <a:t>2026-02-23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9E34B5-2C18-6F5C-5E48-26DDBD5F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DF15-182A-917D-3114-53352CD3E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143D-F339-421F-95C1-0BC3DFF1E9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642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71761-573D-A95E-D068-79530E23A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64A021-1E01-49AC-DE41-2C43E2E2D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18AF-D8C9-4833-A671-A5CB2840D3B5}" type="datetimeFigureOut">
              <a:rPr lang="en-CA" smtClean="0"/>
              <a:t>2026-02-23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758B71-EF64-D4D3-4049-F5186F2B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03F1D-22E9-3A7F-AD4D-6BDF969B1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143D-F339-421F-95C1-0BC3DFF1E9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4219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0D3758-DE12-C58C-A876-BD1749D39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18AF-D8C9-4833-A671-A5CB2840D3B5}" type="datetimeFigureOut">
              <a:rPr lang="en-CA" smtClean="0"/>
              <a:t>2026-02-23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74A98E-6F5C-EE6A-2A05-E531308C7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073D5-65D7-45B6-41FF-4B6E560D5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143D-F339-421F-95C1-0BC3DFF1E9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4496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77CF7-1448-4388-AA6D-28EA88D4E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A3E55-3C75-11BA-C861-4B6C36CA0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A9999-8C18-3CE6-51CD-22319B836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CF937-F5D7-3966-4577-422E6AAED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18AF-D8C9-4833-A671-A5CB2840D3B5}" type="datetimeFigureOut">
              <a:rPr lang="en-CA" smtClean="0"/>
              <a:t>2026-02-23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FAC6A-0830-6801-20D8-94A8ABF95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D11E6-06E0-06CB-6ECA-90ABA0270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143D-F339-421F-95C1-0BC3DFF1E9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7701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20213-EA9F-D8B9-816A-83079160F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DBB9B-AD33-6D50-0FDF-091804C9CD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2EB299-9E66-352D-5204-31607EFD8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83B06-F9C7-8511-3C24-036BC8B6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18AF-D8C9-4833-A671-A5CB2840D3B5}" type="datetimeFigureOut">
              <a:rPr lang="en-CA" smtClean="0"/>
              <a:t>2026-02-23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B4E7E-0924-37AF-2EE2-43750506E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43FFD-F987-C3D2-283E-4AD9A738A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143D-F339-421F-95C1-0BC3DFF1E9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6405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3FDF6-B760-E876-0330-03A19F33E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680AA-FC94-9382-22AC-B8AEA2E30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71381-622B-130B-751C-0AF39FDD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18AF-D8C9-4833-A671-A5CB2840D3B5}" type="datetimeFigureOut">
              <a:rPr lang="en-CA" smtClean="0"/>
              <a:t>2026-02-23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6739C-EEF1-0D63-7031-B221E4D8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FF120-B37A-394E-EFB3-0017CC53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143D-F339-421F-95C1-0BC3DFF1E9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0786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64F568-C8CD-8694-C189-601B7D8B0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E154B-9288-06AF-D0C9-DA58C9DC8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929FE-85FD-71F7-3C6D-1BD95415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18AF-D8C9-4833-A671-A5CB2840D3B5}" type="datetimeFigureOut">
              <a:rPr lang="en-CA" smtClean="0"/>
              <a:t>2026-02-23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3C19E-0952-F76C-9B15-A041DBDB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BF767-FF39-2999-0336-8058FE5A7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143D-F339-421F-95C1-0BC3DFF1E9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1069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MContentBg"/>
          <p:cNvSpPr>
            <a:spLocks noGrp="1"/>
          </p:cNvSpPr>
          <p:nvPr/>
        </p:nvSpPr>
        <p:spPr>
          <a:xfrm>
            <a:off x="0" y="825500"/>
            <a:ext cx="12192000" cy="58039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MTopGold"/>
          <p:cNvSpPr>
            <a:spLocks noGrp="1"/>
          </p:cNvSpPr>
          <p:nvPr/>
        </p:nvSpPr>
        <p:spPr>
          <a:xfrm>
            <a:off x="0" y="0"/>
            <a:ext cx="4902200" cy="889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MFooter"/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MGoldCorner"/>
          <p:cNvSpPr>
            <a:spLocks noGrp="1"/>
          </p:cNvSpPr>
          <p:nvPr/>
        </p:nvSpPr>
        <p:spPr>
          <a:xfrm>
            <a:off x="11379200" y="6629400"/>
            <a:ext cx="812800" cy="2286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MFooterLeft"/>
          <p:cNvSpPr/>
          <p:nvPr/>
        </p:nvSpPr>
        <p:spPr>
          <a:xfrm>
            <a:off x="127000" y="6654800"/>
            <a:ext cx="5842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700" dirty="0">
                <a:solidFill>
                  <a:srgbClr val="57585B"/>
                </a:solidFill>
                <a:latin typeface="Arial"/>
              </a:rPr>
              <a:t>AEM EQUITY RESEARCH — INITIATING COVERAGE  |  JADEN KWEK  |  FEBRUARY 23, 2026</a:t>
            </a:r>
          </a:p>
        </p:txBody>
      </p:sp>
      <p:sp>
        <p:nvSpPr>
          <p:cNvPr id="206" name="MFooterRight"/>
          <p:cNvSpPr/>
          <p:nvPr/>
        </p:nvSpPr>
        <p:spPr>
          <a:xfrm>
            <a:off x="6096000" y="6654800"/>
            <a:ext cx="520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700" dirty="0">
                <a:solidFill>
                  <a:srgbClr val="57585B"/>
                </a:solidFill>
                <a:latin typeface="Arial"/>
              </a:rPr>
              <a:t>NYSE &amp; TSX: AEM</a:t>
            </a:r>
          </a:p>
        </p:txBody>
      </p:sp>
      <p:sp>
        <p:nvSpPr>
          <p:cNvPr id="207" name="MHdrLine"/>
          <p:cNvSpPr>
            <a:spLocks noGrp="1"/>
          </p:cNvSpPr>
          <p:nvPr/>
        </p:nvSpPr>
        <p:spPr>
          <a:xfrm>
            <a:off x="0" y="812800"/>
            <a:ext cx="12192000" cy="12700"/>
          </a:xfrm>
          <a:prstGeom prst="rect">
            <a:avLst/>
          </a:prstGeom>
          <a:solidFill>
            <a:srgbClr val="C8C9CA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716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21F1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21F1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LeftPanel"/>
          <p:cNvSpPr>
            <a:spLocks noGrp="1"/>
          </p:cNvSpPr>
          <p:nvPr/>
        </p:nvSpPr>
        <p:spPr>
          <a:xfrm>
            <a:off x="0" y="0"/>
            <a:ext cx="7112000" cy="68580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GoldBar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RightPanel"/>
          <p:cNvSpPr>
            <a:spLocks noGrp="1"/>
          </p:cNvSpPr>
          <p:nvPr/>
        </p:nvSpPr>
        <p:spPr>
          <a:xfrm>
            <a:off x="7112000" y="0"/>
            <a:ext cx="5080000" cy="6858000"/>
          </a:xfrm>
          <a:prstGeom prst="rect">
            <a:avLst/>
          </a:prstGeom>
          <a:solidFill>
            <a:srgbClr val="F0F1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RGold"/>
          <p:cNvSpPr>
            <a:spLocks noGrp="1"/>
          </p:cNvSpPr>
          <p:nvPr/>
        </p:nvSpPr>
        <p:spPr>
          <a:xfrm>
            <a:off x="7112000" y="0"/>
            <a:ext cx="5080000" cy="762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Co"/>
          <p:cNvSpPr/>
          <p:nvPr/>
        </p:nvSpPr>
        <p:spPr>
          <a:xfrm>
            <a:off x="355600" y="381000"/>
            <a:ext cx="6477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3400" b="1" dirty="0">
                <a:solidFill>
                  <a:srgbClr val="FFFFFF"/>
                </a:solidFill>
                <a:latin typeface="Arial"/>
              </a:rPr>
              <a:t>AGNICO EAGLE MINES</a:t>
            </a:r>
          </a:p>
        </p:txBody>
      </p:sp>
      <p:sp>
        <p:nvSpPr>
          <p:cNvPr id="111" name="Sub"/>
          <p:cNvSpPr/>
          <p:nvPr/>
        </p:nvSpPr>
        <p:spPr>
          <a:xfrm>
            <a:off x="355600" y="1219200"/>
            <a:ext cx="647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400" dirty="0">
                <a:solidFill>
                  <a:srgbClr val="62666A"/>
                </a:solidFill>
                <a:latin typeface="Arial"/>
              </a:rPr>
              <a:t>EQUITY RESEARCH — INITIATING COVERAGE</a:t>
            </a:r>
          </a:p>
        </p:txBody>
      </p:sp>
      <p:sp>
        <p:nvSpPr>
          <p:cNvPr id="112" name="LGoldDiv"/>
          <p:cNvSpPr>
            <a:spLocks noGrp="1"/>
          </p:cNvSpPr>
          <p:nvPr/>
        </p:nvSpPr>
        <p:spPr>
          <a:xfrm>
            <a:off x="355600" y="1600200"/>
            <a:ext cx="6477000" cy="381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BuyBadge"/>
          <p:cNvSpPr>
            <a:spLocks noGrp="1"/>
          </p:cNvSpPr>
          <p:nvPr/>
        </p:nvSpPr>
        <p:spPr>
          <a:xfrm>
            <a:off x="355600" y="1752600"/>
            <a:ext cx="1016000" cy="431800"/>
          </a:xfrm>
          <a:prstGeom prst="roundRect">
            <a:avLst>
              <a:gd name="adj" fmla="val 16667"/>
            </a:avLst>
          </a:prstGeom>
          <a:solidFill>
            <a:srgbClr val="EFC400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51E24"/>
                </a:solidFill>
                <a:latin typeface="Arial"/>
              </a:rPr>
              <a:t>BUY</a:t>
            </a:r>
          </a:p>
        </p:txBody>
      </p:sp>
      <p:sp>
        <p:nvSpPr>
          <p:cNvPr id="114" name="PT"/>
          <p:cNvSpPr/>
          <p:nvPr/>
        </p:nvSpPr>
        <p:spPr>
          <a:xfrm>
            <a:off x="1524000" y="17526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500" b="1" dirty="0">
                <a:solidFill>
                  <a:srgbClr val="EFC400"/>
                </a:solidFill>
                <a:latin typeface="Arial"/>
              </a:rPr>
              <a:t>Price Target: $300.00 / share</a:t>
            </a:r>
          </a:p>
        </p:txBody>
      </p:sp>
      <p:sp>
        <p:nvSpPr>
          <p:cNvPr id="115" name="Upsid"/>
          <p:cNvSpPr/>
          <p:nvPr/>
        </p:nvSpPr>
        <p:spPr>
          <a:xfrm>
            <a:off x="1524000" y="20320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300" dirty="0">
                <a:solidFill>
                  <a:srgbClr val="62666A"/>
                </a:solidFill>
                <a:latin typeface="Arial"/>
              </a:rPr>
              <a:t>+24.7% upside from $240.49 (Feb 23, 2026)</a:t>
            </a:r>
          </a:p>
        </p:txBody>
      </p:sp>
      <p:sp>
        <p:nvSpPr>
          <p:cNvPr id="116" name="MetHdr"/>
          <p:cNvSpPr/>
          <p:nvPr/>
        </p:nvSpPr>
        <p:spPr>
          <a:xfrm>
            <a:off x="355600" y="2438400"/>
            <a:ext cx="647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950" dirty="0">
                <a:solidFill>
                  <a:srgbClr val="62666A"/>
                </a:solidFill>
                <a:latin typeface="Arial"/>
              </a:rPr>
              <a:t>KEY METRICS</a:t>
            </a:r>
          </a:p>
        </p:txBody>
      </p:sp>
      <p:sp>
        <p:nvSpPr>
          <p:cNvPr id="117" name="MetDiv"/>
          <p:cNvSpPr>
            <a:spLocks noGrp="1"/>
          </p:cNvSpPr>
          <p:nvPr/>
        </p:nvSpPr>
        <p:spPr>
          <a:xfrm>
            <a:off x="355600" y="2667000"/>
            <a:ext cx="6477000" cy="12700"/>
          </a:xfrm>
          <a:prstGeom prst="rect">
            <a:avLst/>
          </a:prstGeom>
          <a:solidFill>
            <a:srgbClr val="2A3A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MB0"/>
          <p:cNvSpPr>
            <a:spLocks noGrp="1"/>
          </p:cNvSpPr>
          <p:nvPr/>
        </p:nvSpPr>
        <p:spPr>
          <a:xfrm>
            <a:off x="355600" y="2717800"/>
            <a:ext cx="6477000" cy="35560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0" name="ML0"/>
          <p:cNvSpPr/>
          <p:nvPr/>
        </p:nvSpPr>
        <p:spPr>
          <a:xfrm>
            <a:off x="457200" y="27178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  <a:latin typeface="Arial"/>
              </a:rPr>
              <a:t>Market Cap</a:t>
            </a:r>
          </a:p>
        </p:txBody>
      </p:sp>
      <p:sp>
        <p:nvSpPr>
          <p:cNvPr id="140" name="MV0"/>
          <p:cNvSpPr/>
          <p:nvPr/>
        </p:nvSpPr>
        <p:spPr>
          <a:xfrm>
            <a:off x="3022600" y="2717800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b="1" dirty="0">
                <a:solidFill>
                  <a:srgbClr val="EFC400"/>
                </a:solidFill>
                <a:latin typeface="Arial"/>
              </a:rPr>
              <a:t>~$121 Billion USD</a:t>
            </a:r>
          </a:p>
        </p:txBody>
      </p:sp>
      <p:sp>
        <p:nvSpPr>
          <p:cNvPr id="121" name="MB1"/>
          <p:cNvSpPr>
            <a:spLocks noGrp="1"/>
          </p:cNvSpPr>
          <p:nvPr/>
        </p:nvSpPr>
        <p:spPr>
          <a:xfrm>
            <a:off x="355600" y="3086100"/>
            <a:ext cx="6477000" cy="3556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1" name="ML1"/>
          <p:cNvSpPr/>
          <p:nvPr/>
        </p:nvSpPr>
        <p:spPr>
          <a:xfrm>
            <a:off x="457200" y="30861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  <a:latin typeface="Arial"/>
              </a:rPr>
              <a:t>P&amp;P Reserves (FY2025A)</a:t>
            </a:r>
          </a:p>
        </p:txBody>
      </p:sp>
      <p:sp>
        <p:nvSpPr>
          <p:cNvPr id="141" name="MV1"/>
          <p:cNvSpPr/>
          <p:nvPr/>
        </p:nvSpPr>
        <p:spPr>
          <a:xfrm>
            <a:off x="3022600" y="3086100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b="1" dirty="0">
                <a:solidFill>
                  <a:srgbClr val="EFC400"/>
                </a:solidFill>
                <a:latin typeface="Arial"/>
              </a:rPr>
              <a:t>55.4 Moz — Record High</a:t>
            </a:r>
          </a:p>
        </p:txBody>
      </p:sp>
      <p:sp>
        <p:nvSpPr>
          <p:cNvPr id="122" name="MB2"/>
          <p:cNvSpPr>
            <a:spLocks noGrp="1"/>
          </p:cNvSpPr>
          <p:nvPr/>
        </p:nvSpPr>
        <p:spPr>
          <a:xfrm>
            <a:off x="355600" y="3454400"/>
            <a:ext cx="6477000" cy="35560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2" name="ML2"/>
          <p:cNvSpPr/>
          <p:nvPr/>
        </p:nvSpPr>
        <p:spPr>
          <a:xfrm>
            <a:off x="457200" y="34544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  <a:latin typeface="Arial"/>
              </a:rPr>
              <a:t>FY2025A AISC</a:t>
            </a:r>
          </a:p>
        </p:txBody>
      </p:sp>
      <p:sp>
        <p:nvSpPr>
          <p:cNvPr id="142" name="MV2"/>
          <p:cNvSpPr/>
          <p:nvPr/>
        </p:nvSpPr>
        <p:spPr>
          <a:xfrm>
            <a:off x="3022600" y="3454400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>$1,339/oz — #1 Globally</a:t>
            </a:r>
          </a:p>
        </p:txBody>
      </p:sp>
      <p:sp>
        <p:nvSpPr>
          <p:cNvPr id="123" name="MB3"/>
          <p:cNvSpPr>
            <a:spLocks noGrp="1"/>
          </p:cNvSpPr>
          <p:nvPr/>
        </p:nvSpPr>
        <p:spPr>
          <a:xfrm>
            <a:off x="355600" y="3822700"/>
            <a:ext cx="6477000" cy="3556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3" name="ML3"/>
          <p:cNvSpPr/>
          <p:nvPr/>
        </p:nvSpPr>
        <p:spPr>
          <a:xfrm>
            <a:off x="457200" y="38227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  <a:latin typeface="Arial"/>
              </a:rPr>
              <a:t>Production (FY2025A)</a:t>
            </a:r>
          </a:p>
        </p:txBody>
      </p:sp>
      <p:sp>
        <p:nvSpPr>
          <p:cNvPr id="143" name="MV3"/>
          <p:cNvSpPr/>
          <p:nvPr/>
        </p:nvSpPr>
        <p:spPr>
          <a:xfrm>
            <a:off x="3022600" y="3822700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>3.495 Moz Gold</a:t>
            </a:r>
          </a:p>
        </p:txBody>
      </p:sp>
      <p:sp>
        <p:nvSpPr>
          <p:cNvPr id="124" name="MB4"/>
          <p:cNvSpPr>
            <a:spLocks noGrp="1"/>
          </p:cNvSpPr>
          <p:nvPr/>
        </p:nvSpPr>
        <p:spPr>
          <a:xfrm>
            <a:off x="355600" y="4191000"/>
            <a:ext cx="6477000" cy="35560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4" name="ML4"/>
          <p:cNvSpPr/>
          <p:nvPr/>
        </p:nvSpPr>
        <p:spPr>
          <a:xfrm>
            <a:off x="457200" y="41910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  <a:latin typeface="Arial"/>
              </a:rPr>
              <a:t>FY2026E Revenue</a:t>
            </a:r>
          </a:p>
        </p:txBody>
      </p:sp>
      <p:sp>
        <p:nvSpPr>
          <p:cNvPr id="144" name="MV4"/>
          <p:cNvSpPr/>
          <p:nvPr/>
        </p:nvSpPr>
        <p:spPr>
          <a:xfrm>
            <a:off x="3022600" y="4191000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>$9.76B</a:t>
            </a:r>
          </a:p>
        </p:txBody>
      </p:sp>
      <p:sp>
        <p:nvSpPr>
          <p:cNvPr id="125" name="MB5"/>
          <p:cNvSpPr>
            <a:spLocks noGrp="1"/>
          </p:cNvSpPr>
          <p:nvPr/>
        </p:nvSpPr>
        <p:spPr>
          <a:xfrm>
            <a:off x="355600" y="4559300"/>
            <a:ext cx="6477000" cy="3556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5" name="ML5"/>
          <p:cNvSpPr/>
          <p:nvPr/>
        </p:nvSpPr>
        <p:spPr>
          <a:xfrm>
            <a:off x="457200" y="45593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  <a:latin typeface="Arial"/>
              </a:rPr>
              <a:t>FY2026E EBITDA</a:t>
            </a:r>
          </a:p>
        </p:txBody>
      </p:sp>
      <p:sp>
        <p:nvSpPr>
          <p:cNvPr id="145" name="MV5"/>
          <p:cNvSpPr/>
          <p:nvPr/>
        </p:nvSpPr>
        <p:spPr>
          <a:xfrm>
            <a:off x="3022600" y="4559300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>$5.89B (60.3% Margin)</a:t>
            </a:r>
          </a:p>
        </p:txBody>
      </p:sp>
      <p:sp>
        <p:nvSpPr>
          <p:cNvPr id="126" name="MB6"/>
          <p:cNvSpPr>
            <a:spLocks noGrp="1"/>
          </p:cNvSpPr>
          <p:nvPr/>
        </p:nvSpPr>
        <p:spPr>
          <a:xfrm>
            <a:off x="355600" y="4927600"/>
            <a:ext cx="6477000" cy="35560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6" name="ML6"/>
          <p:cNvSpPr/>
          <p:nvPr/>
        </p:nvSpPr>
        <p:spPr>
          <a:xfrm>
            <a:off x="457200" y="49276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  <a:latin typeface="Arial"/>
              </a:rPr>
              <a:t>FCF (H2 2025)</a:t>
            </a:r>
          </a:p>
        </p:txBody>
      </p:sp>
      <p:sp>
        <p:nvSpPr>
          <p:cNvPr id="146" name="MV6"/>
          <p:cNvSpPr/>
          <p:nvPr/>
        </p:nvSpPr>
        <p:spPr>
          <a:xfrm>
            <a:off x="3022600" y="4927600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>$887M</a:t>
            </a:r>
          </a:p>
        </p:txBody>
      </p:sp>
      <p:sp>
        <p:nvSpPr>
          <p:cNvPr id="127" name="MB7"/>
          <p:cNvSpPr>
            <a:spLocks noGrp="1"/>
          </p:cNvSpPr>
          <p:nvPr/>
        </p:nvSpPr>
        <p:spPr>
          <a:xfrm>
            <a:off x="355600" y="5295900"/>
            <a:ext cx="6477000" cy="3556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7" name="ML7"/>
          <p:cNvSpPr/>
          <p:nvPr/>
        </p:nvSpPr>
        <p:spPr>
          <a:xfrm>
            <a:off x="457200" y="52959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  <a:latin typeface="Arial"/>
              </a:rPr>
              <a:t>Capital Returns (2025)</a:t>
            </a:r>
          </a:p>
        </p:txBody>
      </p:sp>
      <p:sp>
        <p:nvSpPr>
          <p:cNvPr id="147" name="MV7"/>
          <p:cNvSpPr/>
          <p:nvPr/>
        </p:nvSpPr>
        <p:spPr>
          <a:xfrm>
            <a:off x="3022600" y="5295900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>$1.4B (NCIB + Dividends)</a:t>
            </a:r>
          </a:p>
        </p:txBody>
      </p:sp>
      <p:sp>
        <p:nvSpPr>
          <p:cNvPr id="160" name="Disc"/>
          <p:cNvSpPr/>
          <p:nvPr/>
        </p:nvSpPr>
        <p:spPr>
          <a:xfrm>
            <a:off x="355600" y="5791200"/>
            <a:ext cx="6477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850" i="1" dirty="0">
                <a:solidFill>
                  <a:srgbClr val="777777"/>
                </a:solidFill>
                <a:latin typeface="Arial"/>
              </a:rPr>
              <a:t>Prepared by Jaden Kwek. Estimates are author's own and do not constitute investment advice. Sources: AEM Q4 2025 Earnings Release, author financial model, and company filings as at February 2026.</a:t>
            </a:r>
          </a:p>
        </p:txBody>
      </p:sp>
      <p:sp>
        <p:nvSpPr>
          <p:cNvPr id="170" name="RAcc"/>
          <p:cNvSpPr>
            <a:spLocks noGrp="1"/>
          </p:cNvSpPr>
          <p:nvPr/>
        </p:nvSpPr>
        <p:spPr>
          <a:xfrm>
            <a:off x="7366000" y="508000"/>
            <a:ext cx="762000" cy="508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" name="AName"/>
          <p:cNvSpPr/>
          <p:nvPr/>
        </p:nvSpPr>
        <p:spPr>
          <a:xfrm>
            <a:off x="7366000" y="762000"/>
            <a:ext cx="4572000" cy="584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2800" b="1" dirty="0">
                <a:solidFill>
                  <a:srgbClr val="151E24"/>
                </a:solidFill>
                <a:latin typeface="Arial"/>
              </a:rPr>
              <a:t>JADEN KWEK</a:t>
            </a:r>
          </a:p>
        </p:txBody>
      </p:sp>
      <p:sp>
        <p:nvSpPr>
          <p:cNvPr id="172" name="ARole"/>
          <p:cNvSpPr/>
          <p:nvPr/>
        </p:nvSpPr>
        <p:spPr>
          <a:xfrm>
            <a:off x="7366000" y="14224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400" dirty="0">
                <a:solidFill>
                  <a:srgbClr val="57585B"/>
                </a:solidFill>
                <a:latin typeface="Arial"/>
              </a:rPr>
              <a:t>Equity Research Analyst</a:t>
            </a:r>
          </a:p>
        </p:txBody>
      </p:sp>
      <p:sp>
        <p:nvSpPr>
          <p:cNvPr id="173" name="AWww"/>
          <p:cNvSpPr/>
          <p:nvPr/>
        </p:nvSpPr>
        <p:spPr>
          <a:xfrm>
            <a:off x="7366000" y="1727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300" b="1" dirty="0">
                <a:solidFill>
                  <a:srgbClr val="EFC400"/>
                </a:solidFill>
                <a:latin typeface="Arial"/>
              </a:rPr>
              <a:t>jadenkwek.com</a:t>
            </a:r>
          </a:p>
        </p:txBody>
      </p:sp>
      <p:sp>
        <p:nvSpPr>
          <p:cNvPr id="174" name="ADate"/>
          <p:cNvSpPr/>
          <p:nvPr/>
        </p:nvSpPr>
        <p:spPr>
          <a:xfrm>
            <a:off x="7366000" y="2006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dirty="0">
                <a:solidFill>
                  <a:srgbClr val="555555"/>
                </a:solidFill>
                <a:latin typeface="Arial"/>
              </a:rPr>
              <a:t>February 23, 2026</a:t>
            </a:r>
          </a:p>
        </p:txBody>
      </p:sp>
      <p:sp>
        <p:nvSpPr>
          <p:cNvPr id="175" name="RDiv"/>
          <p:cNvSpPr>
            <a:spLocks noGrp="1"/>
          </p:cNvSpPr>
          <p:nvPr/>
        </p:nvSpPr>
        <p:spPr>
          <a:xfrm>
            <a:off x="7366000" y="2362200"/>
            <a:ext cx="4318000" cy="127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6" name="RHdr"/>
          <p:cNvSpPr/>
          <p:nvPr/>
        </p:nvSpPr>
        <p:spPr>
          <a:xfrm>
            <a:off x="7366000" y="24892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950" b="1" dirty="0">
                <a:solidFill>
                  <a:srgbClr val="151E24"/>
                </a:solidFill>
                <a:latin typeface="Arial"/>
              </a:rPr>
              <a:t>WHY AEM NOW — KEY POINTS</a:t>
            </a:r>
          </a:p>
        </p:txBody>
      </p:sp>
      <p:sp>
        <p:nvSpPr>
          <p:cNvPr id="177" name="RDiv2"/>
          <p:cNvSpPr>
            <a:spLocks noGrp="1"/>
          </p:cNvSpPr>
          <p:nvPr/>
        </p:nvSpPr>
        <p:spPr>
          <a:xfrm>
            <a:off x="7366000" y="2743200"/>
            <a:ext cx="4318000" cy="127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0" name="R0"/>
          <p:cNvSpPr/>
          <p:nvPr/>
        </p:nvSpPr>
        <p:spPr>
          <a:xfrm>
            <a:off x="7366000" y="2844800"/>
            <a:ext cx="4318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marL="203200" indent="-2032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Record 55.4 Moz reserves — generational reserve base</a:t>
            </a:r>
          </a:p>
        </p:txBody>
      </p:sp>
      <p:sp>
        <p:nvSpPr>
          <p:cNvPr id="181" name="R1"/>
          <p:cNvSpPr/>
          <p:nvPr/>
        </p:nvSpPr>
        <p:spPr>
          <a:xfrm>
            <a:off x="7366000" y="3302000"/>
            <a:ext cx="4318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marL="203200" indent="-2032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Best-in-class AISC at $1,339/oz — sustainable cost moat</a:t>
            </a:r>
          </a:p>
        </p:txBody>
      </p:sp>
      <p:sp>
        <p:nvSpPr>
          <p:cNvPr id="182" name="R2"/>
          <p:cNvSpPr/>
          <p:nvPr/>
        </p:nvSpPr>
        <p:spPr>
          <a:xfrm>
            <a:off x="7366000" y="3759200"/>
            <a:ext cx="4318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marL="203200" indent="-2032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Hope Bay option ($15–25/sh value) unrecognized by market</a:t>
            </a:r>
          </a:p>
        </p:txBody>
      </p:sp>
      <p:sp>
        <p:nvSpPr>
          <p:cNvPr id="183" name="R3"/>
          <p:cNvSpPr/>
          <p:nvPr/>
        </p:nvSpPr>
        <p:spPr>
          <a:xfrm>
            <a:off x="7366000" y="4216400"/>
            <a:ext cx="4318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marL="203200" indent="-2032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$1.4B 2025 capital returns with 12.5% dividend increase</a:t>
            </a:r>
          </a:p>
        </p:txBody>
      </p:sp>
      <p:sp>
        <p:nvSpPr>
          <p:cNvPr id="184" name="R4"/>
          <p:cNvSpPr/>
          <p:nvPr/>
        </p:nvSpPr>
        <p:spPr>
          <a:xfrm>
            <a:off x="7366000" y="4673600"/>
            <a:ext cx="4318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marL="203200" indent="-2032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Gold structural bull market at $2,900/oz — $3,500 target</a:t>
            </a:r>
          </a:p>
        </p:txBody>
      </p:sp>
      <p:sp>
        <p:nvSpPr>
          <p:cNvPr id="185" name="R5"/>
          <p:cNvSpPr/>
          <p:nvPr/>
        </p:nvSpPr>
        <p:spPr>
          <a:xfrm>
            <a:off x="7366000" y="5130800"/>
            <a:ext cx="4318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marL="203200" indent="-2032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Trades at 16% discount to senior gold peer group on P/CF</a:t>
            </a:r>
          </a:p>
        </p:txBody>
      </p:sp>
      <p:sp>
        <p:nvSpPr>
          <p:cNvPr id="190" name="MineBg"/>
          <p:cNvSpPr>
            <a:spLocks noGrp="1"/>
          </p:cNvSpPr>
          <p:nvPr/>
        </p:nvSpPr>
        <p:spPr>
          <a:xfrm>
            <a:off x="7366000" y="5651500"/>
            <a:ext cx="4318000" cy="9652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1" name="MineLabel"/>
          <p:cNvSpPr/>
          <p:nvPr/>
        </p:nvSpPr>
        <p:spPr>
          <a:xfrm>
            <a:off x="7366000" y="58674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200" dirty="0">
                <a:solidFill>
                  <a:srgbClr val="62666A"/>
                </a:solidFill>
                <a:latin typeface="Arial"/>
              </a:rPr>
              <a:t>NYSE &amp; TSX: AEM  |  GOLD PRODUCER SINCE 1957</a:t>
            </a:r>
          </a:p>
        </p:txBody>
      </p:sp>
      <p:sp>
        <p:nvSpPr>
          <p:cNvPr id="192" name="MineGold"/>
          <p:cNvSpPr>
            <a:spLocks noGrp="1"/>
          </p:cNvSpPr>
          <p:nvPr/>
        </p:nvSpPr>
        <p:spPr>
          <a:xfrm>
            <a:off x="7366000" y="6146800"/>
            <a:ext cx="4318000" cy="381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3" name="MineTag"/>
          <p:cNvSpPr/>
          <p:nvPr/>
        </p:nvSpPr>
        <p:spPr>
          <a:xfrm>
            <a:off x="7366000" y="62230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777777"/>
                </a:solidFill>
                <a:latin typeface="Arial"/>
              </a:rPr>
              <a:t>This presentation is prepared for an investment committee audience and does not constitute a solicitation to buy or sell securities.</a:t>
            </a:r>
          </a:p>
        </p:txBody>
      </p:sp>
    </p:spTree>
    <p:extLst>
      <p:ext uri="{BB962C8B-B14F-4D97-AF65-F5344CB8AC3E}">
        <p14:creationId xmlns:p14="http://schemas.microsoft.com/office/powerpoint/2010/main" val="3335798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ecLbl"/>
          <p:cNvSpPr/>
          <p:nvPr/>
        </p:nvSpPr>
        <p:spPr>
          <a:xfrm>
            <a:off x="279400" y="101600"/>
            <a:ext cx="8636000" cy="2032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/>
            <a:r>
              <a:rPr lang="en-US" sz="950" dirty="0">
                <a:solidFill>
                  <a:srgbClr val="8A6C00"/>
                </a:solidFill>
                <a:latin typeface="Arial"/>
              </a:rPr>
              <a:t>INVESTMENT THESIS</a:t>
            </a:r>
          </a:p>
        </p:txBody>
      </p:sp>
      <p:sp>
        <p:nvSpPr>
          <p:cNvPr id="105" name="SlideNum"/>
          <p:cNvSpPr/>
          <p:nvPr/>
        </p:nvSpPr>
        <p:spPr>
          <a:xfrm>
            <a:off x="11582400" y="1016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  <a:latin typeface="Arial"/>
              </a:rPr>
              <a:t>02</a:t>
            </a:r>
          </a:p>
        </p:txBody>
      </p:sp>
      <p:sp>
        <p:nvSpPr>
          <p:cNvPr id="106" name="Title"/>
          <p:cNvSpPr/>
          <p:nvPr/>
        </p:nvSpPr>
        <p:spPr>
          <a:xfrm>
            <a:off x="279400" y="304800"/>
            <a:ext cx="8128000" cy="4826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/>
            <a:r>
              <a:rPr lang="en-US" sz="1900" b="1" dirty="0">
                <a:solidFill>
                  <a:schemeClr val="bg1"/>
                </a:solidFill>
                <a:latin typeface="Arial"/>
              </a:rPr>
              <a:t>Agnico Eagle Mines — Four-Pillar Investment Case</a:t>
            </a:r>
          </a:p>
        </p:txBody>
      </p:sp>
      <p:sp>
        <p:nvSpPr>
          <p:cNvPr id="107" name="BuyBox"/>
          <p:cNvSpPr>
            <a:spLocks noGrp="1"/>
          </p:cNvSpPr>
          <p:nvPr/>
        </p:nvSpPr>
        <p:spPr>
          <a:xfrm>
            <a:off x="8585200" y="279400"/>
            <a:ext cx="3327400" cy="533400"/>
          </a:xfrm>
          <a:prstGeom prst="roundRect">
            <a:avLst>
              <a:gd name="adj" fmla="val 12000"/>
            </a:avLst>
          </a:prstGeom>
          <a:solidFill>
            <a:srgbClr val="151E24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700" b="1" dirty="0">
                <a:solidFill>
                  <a:srgbClr val="EFC400"/>
                </a:solidFill>
                <a:latin typeface="Arial"/>
              </a:rPr>
              <a:t>BUY  |  PT: $300.00</a:t>
            </a:r>
          </a:p>
        </p:txBody>
      </p:sp>
      <p:sp>
        <p:nvSpPr>
          <p:cNvPr id="108" name="GoldLine"/>
          <p:cNvSpPr>
            <a:spLocks noGrp="1"/>
          </p:cNvSpPr>
          <p:nvPr/>
        </p:nvSpPr>
        <p:spPr>
          <a:xfrm>
            <a:off x="279400" y="863600"/>
            <a:ext cx="11633200" cy="381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CBg"/>
          <p:cNvSpPr>
            <a:spLocks noGrp="1"/>
          </p:cNvSpPr>
          <p:nvPr/>
        </p:nvSpPr>
        <p:spPr>
          <a:xfrm>
            <a:off x="279400" y="999836"/>
            <a:ext cx="5715000" cy="2438400"/>
          </a:xfrm>
          <a:prstGeom prst="rect">
            <a:avLst/>
          </a:prstGeom>
          <a:solidFill>
            <a:srgbClr val="F5F6F7"/>
          </a:solidFill>
          <a:ln w="12700">
            <a:solidFill>
              <a:srgbClr val="EDEF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1" name="CBar"/>
          <p:cNvSpPr>
            <a:spLocks noGrp="1"/>
          </p:cNvSpPr>
          <p:nvPr/>
        </p:nvSpPr>
        <p:spPr>
          <a:xfrm>
            <a:off x="279400" y="990600"/>
            <a:ext cx="63500" cy="24384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CNum"/>
          <p:cNvSpPr/>
          <p:nvPr/>
        </p:nvSpPr>
        <p:spPr>
          <a:xfrm>
            <a:off x="482600" y="1117600"/>
            <a:ext cx="355600" cy="304800"/>
          </a:xfrm>
          <a:prstGeom prst="ellipse">
            <a:avLst/>
          </a:prstGeom>
          <a:solidFill>
            <a:srgbClr val="EFC400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3" name="CTitle"/>
          <p:cNvSpPr/>
          <p:nvPr/>
        </p:nvSpPr>
        <p:spPr>
          <a:xfrm>
            <a:off x="965200" y="1092200"/>
            <a:ext cx="49276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50" b="1" dirty="0">
                <a:solidFill>
                  <a:srgbClr val="EFC400"/>
                </a:solidFill>
                <a:latin typeface="Arial"/>
              </a:rPr>
              <a:t>PILLAR 1: LOWEST-COST MAJOR GLOBAL GOLD PRODUCER</a:t>
            </a:r>
          </a:p>
        </p:txBody>
      </p:sp>
      <p:sp>
        <p:nvSpPr>
          <p:cNvPr id="204" name="CSep"/>
          <p:cNvSpPr>
            <a:spLocks noGrp="1"/>
          </p:cNvSpPr>
          <p:nvPr/>
        </p:nvSpPr>
        <p:spPr>
          <a:xfrm>
            <a:off x="457200" y="1574800"/>
            <a:ext cx="54356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CBody"/>
          <p:cNvSpPr/>
          <p:nvPr/>
        </p:nvSpPr>
        <p:spPr>
          <a:xfrm>
            <a:off x="457200" y="1651000"/>
            <a:ext cx="5435600" cy="1676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marL="177800" indent="-1778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#1 AISC among global senior producers at $1,339/oz (FY2025A)</a:t>
            </a:r>
          </a:p>
          <a:p>
            <a:pPr marL="177800" indent="-1778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Top-tier cost discipline across 11 operating mines in safe jurisdictions</a:t>
            </a:r>
          </a:p>
          <a:p>
            <a:pPr marL="177800" indent="-1778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Committed to $1,375–1,425/oz AISC guidance FY2026E</a:t>
            </a:r>
          </a:p>
          <a:p>
            <a:pPr marL="177800" indent="-1778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Cost moat enables profitability even at $1,800/oz gold</a:t>
            </a:r>
          </a:p>
        </p:txBody>
      </p:sp>
      <p:sp>
        <p:nvSpPr>
          <p:cNvPr id="206" name="CBg"/>
          <p:cNvSpPr>
            <a:spLocks noGrp="1"/>
          </p:cNvSpPr>
          <p:nvPr/>
        </p:nvSpPr>
        <p:spPr>
          <a:xfrm>
            <a:off x="6299200" y="990600"/>
            <a:ext cx="5715000" cy="2438400"/>
          </a:xfrm>
          <a:prstGeom prst="rect">
            <a:avLst/>
          </a:prstGeom>
          <a:solidFill>
            <a:srgbClr val="F5F6F7"/>
          </a:solidFill>
          <a:ln w="12700">
            <a:solidFill>
              <a:srgbClr val="EDEF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CBar"/>
          <p:cNvSpPr>
            <a:spLocks noGrp="1"/>
          </p:cNvSpPr>
          <p:nvPr/>
        </p:nvSpPr>
        <p:spPr>
          <a:xfrm>
            <a:off x="6299200" y="990600"/>
            <a:ext cx="63500" cy="24384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CNum"/>
          <p:cNvSpPr/>
          <p:nvPr/>
        </p:nvSpPr>
        <p:spPr>
          <a:xfrm>
            <a:off x="6502400" y="1117600"/>
            <a:ext cx="355600" cy="304800"/>
          </a:xfrm>
          <a:prstGeom prst="ellipse">
            <a:avLst/>
          </a:prstGeom>
          <a:solidFill>
            <a:srgbClr val="151E24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9" name="CTitle"/>
          <p:cNvSpPr/>
          <p:nvPr/>
        </p:nvSpPr>
        <p:spPr>
          <a:xfrm>
            <a:off x="6985000" y="1092200"/>
            <a:ext cx="49276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50" b="1" dirty="0">
                <a:solidFill>
                  <a:srgbClr val="151E24"/>
                </a:solidFill>
                <a:latin typeface="Arial"/>
              </a:rPr>
              <a:t>PILLAR 2: RESERVE QUALITY &amp; ORGANIC GROWTH RUNWAY</a:t>
            </a:r>
          </a:p>
        </p:txBody>
      </p:sp>
      <p:sp>
        <p:nvSpPr>
          <p:cNvPr id="210" name="CSep"/>
          <p:cNvSpPr>
            <a:spLocks noGrp="1"/>
          </p:cNvSpPr>
          <p:nvPr/>
        </p:nvSpPr>
        <p:spPr>
          <a:xfrm>
            <a:off x="6477000" y="1574800"/>
            <a:ext cx="54356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CBody"/>
          <p:cNvSpPr/>
          <p:nvPr/>
        </p:nvSpPr>
        <p:spPr>
          <a:xfrm>
            <a:off x="6477000" y="1651000"/>
            <a:ext cx="5435600" cy="1676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marL="177800" indent="-1778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Record 55.4 Moz P&amp;P reserves — 21-year reserve life index</a:t>
            </a:r>
          </a:p>
          <a:p>
            <a:pPr marL="177800" indent="-1778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East Gouldie (Odyssey) ramp: 400 Koz/yr by 2027E</a:t>
            </a:r>
          </a:p>
          <a:p>
            <a:pPr marL="177800" indent="-1778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Hope Bay construction decision H1 2026: 400-425 Koz/yr from ~2030</a:t>
            </a:r>
          </a:p>
          <a:p>
            <a:pPr marL="177800" indent="-1778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Upper Beaver, Detour UG add another 500+ Koz/yr long-term</a:t>
            </a:r>
          </a:p>
        </p:txBody>
      </p:sp>
      <p:sp>
        <p:nvSpPr>
          <p:cNvPr id="212" name="CBg"/>
          <p:cNvSpPr>
            <a:spLocks noGrp="1"/>
          </p:cNvSpPr>
          <p:nvPr/>
        </p:nvSpPr>
        <p:spPr>
          <a:xfrm>
            <a:off x="279400" y="3606800"/>
            <a:ext cx="5715000" cy="2438400"/>
          </a:xfrm>
          <a:prstGeom prst="rect">
            <a:avLst/>
          </a:prstGeom>
          <a:solidFill>
            <a:srgbClr val="F5F6F7"/>
          </a:solidFill>
          <a:ln w="12700">
            <a:solidFill>
              <a:srgbClr val="EDEF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3" name="CBar"/>
          <p:cNvSpPr>
            <a:spLocks noGrp="1"/>
          </p:cNvSpPr>
          <p:nvPr/>
        </p:nvSpPr>
        <p:spPr>
          <a:xfrm>
            <a:off x="279400" y="3606800"/>
            <a:ext cx="63500" cy="24384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CNum"/>
          <p:cNvSpPr/>
          <p:nvPr/>
        </p:nvSpPr>
        <p:spPr>
          <a:xfrm>
            <a:off x="482600" y="3733800"/>
            <a:ext cx="355600" cy="304800"/>
          </a:xfrm>
          <a:prstGeom prst="ellipse">
            <a:avLst/>
          </a:prstGeom>
          <a:solidFill>
            <a:srgbClr val="EFC400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5" name="CTitle"/>
          <p:cNvSpPr/>
          <p:nvPr/>
        </p:nvSpPr>
        <p:spPr>
          <a:xfrm>
            <a:off x="965200" y="3708400"/>
            <a:ext cx="49276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50" b="1" dirty="0">
                <a:solidFill>
                  <a:srgbClr val="EFC400"/>
                </a:solidFill>
                <a:latin typeface="Arial"/>
              </a:rPr>
              <a:t>PILLAR 3: BALANCE SHEET STRENGTH &amp; CAPITAL RETURNS</a:t>
            </a:r>
          </a:p>
        </p:txBody>
      </p:sp>
      <p:sp>
        <p:nvSpPr>
          <p:cNvPr id="216" name="CSep"/>
          <p:cNvSpPr>
            <a:spLocks noGrp="1"/>
          </p:cNvSpPr>
          <p:nvPr/>
        </p:nvSpPr>
        <p:spPr>
          <a:xfrm>
            <a:off x="457200" y="4191000"/>
            <a:ext cx="54356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CBody"/>
          <p:cNvSpPr/>
          <p:nvPr/>
        </p:nvSpPr>
        <p:spPr>
          <a:xfrm>
            <a:off x="457200" y="4267200"/>
            <a:ext cx="5435600" cy="1676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marL="177800" indent="-1778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$1.4B committed 2025 capital returns: $800M NCIB + $602M dividends</a:t>
            </a:r>
          </a:p>
          <a:p>
            <a:pPr marL="177800" indent="-1778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Quarterly dividend +12.5% to $0.40/share ($1.60 annualized)</a:t>
            </a:r>
          </a:p>
          <a:p>
            <a:pPr marL="177800" indent="-1778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Net debt of $1.1B (0.3× ND/EBITDA) — investment-grade balance sheet</a:t>
            </a:r>
          </a:p>
          <a:p>
            <a:pPr marL="177800" indent="-1778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FCF of $887M in H2 2025 alone demonstrates capital return capacity</a:t>
            </a:r>
          </a:p>
        </p:txBody>
      </p:sp>
      <p:sp>
        <p:nvSpPr>
          <p:cNvPr id="218" name="CBg"/>
          <p:cNvSpPr>
            <a:spLocks noGrp="1"/>
          </p:cNvSpPr>
          <p:nvPr/>
        </p:nvSpPr>
        <p:spPr>
          <a:xfrm>
            <a:off x="6299200" y="3606800"/>
            <a:ext cx="5715000" cy="2438400"/>
          </a:xfrm>
          <a:prstGeom prst="rect">
            <a:avLst/>
          </a:prstGeom>
          <a:solidFill>
            <a:srgbClr val="F5F6F7"/>
          </a:solidFill>
          <a:ln w="12700">
            <a:solidFill>
              <a:srgbClr val="EDEF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9" name="CBar"/>
          <p:cNvSpPr>
            <a:spLocks noGrp="1"/>
          </p:cNvSpPr>
          <p:nvPr/>
        </p:nvSpPr>
        <p:spPr>
          <a:xfrm>
            <a:off x="6299200" y="3606800"/>
            <a:ext cx="63500" cy="24384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CNum"/>
          <p:cNvSpPr/>
          <p:nvPr/>
        </p:nvSpPr>
        <p:spPr>
          <a:xfrm>
            <a:off x="6502400" y="3733800"/>
            <a:ext cx="355600" cy="304800"/>
          </a:xfrm>
          <a:prstGeom prst="ellipse">
            <a:avLst/>
          </a:prstGeom>
          <a:solidFill>
            <a:srgbClr val="EFC400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1" name="CTitle"/>
          <p:cNvSpPr/>
          <p:nvPr/>
        </p:nvSpPr>
        <p:spPr>
          <a:xfrm>
            <a:off x="6985000" y="3708400"/>
            <a:ext cx="49276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50" b="1" dirty="0">
                <a:solidFill>
                  <a:srgbClr val="EFC400"/>
                </a:solidFill>
                <a:latin typeface="Arial"/>
              </a:rPr>
              <a:t>PILLAR 4: STRUCTURAL GOLD TAILWINDS &amp; MACRO BACKDROP</a:t>
            </a:r>
          </a:p>
        </p:txBody>
      </p:sp>
      <p:sp>
        <p:nvSpPr>
          <p:cNvPr id="222" name="CSep"/>
          <p:cNvSpPr>
            <a:spLocks noGrp="1"/>
          </p:cNvSpPr>
          <p:nvPr/>
        </p:nvSpPr>
        <p:spPr>
          <a:xfrm>
            <a:off x="6477000" y="4191000"/>
            <a:ext cx="54356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CBody"/>
          <p:cNvSpPr/>
          <p:nvPr/>
        </p:nvSpPr>
        <p:spPr>
          <a:xfrm>
            <a:off x="6477000" y="4267200"/>
            <a:ext cx="5435600" cy="1676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marL="177800" indent="-1778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Gold spot at $2,900/oz — central bank demand at record 1,045t (2024)</a:t>
            </a:r>
          </a:p>
          <a:p>
            <a:pPr marL="177800" indent="-1778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Stagflation risk premium and USD debasement cycle support long-term prices</a:t>
            </a:r>
          </a:p>
          <a:p>
            <a:pPr marL="177800" indent="-1778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AEM trades at 17.2× FY2026E P/CF vs. peers at 20.5× — 16% discount</a:t>
            </a:r>
          </a:p>
          <a:p>
            <a:pPr marL="177800" indent="-177800">
              <a:buFont typeface="Arial"/>
              <a:buChar char="▸"/>
            </a:pPr>
            <a:r>
              <a:rPr lang="en-US" sz="1100" dirty="0">
                <a:solidFill>
                  <a:srgbClr val="3D3D3D"/>
                </a:solidFill>
                <a:latin typeface="Arial"/>
              </a:rPr>
              <a:t>Geopolitical diversification: Canada, Finland, Australia, Mexico</a:t>
            </a:r>
          </a:p>
        </p:txBody>
      </p:sp>
      <p:sp>
        <p:nvSpPr>
          <p:cNvPr id="224" name="Src"/>
          <p:cNvSpPr/>
          <p:nvPr/>
        </p:nvSpPr>
        <p:spPr>
          <a:xfrm>
            <a:off x="279400" y="6146800"/>
            <a:ext cx="1163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900" i="1" dirty="0">
                <a:solidFill>
                  <a:srgbClr val="555555"/>
                </a:solidFill>
                <a:latin typeface="Arial"/>
              </a:rPr>
              <a:t>Source: AEM Q4 2025 Earnings Release (Feb 12, 2026), Author Financial Model. All figures in USD unless noted. Estimates are author's own.</a:t>
            </a:r>
          </a:p>
        </p:txBody>
      </p:sp>
    </p:spTree>
    <p:extLst>
      <p:ext uri="{BB962C8B-B14F-4D97-AF65-F5344CB8AC3E}">
        <p14:creationId xmlns:p14="http://schemas.microsoft.com/office/powerpoint/2010/main" val="632803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ecLabel"/>
          <p:cNvSpPr/>
          <p:nvPr/>
        </p:nvSpPr>
        <p:spPr>
          <a:xfrm>
            <a:off x="279400" y="127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8A6C00"/>
                </a:solidFill>
              </a:rPr>
              <a:t>COMPANY OVERVIEW</a:t>
            </a:r>
          </a:p>
        </p:txBody>
      </p:sp>
      <p:sp>
        <p:nvSpPr>
          <p:cNvPr id="105" name="SlideNum"/>
          <p:cNvSpPr/>
          <p:nvPr/>
        </p:nvSpPr>
        <p:spPr>
          <a:xfrm>
            <a:off x="11582400" y="127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106" name="Title"/>
          <p:cNvSpPr/>
          <p:nvPr/>
        </p:nvSpPr>
        <p:spPr>
          <a:xfrm>
            <a:off x="279400" y="406400"/>
            <a:ext cx="11633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700" b="1" dirty="0">
                <a:solidFill>
                  <a:srgbClr val="221F1F"/>
                </a:solidFill>
              </a:rPr>
              <a:t>Agnico Eagle Mines: World-Class Portfolio — Tier 1 Jurisdictions, Sector-Leading Operations</a:t>
            </a:r>
          </a:p>
        </p:txBody>
      </p:sp>
      <p:sp>
        <p:nvSpPr>
          <p:cNvPr id="107" name="Div1"/>
          <p:cNvSpPr/>
          <p:nvPr/>
        </p:nvSpPr>
        <p:spPr>
          <a:xfrm>
            <a:off x="279400" y="927100"/>
            <a:ext cx="11633200" cy="254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08" name="LHeader"/>
          <p:cNvSpPr/>
          <p:nvPr/>
        </p:nvSpPr>
        <p:spPr>
          <a:xfrm>
            <a:off x="279400" y="10414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MINE PORTFOLIO</a:t>
            </a:r>
          </a:p>
        </p:txBody>
      </p:sp>
      <p:sp>
        <p:nvSpPr>
          <p:cNvPr id="200" name="MHdr1"/>
          <p:cNvSpPr/>
          <p:nvPr/>
        </p:nvSpPr>
        <p:spPr>
          <a:xfrm>
            <a:off x="279400" y="1346200"/>
            <a:ext cx="20320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8A6C00"/>
                </a:solidFill>
              </a:rPr>
              <a:t>Mine</a:t>
            </a:r>
          </a:p>
        </p:txBody>
      </p:sp>
      <p:sp>
        <p:nvSpPr>
          <p:cNvPr id="201" name="MHdr2"/>
          <p:cNvSpPr/>
          <p:nvPr/>
        </p:nvSpPr>
        <p:spPr>
          <a:xfrm>
            <a:off x="2438400" y="1346200"/>
            <a:ext cx="20320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8A6C00"/>
                </a:solidFill>
              </a:rPr>
              <a:t>Region</a:t>
            </a:r>
          </a:p>
        </p:txBody>
      </p:sp>
      <p:sp>
        <p:nvSpPr>
          <p:cNvPr id="210" name="MRow0_1"/>
          <p:cNvSpPr/>
          <p:nvPr/>
        </p:nvSpPr>
        <p:spPr>
          <a:xfrm>
            <a:off x="279400" y="1727200"/>
            <a:ext cx="2032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LaRonde Complex</a:t>
            </a:r>
          </a:p>
        </p:txBody>
      </p:sp>
      <p:sp>
        <p:nvSpPr>
          <p:cNvPr id="211" name="MRow0_2"/>
          <p:cNvSpPr/>
          <p:nvPr/>
        </p:nvSpPr>
        <p:spPr>
          <a:xfrm>
            <a:off x="2438400" y="1727200"/>
            <a:ext cx="2032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</a:rPr>
              <a:t>Quebec</a:t>
            </a:r>
          </a:p>
        </p:txBody>
      </p:sp>
      <p:sp>
        <p:nvSpPr>
          <p:cNvPr id="212" name="MRow1_1"/>
          <p:cNvSpPr/>
          <p:nvPr/>
        </p:nvSpPr>
        <p:spPr>
          <a:xfrm>
            <a:off x="279400" y="2095500"/>
            <a:ext cx="2032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Canadian Malartic</a:t>
            </a:r>
          </a:p>
        </p:txBody>
      </p:sp>
      <p:sp>
        <p:nvSpPr>
          <p:cNvPr id="213" name="MRow1_2"/>
          <p:cNvSpPr/>
          <p:nvPr/>
        </p:nvSpPr>
        <p:spPr>
          <a:xfrm>
            <a:off x="2438400" y="2095500"/>
            <a:ext cx="2032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</a:rPr>
              <a:t>Quebec</a:t>
            </a:r>
          </a:p>
        </p:txBody>
      </p:sp>
      <p:sp>
        <p:nvSpPr>
          <p:cNvPr id="214" name="MRow2_1"/>
          <p:cNvSpPr/>
          <p:nvPr/>
        </p:nvSpPr>
        <p:spPr>
          <a:xfrm>
            <a:off x="279400" y="2463800"/>
            <a:ext cx="2032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Detour Lake</a:t>
            </a:r>
          </a:p>
        </p:txBody>
      </p:sp>
      <p:sp>
        <p:nvSpPr>
          <p:cNvPr id="215" name="MRow2_2"/>
          <p:cNvSpPr/>
          <p:nvPr/>
        </p:nvSpPr>
        <p:spPr>
          <a:xfrm>
            <a:off x="2438400" y="2463800"/>
            <a:ext cx="2032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</a:rPr>
              <a:t>Ontario</a:t>
            </a:r>
          </a:p>
        </p:txBody>
      </p:sp>
      <p:sp>
        <p:nvSpPr>
          <p:cNvPr id="216" name="MRow3_1"/>
          <p:cNvSpPr/>
          <p:nvPr/>
        </p:nvSpPr>
        <p:spPr>
          <a:xfrm>
            <a:off x="279400" y="2832100"/>
            <a:ext cx="2032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Macassa</a:t>
            </a:r>
          </a:p>
        </p:txBody>
      </p:sp>
      <p:sp>
        <p:nvSpPr>
          <p:cNvPr id="217" name="MRow3_2"/>
          <p:cNvSpPr/>
          <p:nvPr/>
        </p:nvSpPr>
        <p:spPr>
          <a:xfrm>
            <a:off x="2438400" y="2832100"/>
            <a:ext cx="2032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</a:rPr>
              <a:t>Ontario</a:t>
            </a:r>
          </a:p>
        </p:txBody>
      </p:sp>
      <p:sp>
        <p:nvSpPr>
          <p:cNvPr id="218" name="MRow4_1"/>
          <p:cNvSpPr/>
          <p:nvPr/>
        </p:nvSpPr>
        <p:spPr>
          <a:xfrm>
            <a:off x="279400" y="3200400"/>
            <a:ext cx="2032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Meliadine</a:t>
            </a:r>
          </a:p>
        </p:txBody>
      </p:sp>
      <p:sp>
        <p:nvSpPr>
          <p:cNvPr id="219" name="MRow4_2"/>
          <p:cNvSpPr/>
          <p:nvPr/>
        </p:nvSpPr>
        <p:spPr>
          <a:xfrm>
            <a:off x="2438400" y="3200400"/>
            <a:ext cx="2032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</a:rPr>
              <a:t>Nunavut</a:t>
            </a:r>
          </a:p>
        </p:txBody>
      </p:sp>
      <p:sp>
        <p:nvSpPr>
          <p:cNvPr id="220" name="MRow5_1"/>
          <p:cNvSpPr/>
          <p:nvPr/>
        </p:nvSpPr>
        <p:spPr>
          <a:xfrm>
            <a:off x="279400" y="3568700"/>
            <a:ext cx="2032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Meadowbank (Amaruq)</a:t>
            </a:r>
          </a:p>
        </p:txBody>
      </p:sp>
      <p:sp>
        <p:nvSpPr>
          <p:cNvPr id="221" name="MRow5_2"/>
          <p:cNvSpPr/>
          <p:nvPr/>
        </p:nvSpPr>
        <p:spPr>
          <a:xfrm>
            <a:off x="2438400" y="3568700"/>
            <a:ext cx="2032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</a:rPr>
              <a:t>Nunavut</a:t>
            </a:r>
          </a:p>
        </p:txBody>
      </p:sp>
      <p:sp>
        <p:nvSpPr>
          <p:cNvPr id="222" name="MRow6_1"/>
          <p:cNvSpPr/>
          <p:nvPr/>
        </p:nvSpPr>
        <p:spPr>
          <a:xfrm>
            <a:off x="279400" y="3937000"/>
            <a:ext cx="2032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Fosterville</a:t>
            </a:r>
          </a:p>
        </p:txBody>
      </p:sp>
      <p:sp>
        <p:nvSpPr>
          <p:cNvPr id="223" name="MRow6_2"/>
          <p:cNvSpPr/>
          <p:nvPr/>
        </p:nvSpPr>
        <p:spPr>
          <a:xfrm>
            <a:off x="2438400" y="3937000"/>
            <a:ext cx="2032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</a:rPr>
              <a:t>Australia</a:t>
            </a:r>
          </a:p>
        </p:txBody>
      </p:sp>
      <p:sp>
        <p:nvSpPr>
          <p:cNvPr id="224" name="MRow7_1"/>
          <p:cNvSpPr/>
          <p:nvPr/>
        </p:nvSpPr>
        <p:spPr>
          <a:xfrm>
            <a:off x="279400" y="4305300"/>
            <a:ext cx="2032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Kittila</a:t>
            </a:r>
          </a:p>
        </p:txBody>
      </p:sp>
      <p:sp>
        <p:nvSpPr>
          <p:cNvPr id="225" name="MRow7_2"/>
          <p:cNvSpPr/>
          <p:nvPr/>
        </p:nvSpPr>
        <p:spPr>
          <a:xfrm>
            <a:off x="2438400" y="4305300"/>
            <a:ext cx="2032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</a:rPr>
              <a:t>Finland</a:t>
            </a:r>
          </a:p>
        </p:txBody>
      </p:sp>
      <p:sp>
        <p:nvSpPr>
          <p:cNvPr id="300" name="VDiv"/>
          <p:cNvSpPr/>
          <p:nvPr/>
        </p:nvSpPr>
        <p:spPr>
          <a:xfrm>
            <a:off x="4775200" y="990600"/>
            <a:ext cx="25400" cy="57150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301" name="ROHeader"/>
          <p:cNvSpPr/>
          <p:nvPr/>
        </p:nvSpPr>
        <p:spPr>
          <a:xfrm>
            <a:off x="4902200" y="1041400"/>
            <a:ext cx="6934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OPERATIONAL SUMMARY — FY2025A ACTUALS</a:t>
            </a:r>
          </a:p>
        </p:txBody>
      </p:sp>
      <p:sp>
        <p:nvSpPr>
          <p:cNvPr id="400" name="T0_0"/>
          <p:cNvSpPr/>
          <p:nvPr/>
        </p:nvSpPr>
        <p:spPr>
          <a:xfrm>
            <a:off x="4902200" y="1346200"/>
            <a:ext cx="23876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8A6C00"/>
                </a:solidFill>
              </a:rPr>
              <a:t>Mine / Asset</a:t>
            </a:r>
          </a:p>
        </p:txBody>
      </p:sp>
      <p:sp>
        <p:nvSpPr>
          <p:cNvPr id="401" name="T0_1"/>
          <p:cNvSpPr/>
          <p:nvPr/>
        </p:nvSpPr>
        <p:spPr>
          <a:xfrm>
            <a:off x="7366000" y="1346200"/>
            <a:ext cx="12192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8A6C00"/>
                </a:solidFill>
              </a:rPr>
              <a:t>Prod (Koz)</a:t>
            </a:r>
          </a:p>
        </p:txBody>
      </p:sp>
      <p:sp>
        <p:nvSpPr>
          <p:cNvPr id="402" name="T0_2"/>
          <p:cNvSpPr/>
          <p:nvPr/>
        </p:nvSpPr>
        <p:spPr>
          <a:xfrm>
            <a:off x="8661400" y="1346200"/>
            <a:ext cx="11938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8A6C00"/>
                </a:solidFill>
              </a:rPr>
              <a:t>AISC ($/oz)</a:t>
            </a:r>
          </a:p>
        </p:txBody>
      </p:sp>
      <p:sp>
        <p:nvSpPr>
          <p:cNvPr id="403" name="T0_3"/>
          <p:cNvSpPr/>
          <p:nvPr/>
        </p:nvSpPr>
        <p:spPr>
          <a:xfrm>
            <a:off x="9931400" y="1346200"/>
            <a:ext cx="13970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8A6C00"/>
                </a:solidFill>
              </a:rPr>
              <a:t>P&amp;P Res (Moz)</a:t>
            </a:r>
          </a:p>
        </p:txBody>
      </p:sp>
      <p:sp>
        <p:nvSpPr>
          <p:cNvPr id="404" name="T0_4"/>
          <p:cNvSpPr/>
          <p:nvPr/>
        </p:nvSpPr>
        <p:spPr>
          <a:xfrm>
            <a:off x="11430000" y="1346200"/>
            <a:ext cx="6604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8A6C00"/>
                </a:solidFill>
              </a:rPr>
              <a:t>Life (yr)</a:t>
            </a:r>
          </a:p>
        </p:txBody>
      </p:sp>
      <p:sp>
        <p:nvSpPr>
          <p:cNvPr id="410" name="T1_0"/>
          <p:cNvSpPr/>
          <p:nvPr/>
        </p:nvSpPr>
        <p:spPr>
          <a:xfrm>
            <a:off x="4902200" y="1714500"/>
            <a:ext cx="23876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LaRonde Complex</a:t>
            </a:r>
          </a:p>
        </p:txBody>
      </p:sp>
      <p:sp>
        <p:nvSpPr>
          <p:cNvPr id="411" name="T1_1"/>
          <p:cNvSpPr/>
          <p:nvPr/>
        </p:nvSpPr>
        <p:spPr>
          <a:xfrm>
            <a:off x="7366000" y="17145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~290</a:t>
            </a:r>
          </a:p>
        </p:txBody>
      </p:sp>
      <p:sp>
        <p:nvSpPr>
          <p:cNvPr id="412" name="T1_2"/>
          <p:cNvSpPr/>
          <p:nvPr/>
        </p:nvSpPr>
        <p:spPr>
          <a:xfrm>
            <a:off x="8661400" y="1714500"/>
            <a:ext cx="11938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$829</a:t>
            </a:r>
          </a:p>
        </p:txBody>
      </p:sp>
      <p:sp>
        <p:nvSpPr>
          <p:cNvPr id="413" name="T1_3"/>
          <p:cNvSpPr/>
          <p:nvPr/>
        </p:nvSpPr>
        <p:spPr>
          <a:xfrm>
            <a:off x="9931400" y="1714500"/>
            <a:ext cx="1397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2.85</a:t>
            </a:r>
          </a:p>
        </p:txBody>
      </p:sp>
      <p:sp>
        <p:nvSpPr>
          <p:cNvPr id="414" name="T1_4"/>
          <p:cNvSpPr/>
          <p:nvPr/>
        </p:nvSpPr>
        <p:spPr>
          <a:xfrm>
            <a:off x="11430000" y="1714500"/>
            <a:ext cx="6604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~12</a:t>
            </a:r>
          </a:p>
        </p:txBody>
      </p:sp>
      <p:sp>
        <p:nvSpPr>
          <p:cNvPr id="420" name="T2_0"/>
          <p:cNvSpPr/>
          <p:nvPr/>
        </p:nvSpPr>
        <p:spPr>
          <a:xfrm>
            <a:off x="4902200" y="2082800"/>
            <a:ext cx="23876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Canadian Malartic</a:t>
            </a:r>
          </a:p>
        </p:txBody>
      </p:sp>
      <p:sp>
        <p:nvSpPr>
          <p:cNvPr id="421" name="T2_1"/>
          <p:cNvSpPr/>
          <p:nvPr/>
        </p:nvSpPr>
        <p:spPr>
          <a:xfrm>
            <a:off x="7366000" y="2082800"/>
            <a:ext cx="12192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~750</a:t>
            </a:r>
          </a:p>
        </p:txBody>
      </p:sp>
      <p:sp>
        <p:nvSpPr>
          <p:cNvPr id="422" name="T2_2"/>
          <p:cNvSpPr/>
          <p:nvPr/>
        </p:nvSpPr>
        <p:spPr>
          <a:xfrm>
            <a:off x="8661400" y="2082800"/>
            <a:ext cx="11938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$870</a:t>
            </a:r>
          </a:p>
        </p:txBody>
      </p:sp>
      <p:sp>
        <p:nvSpPr>
          <p:cNvPr id="423" name="T2_3"/>
          <p:cNvSpPr/>
          <p:nvPr/>
        </p:nvSpPr>
        <p:spPr>
          <a:xfrm>
            <a:off x="9931400" y="2082800"/>
            <a:ext cx="1397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9.05</a:t>
            </a:r>
          </a:p>
        </p:txBody>
      </p:sp>
      <p:sp>
        <p:nvSpPr>
          <p:cNvPr id="424" name="T2_4"/>
          <p:cNvSpPr/>
          <p:nvPr/>
        </p:nvSpPr>
        <p:spPr>
          <a:xfrm>
            <a:off x="11430000" y="2082800"/>
            <a:ext cx="6604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~22</a:t>
            </a:r>
          </a:p>
        </p:txBody>
      </p:sp>
      <p:sp>
        <p:nvSpPr>
          <p:cNvPr id="430" name="T3_0"/>
          <p:cNvSpPr/>
          <p:nvPr/>
        </p:nvSpPr>
        <p:spPr>
          <a:xfrm>
            <a:off x="4902200" y="2451100"/>
            <a:ext cx="23876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Detour Lake</a:t>
            </a:r>
          </a:p>
        </p:txBody>
      </p:sp>
      <p:sp>
        <p:nvSpPr>
          <p:cNvPr id="431" name="T3_1"/>
          <p:cNvSpPr/>
          <p:nvPr/>
        </p:nvSpPr>
        <p:spPr>
          <a:xfrm>
            <a:off x="7366000" y="24511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~700</a:t>
            </a:r>
          </a:p>
        </p:txBody>
      </p:sp>
      <p:sp>
        <p:nvSpPr>
          <p:cNvPr id="432" name="T3_2"/>
          <p:cNvSpPr/>
          <p:nvPr/>
        </p:nvSpPr>
        <p:spPr>
          <a:xfrm>
            <a:off x="8661400" y="2451100"/>
            <a:ext cx="11938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$838</a:t>
            </a:r>
          </a:p>
        </p:txBody>
      </p:sp>
      <p:sp>
        <p:nvSpPr>
          <p:cNvPr id="433" name="T3_3"/>
          <p:cNvSpPr/>
          <p:nvPr/>
        </p:nvSpPr>
        <p:spPr>
          <a:xfrm>
            <a:off x="9931400" y="2451100"/>
            <a:ext cx="1397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18.6</a:t>
            </a:r>
          </a:p>
        </p:txBody>
      </p:sp>
      <p:sp>
        <p:nvSpPr>
          <p:cNvPr id="434" name="T3_4"/>
          <p:cNvSpPr/>
          <p:nvPr/>
        </p:nvSpPr>
        <p:spPr>
          <a:xfrm>
            <a:off x="11430000" y="2451100"/>
            <a:ext cx="6604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~27</a:t>
            </a:r>
          </a:p>
        </p:txBody>
      </p:sp>
      <p:sp>
        <p:nvSpPr>
          <p:cNvPr id="440" name="T4_0"/>
          <p:cNvSpPr/>
          <p:nvPr/>
        </p:nvSpPr>
        <p:spPr>
          <a:xfrm>
            <a:off x="4902200" y="2819400"/>
            <a:ext cx="23876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Macassa</a:t>
            </a:r>
          </a:p>
        </p:txBody>
      </p:sp>
      <p:sp>
        <p:nvSpPr>
          <p:cNvPr id="441" name="T4_1"/>
          <p:cNvSpPr/>
          <p:nvPr/>
        </p:nvSpPr>
        <p:spPr>
          <a:xfrm>
            <a:off x="7366000" y="2819400"/>
            <a:ext cx="12192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~355</a:t>
            </a:r>
          </a:p>
        </p:txBody>
      </p:sp>
      <p:sp>
        <p:nvSpPr>
          <p:cNvPr id="442" name="T4_2"/>
          <p:cNvSpPr/>
          <p:nvPr/>
        </p:nvSpPr>
        <p:spPr>
          <a:xfrm>
            <a:off x="8661400" y="2819400"/>
            <a:ext cx="11938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$793</a:t>
            </a:r>
          </a:p>
        </p:txBody>
      </p:sp>
      <p:sp>
        <p:nvSpPr>
          <p:cNvPr id="443" name="T4_3"/>
          <p:cNvSpPr/>
          <p:nvPr/>
        </p:nvSpPr>
        <p:spPr>
          <a:xfrm>
            <a:off x="9931400" y="2819400"/>
            <a:ext cx="1397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2.20</a:t>
            </a:r>
          </a:p>
        </p:txBody>
      </p:sp>
      <p:sp>
        <p:nvSpPr>
          <p:cNvPr id="444" name="T4_4"/>
          <p:cNvSpPr/>
          <p:nvPr/>
        </p:nvSpPr>
        <p:spPr>
          <a:xfrm>
            <a:off x="11430000" y="2819400"/>
            <a:ext cx="6604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~7</a:t>
            </a:r>
          </a:p>
        </p:txBody>
      </p:sp>
      <p:sp>
        <p:nvSpPr>
          <p:cNvPr id="450" name="T5_0"/>
          <p:cNvSpPr/>
          <p:nvPr/>
        </p:nvSpPr>
        <p:spPr>
          <a:xfrm>
            <a:off x="4902200" y="3187700"/>
            <a:ext cx="23876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Meliadine</a:t>
            </a:r>
          </a:p>
        </p:txBody>
      </p:sp>
      <p:sp>
        <p:nvSpPr>
          <p:cNvPr id="451" name="T5_1"/>
          <p:cNvSpPr/>
          <p:nvPr/>
        </p:nvSpPr>
        <p:spPr>
          <a:xfrm>
            <a:off x="7366000" y="31877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~400</a:t>
            </a:r>
          </a:p>
        </p:txBody>
      </p:sp>
      <p:sp>
        <p:nvSpPr>
          <p:cNvPr id="452" name="T5_2"/>
          <p:cNvSpPr/>
          <p:nvPr/>
        </p:nvSpPr>
        <p:spPr>
          <a:xfrm>
            <a:off x="8661400" y="3187700"/>
            <a:ext cx="11938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$1,117</a:t>
            </a:r>
          </a:p>
        </p:txBody>
      </p:sp>
      <p:sp>
        <p:nvSpPr>
          <p:cNvPr id="453" name="T5_3"/>
          <p:cNvSpPr/>
          <p:nvPr/>
        </p:nvSpPr>
        <p:spPr>
          <a:xfrm>
            <a:off x="9931400" y="3187700"/>
            <a:ext cx="1397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3.62</a:t>
            </a:r>
          </a:p>
        </p:txBody>
      </p:sp>
      <p:sp>
        <p:nvSpPr>
          <p:cNvPr id="454" name="T5_4"/>
          <p:cNvSpPr/>
          <p:nvPr/>
        </p:nvSpPr>
        <p:spPr>
          <a:xfrm>
            <a:off x="11430000" y="3187700"/>
            <a:ext cx="6604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~9</a:t>
            </a:r>
          </a:p>
        </p:txBody>
      </p:sp>
      <p:sp>
        <p:nvSpPr>
          <p:cNvPr id="460" name="T6_0"/>
          <p:cNvSpPr/>
          <p:nvPr/>
        </p:nvSpPr>
        <p:spPr>
          <a:xfrm>
            <a:off x="4902200" y="3556000"/>
            <a:ext cx="23876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Meadowbank (Amaruq)</a:t>
            </a:r>
          </a:p>
        </p:txBody>
      </p:sp>
      <p:sp>
        <p:nvSpPr>
          <p:cNvPr id="461" name="T6_1"/>
          <p:cNvSpPr/>
          <p:nvPr/>
        </p:nvSpPr>
        <p:spPr>
          <a:xfrm>
            <a:off x="7366000" y="3556000"/>
            <a:ext cx="12192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~410</a:t>
            </a:r>
          </a:p>
        </p:txBody>
      </p:sp>
      <p:sp>
        <p:nvSpPr>
          <p:cNvPr id="462" name="T6_2"/>
          <p:cNvSpPr/>
          <p:nvPr/>
        </p:nvSpPr>
        <p:spPr>
          <a:xfrm>
            <a:off x="8661400" y="3556000"/>
            <a:ext cx="11938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$1,351</a:t>
            </a:r>
          </a:p>
        </p:txBody>
      </p:sp>
      <p:sp>
        <p:nvSpPr>
          <p:cNvPr id="463" name="T6_3"/>
          <p:cNvSpPr/>
          <p:nvPr/>
        </p:nvSpPr>
        <p:spPr>
          <a:xfrm>
            <a:off x="9931400" y="3556000"/>
            <a:ext cx="1397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1.45</a:t>
            </a:r>
          </a:p>
        </p:txBody>
      </p:sp>
      <p:sp>
        <p:nvSpPr>
          <p:cNvPr id="464" name="T6_4"/>
          <p:cNvSpPr/>
          <p:nvPr/>
        </p:nvSpPr>
        <p:spPr>
          <a:xfrm>
            <a:off x="11430000" y="3556000"/>
            <a:ext cx="6604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~4</a:t>
            </a:r>
          </a:p>
        </p:txBody>
      </p:sp>
      <p:sp>
        <p:nvSpPr>
          <p:cNvPr id="470" name="T7_0"/>
          <p:cNvSpPr/>
          <p:nvPr/>
        </p:nvSpPr>
        <p:spPr>
          <a:xfrm>
            <a:off x="4902200" y="3924300"/>
            <a:ext cx="23876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Fosterville</a:t>
            </a:r>
          </a:p>
        </p:txBody>
      </p:sp>
      <p:sp>
        <p:nvSpPr>
          <p:cNvPr id="471" name="T7_1"/>
          <p:cNvSpPr/>
          <p:nvPr/>
        </p:nvSpPr>
        <p:spPr>
          <a:xfrm>
            <a:off x="7366000" y="39243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~190</a:t>
            </a:r>
          </a:p>
        </p:txBody>
      </p:sp>
      <p:sp>
        <p:nvSpPr>
          <p:cNvPr id="472" name="T7_2"/>
          <p:cNvSpPr/>
          <p:nvPr/>
        </p:nvSpPr>
        <p:spPr>
          <a:xfrm>
            <a:off x="8661400" y="3924300"/>
            <a:ext cx="11938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$1,202</a:t>
            </a:r>
          </a:p>
        </p:txBody>
      </p:sp>
      <p:sp>
        <p:nvSpPr>
          <p:cNvPr id="473" name="T7_3"/>
          <p:cNvSpPr/>
          <p:nvPr/>
        </p:nvSpPr>
        <p:spPr>
          <a:xfrm>
            <a:off x="9931400" y="3924300"/>
            <a:ext cx="1397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1.67</a:t>
            </a:r>
          </a:p>
        </p:txBody>
      </p:sp>
      <p:sp>
        <p:nvSpPr>
          <p:cNvPr id="474" name="T7_4"/>
          <p:cNvSpPr/>
          <p:nvPr/>
        </p:nvSpPr>
        <p:spPr>
          <a:xfrm>
            <a:off x="11430000" y="3924300"/>
            <a:ext cx="6604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~11</a:t>
            </a:r>
          </a:p>
        </p:txBody>
      </p:sp>
      <p:sp>
        <p:nvSpPr>
          <p:cNvPr id="480" name="T8_0"/>
          <p:cNvSpPr/>
          <p:nvPr/>
        </p:nvSpPr>
        <p:spPr>
          <a:xfrm>
            <a:off x="4902200" y="4292600"/>
            <a:ext cx="23876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Kittila</a:t>
            </a:r>
          </a:p>
        </p:txBody>
      </p:sp>
      <p:sp>
        <p:nvSpPr>
          <p:cNvPr id="481" name="T8_1"/>
          <p:cNvSpPr/>
          <p:nvPr/>
        </p:nvSpPr>
        <p:spPr>
          <a:xfrm>
            <a:off x="7366000" y="4292600"/>
            <a:ext cx="12192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~220</a:t>
            </a:r>
          </a:p>
        </p:txBody>
      </p:sp>
      <p:sp>
        <p:nvSpPr>
          <p:cNvPr id="482" name="T8_2"/>
          <p:cNvSpPr/>
          <p:nvPr/>
        </p:nvSpPr>
        <p:spPr>
          <a:xfrm>
            <a:off x="8661400" y="4292600"/>
            <a:ext cx="11938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$1,146</a:t>
            </a:r>
          </a:p>
        </p:txBody>
      </p:sp>
      <p:sp>
        <p:nvSpPr>
          <p:cNvPr id="483" name="T8_3"/>
          <p:cNvSpPr/>
          <p:nvPr/>
        </p:nvSpPr>
        <p:spPr>
          <a:xfrm>
            <a:off x="9931400" y="4292600"/>
            <a:ext cx="1397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3.32</a:t>
            </a:r>
          </a:p>
        </p:txBody>
      </p:sp>
      <p:sp>
        <p:nvSpPr>
          <p:cNvPr id="484" name="T8_4"/>
          <p:cNvSpPr/>
          <p:nvPr/>
        </p:nvSpPr>
        <p:spPr>
          <a:xfrm>
            <a:off x="11430000" y="4292600"/>
            <a:ext cx="6604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~19</a:t>
            </a:r>
          </a:p>
        </p:txBody>
      </p:sp>
      <p:sp>
        <p:nvSpPr>
          <p:cNvPr id="490" name="T9_0"/>
          <p:cNvSpPr/>
          <p:nvPr/>
        </p:nvSpPr>
        <p:spPr>
          <a:xfrm>
            <a:off x="4902200" y="4660900"/>
            <a:ext cx="23876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CONSOLIDATED</a:t>
            </a:r>
          </a:p>
        </p:txBody>
      </p:sp>
      <p:sp>
        <p:nvSpPr>
          <p:cNvPr id="491" name="T9_1"/>
          <p:cNvSpPr/>
          <p:nvPr/>
        </p:nvSpPr>
        <p:spPr>
          <a:xfrm>
            <a:off x="7366000" y="4660900"/>
            <a:ext cx="12192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3,447 Koz</a:t>
            </a:r>
          </a:p>
        </p:txBody>
      </p:sp>
      <p:sp>
        <p:nvSpPr>
          <p:cNvPr id="492" name="T9_2"/>
          <p:cNvSpPr/>
          <p:nvPr/>
        </p:nvSpPr>
        <p:spPr>
          <a:xfrm>
            <a:off x="8661400" y="4660900"/>
            <a:ext cx="11938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$1,339</a:t>
            </a:r>
          </a:p>
        </p:txBody>
      </p:sp>
      <p:sp>
        <p:nvSpPr>
          <p:cNvPr id="493" name="T9_3"/>
          <p:cNvSpPr/>
          <p:nvPr/>
        </p:nvSpPr>
        <p:spPr>
          <a:xfrm>
            <a:off x="9931400" y="4660900"/>
            <a:ext cx="13970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55.4 Moz</a:t>
            </a:r>
          </a:p>
        </p:txBody>
      </p:sp>
      <p:sp>
        <p:nvSpPr>
          <p:cNvPr id="494" name="T9_4"/>
          <p:cNvSpPr/>
          <p:nvPr/>
        </p:nvSpPr>
        <p:spPr>
          <a:xfrm>
            <a:off x="11430000" y="4660900"/>
            <a:ext cx="6604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~15</a:t>
            </a:r>
          </a:p>
        </p:txBody>
      </p:sp>
      <p:sp>
        <p:nvSpPr>
          <p:cNvPr id="390" name="TotDiv"/>
          <p:cNvSpPr/>
          <p:nvPr/>
        </p:nvSpPr>
        <p:spPr>
          <a:xfrm>
            <a:off x="4902200" y="4648200"/>
            <a:ext cx="6934200" cy="127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500" name="Footer"/>
          <p:cNvSpPr/>
          <p:nvPr/>
        </p:nvSpPr>
        <p:spPr>
          <a:xfrm>
            <a:off x="279400" y="5080000"/>
            <a:ext cx="11633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i="1" dirty="0">
                <a:solidFill>
                  <a:srgbClr val="62666A"/>
                </a:solidFill>
              </a:rPr>
              <a:t>AEM holds a RECORD 55.4 Moz P&amp;P gold reserve base (Dec 31, 2025) — replaced 100%+ of depletion organically for 5+ consecutive years. Record M&amp;I resources 43.0 Moz (+9.6% YoY); Inferred 36.2 Moz (+15.5% YoY). Net cash $2.67B; Moody's upgraded to A3 (Stable).</a:t>
            </a:r>
          </a:p>
        </p:txBody>
      </p:sp>
    </p:spTree>
    <p:extLst>
      <p:ext uri="{BB962C8B-B14F-4D97-AF65-F5344CB8AC3E}">
        <p14:creationId xmlns:p14="http://schemas.microsoft.com/office/powerpoint/2010/main" val="754694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ecLbl"/>
          <p:cNvSpPr/>
          <p:nvPr/>
        </p:nvSpPr>
        <p:spPr>
          <a:xfrm>
            <a:off x="279400" y="127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8A6C00"/>
                </a:solidFill>
              </a:rPr>
              <a:t>GOLD MARKET &amp; MACRO BACKDROP</a:t>
            </a:r>
          </a:p>
        </p:txBody>
      </p:sp>
      <p:sp>
        <p:nvSpPr>
          <p:cNvPr id="105" name="SNum"/>
          <p:cNvSpPr/>
          <p:nvPr/>
        </p:nvSpPr>
        <p:spPr>
          <a:xfrm>
            <a:off x="11582400" y="127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106" name="Title"/>
          <p:cNvSpPr/>
          <p:nvPr/>
        </p:nvSpPr>
        <p:spPr>
          <a:xfrm>
            <a:off x="279400" y="381000"/>
            <a:ext cx="116332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600" dirty="0">
                <a:solidFill>
                  <a:srgbClr val="221F1F"/>
                </a:solidFill>
              </a:rPr>
              <a:t>Gold Trading &gt;$5,200/oz — Structural Drivers Intact; Each $100/oz Increment Adds ~$335M to AEM EBITDA</a:t>
            </a:r>
          </a:p>
        </p:txBody>
      </p:sp>
      <p:sp>
        <p:nvSpPr>
          <p:cNvPr id="107" name="Div1"/>
          <p:cNvSpPr/>
          <p:nvPr/>
        </p:nvSpPr>
        <p:spPr>
          <a:xfrm>
            <a:off x="279400" y="889000"/>
            <a:ext cx="11633200" cy="254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0" name="CBg"/>
          <p:cNvSpPr/>
          <p:nvPr/>
        </p:nvSpPr>
        <p:spPr>
          <a:xfrm>
            <a:off x="279400" y="990600"/>
            <a:ext cx="5689600" cy="271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8" name="CBar"/>
          <p:cNvSpPr/>
          <p:nvPr/>
        </p:nvSpPr>
        <p:spPr>
          <a:xfrm>
            <a:off x="279400" y="990600"/>
            <a:ext cx="50800" cy="27178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2" name="CHdr"/>
          <p:cNvSpPr/>
          <p:nvPr/>
        </p:nvSpPr>
        <p:spPr>
          <a:xfrm>
            <a:off x="406400" y="1092200"/>
            <a:ext cx="5511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GOLD PRICE OPERATING LEVERAGE — AEM FY2026E</a:t>
            </a:r>
          </a:p>
        </p:txBody>
      </p:sp>
      <p:sp>
        <p:nvSpPr>
          <p:cNvPr id="216" name="CSep"/>
          <p:cNvSpPr/>
          <p:nvPr/>
        </p:nvSpPr>
        <p:spPr>
          <a:xfrm>
            <a:off x="406400" y="1435100"/>
            <a:ext cx="5511800" cy="127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20" name="CBody"/>
          <p:cNvSpPr/>
          <p:nvPr/>
        </p:nvSpPr>
        <p:spPr>
          <a:xfrm>
            <a:off x="406400" y="1524000"/>
            <a:ext cx="5511800" cy="2108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Gold $3,500/oz: Rev $11.9B | EBITDA $10.1B | FCF $7.6B | Margin $2,018/oz
Gold $5,000/oz: Rev $17.0B | EBITDA $12.8B | FCF $9.6B | Margin $3,518/oz
Gold $6,000/oz: Rev $20.4B | EBITDA $16.2B | FCF $8.9B | Margin $4,518/oz
Gold $7,000/oz: Rev ~$23.8B | EBITDA ~$19.5B | FCF ~$14.5B
Each +$100/oz gold price adds ~$335M to annual EBITDA at guidance production rates.</a:t>
            </a:r>
          </a:p>
        </p:txBody>
      </p:sp>
      <p:sp>
        <p:nvSpPr>
          <p:cNvPr id="202" name="CBg"/>
          <p:cNvSpPr/>
          <p:nvPr/>
        </p:nvSpPr>
        <p:spPr>
          <a:xfrm>
            <a:off x="6223000" y="990600"/>
            <a:ext cx="5689600" cy="271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0" name="CBar"/>
          <p:cNvSpPr/>
          <p:nvPr/>
        </p:nvSpPr>
        <p:spPr>
          <a:xfrm>
            <a:off x="6223000" y="990600"/>
            <a:ext cx="50800" cy="27178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4" name="CHdr"/>
          <p:cNvSpPr/>
          <p:nvPr/>
        </p:nvSpPr>
        <p:spPr>
          <a:xfrm>
            <a:off x="6350000" y="1092200"/>
            <a:ext cx="5511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GOLD PRICE: $5,200+/oz (FEB 2026)</a:t>
            </a:r>
          </a:p>
        </p:txBody>
      </p:sp>
      <p:sp>
        <p:nvSpPr>
          <p:cNvPr id="218" name="CSep"/>
          <p:cNvSpPr/>
          <p:nvPr/>
        </p:nvSpPr>
        <p:spPr>
          <a:xfrm>
            <a:off x="6350000" y="1435100"/>
            <a:ext cx="5511800" cy="127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22" name="CBody"/>
          <p:cNvSpPr/>
          <p:nvPr/>
        </p:nvSpPr>
        <p:spPr>
          <a:xfrm>
            <a:off x="6350000" y="1524000"/>
            <a:ext cx="5511800" cy="2108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Price path: $1,800 (2022) → $1,983 (2023) → $2,390 (2024) → $3,454 (FY2025A avg) → $5,200+ (Feb 2026 spot).
Central Bank accumulation: &gt;1,000 tonnes/yr in 2023-24 — highest since 1967.
Real rates: Declined from +2.5% peak (Oct 2023) — strongest mechanical driver of gold price.
USD structural weakening from fiscal expansion and reserve diversification.</a:t>
            </a:r>
          </a:p>
        </p:txBody>
      </p:sp>
      <p:sp>
        <p:nvSpPr>
          <p:cNvPr id="201" name="CBg"/>
          <p:cNvSpPr/>
          <p:nvPr/>
        </p:nvSpPr>
        <p:spPr>
          <a:xfrm>
            <a:off x="279400" y="3810000"/>
            <a:ext cx="5689600" cy="271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9" name="CBar"/>
          <p:cNvSpPr/>
          <p:nvPr/>
        </p:nvSpPr>
        <p:spPr>
          <a:xfrm>
            <a:off x="279400" y="3810000"/>
            <a:ext cx="50800" cy="27178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3" name="CHdr"/>
          <p:cNvSpPr/>
          <p:nvPr/>
        </p:nvSpPr>
        <p:spPr>
          <a:xfrm>
            <a:off x="406400" y="3911600"/>
            <a:ext cx="5511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REAL RATES &amp; USD: MECHANICAL DRIVERS</a:t>
            </a:r>
          </a:p>
        </p:txBody>
      </p:sp>
      <p:sp>
        <p:nvSpPr>
          <p:cNvPr id="217" name="CSep"/>
          <p:cNvSpPr/>
          <p:nvPr/>
        </p:nvSpPr>
        <p:spPr>
          <a:xfrm>
            <a:off x="406400" y="4254500"/>
            <a:ext cx="5511800" cy="127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21" name="CBody"/>
          <p:cNvSpPr/>
          <p:nvPr/>
        </p:nvSpPr>
        <p:spPr>
          <a:xfrm>
            <a:off x="406400" y="4343400"/>
            <a:ext cx="5511800" cy="2108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The inverse correlation between 10-year TIPS yields and gold prices remains intact.
Real rates declined from +2.5% (Oct 2023 peak) to below +1.5% — gold's primary mechanical driver.
USD structural weakness: Fiscal deficit ~7% of GDP, rising debt-to-GDP, reserve diversification.
TGA drawdown (~$912B) as Treasury spends down will expand global USD liquidity — historically gold-positive.</a:t>
            </a:r>
          </a:p>
        </p:txBody>
      </p:sp>
      <p:sp>
        <p:nvSpPr>
          <p:cNvPr id="203" name="CBg"/>
          <p:cNvSpPr/>
          <p:nvPr/>
        </p:nvSpPr>
        <p:spPr>
          <a:xfrm>
            <a:off x="6223000" y="3810000"/>
            <a:ext cx="5689600" cy="271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1" name="CBar"/>
          <p:cNvSpPr/>
          <p:nvPr/>
        </p:nvSpPr>
        <p:spPr>
          <a:xfrm>
            <a:off x="6223000" y="3810000"/>
            <a:ext cx="50800" cy="27178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5" name="CHdr"/>
          <p:cNvSpPr/>
          <p:nvPr/>
        </p:nvSpPr>
        <p:spPr>
          <a:xfrm>
            <a:off x="6350000" y="3911600"/>
            <a:ext cx="5511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GEOPOLITICAL FRAGMENTATION &amp; RESERVE DIVERSIFICATION</a:t>
            </a:r>
          </a:p>
        </p:txBody>
      </p:sp>
      <p:sp>
        <p:nvSpPr>
          <p:cNvPr id="219" name="CSep"/>
          <p:cNvSpPr/>
          <p:nvPr/>
        </p:nvSpPr>
        <p:spPr>
          <a:xfrm>
            <a:off x="6350000" y="4254500"/>
            <a:ext cx="5511800" cy="127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23" name="CBody"/>
          <p:cNvSpPr/>
          <p:nvPr/>
        </p:nvSpPr>
        <p:spPr>
          <a:xfrm>
            <a:off x="6350000" y="4343400"/>
            <a:ext cx="5511800" cy="2108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Geopolitical fragmentation driving structural changes in reserve asset allocation.
Reserve dedollarization: China, Russia, Gulf states increasing gold from 5-15% of reserves toward 20-30%.
De-globalization: Supply chain reshoring increases demand for 'neutral' stores of value.
BIS/IMF reporting: Gold upgraded to Tier 1 capital asset — institutional allocation demand structurally higher.
Conclusion: Gold price appreciation is multi-year structural shift, not cyclical trade.</a:t>
            </a:r>
          </a:p>
        </p:txBody>
      </p:sp>
      <p:sp>
        <p:nvSpPr>
          <p:cNvPr id="300" name="Src"/>
          <p:cNvSpPr/>
          <p:nvPr/>
        </p:nvSpPr>
        <p:spPr>
          <a:xfrm>
            <a:off x="279400" y="6604000"/>
            <a:ext cx="1163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900" i="1" dirty="0">
                <a:solidFill>
                  <a:srgbClr val="555555"/>
                </a:solidFill>
              </a:rPr>
              <a:t>Source: Bloomberg, LME gold spot price Feb 2026. BIS gold capital treatment. AEM-model.xlsx operating leverage analysis.</a:t>
            </a:r>
          </a:p>
        </p:txBody>
      </p:sp>
    </p:spTree>
    <p:extLst>
      <p:ext uri="{BB962C8B-B14F-4D97-AF65-F5344CB8AC3E}">
        <p14:creationId xmlns:p14="http://schemas.microsoft.com/office/powerpoint/2010/main" val="3604943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ecLbl"/>
          <p:cNvSpPr/>
          <p:nvPr/>
        </p:nvSpPr>
        <p:spPr>
          <a:xfrm>
            <a:off x="279400" y="127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8A6C00"/>
                </a:solidFill>
              </a:rPr>
              <a:t>AISC COST STRUCTURE</a:t>
            </a:r>
          </a:p>
        </p:txBody>
      </p:sp>
      <p:sp>
        <p:nvSpPr>
          <p:cNvPr id="105" name="SNum"/>
          <p:cNvSpPr/>
          <p:nvPr/>
        </p:nvSpPr>
        <p:spPr>
          <a:xfrm>
            <a:off x="11582400" y="127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5</a:t>
            </a:r>
          </a:p>
        </p:txBody>
      </p:sp>
      <p:sp>
        <p:nvSpPr>
          <p:cNvPr id="106" name="Title"/>
          <p:cNvSpPr/>
          <p:nvPr/>
        </p:nvSpPr>
        <p:spPr>
          <a:xfrm>
            <a:off x="279400" y="381000"/>
            <a:ext cx="116332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600" dirty="0">
                <a:solidFill>
                  <a:srgbClr val="221F1F"/>
                </a:solidFill>
              </a:rPr>
              <a:t>AISC Waterfall &amp; Unit Economics — Structural Cost Moat at $1,339/oz vs. Peer Median ~$1,530/oz</a:t>
            </a:r>
          </a:p>
        </p:txBody>
      </p:sp>
      <p:sp>
        <p:nvSpPr>
          <p:cNvPr id="107" name="Div1"/>
          <p:cNvSpPr/>
          <p:nvPr/>
        </p:nvSpPr>
        <p:spPr>
          <a:xfrm>
            <a:off x="279400" y="889000"/>
            <a:ext cx="11633200" cy="254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08" name="BarHdr"/>
          <p:cNvSpPr/>
          <p:nvPr/>
        </p:nvSpPr>
        <p:spPr>
          <a:xfrm>
            <a:off x="279400" y="9906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HISTORICAL AISC TREND ($/oz) — FY2020A-FY2026E</a:t>
            </a:r>
          </a:p>
        </p:txBody>
      </p:sp>
      <p:sp>
        <p:nvSpPr>
          <p:cNvPr id="150" name="YLbl0"/>
          <p:cNvSpPr/>
          <p:nvPr/>
        </p:nvSpPr>
        <p:spPr>
          <a:xfrm>
            <a:off x="279400" y="53594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$0</a:t>
            </a:r>
          </a:p>
        </p:txBody>
      </p:sp>
      <p:sp>
        <p:nvSpPr>
          <p:cNvPr id="151" name="YLbl1"/>
          <p:cNvSpPr/>
          <p:nvPr/>
        </p:nvSpPr>
        <p:spPr>
          <a:xfrm>
            <a:off x="279400" y="43815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$500</a:t>
            </a:r>
          </a:p>
        </p:txBody>
      </p:sp>
      <p:sp>
        <p:nvSpPr>
          <p:cNvPr id="152" name="YLbl2"/>
          <p:cNvSpPr/>
          <p:nvPr/>
        </p:nvSpPr>
        <p:spPr>
          <a:xfrm>
            <a:off x="279400" y="34036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$1000</a:t>
            </a:r>
          </a:p>
        </p:txBody>
      </p:sp>
      <p:sp>
        <p:nvSpPr>
          <p:cNvPr id="153" name="YLbl3"/>
          <p:cNvSpPr/>
          <p:nvPr/>
        </p:nvSpPr>
        <p:spPr>
          <a:xfrm>
            <a:off x="279400" y="24257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$1500</a:t>
            </a:r>
          </a:p>
        </p:txBody>
      </p:sp>
      <p:sp>
        <p:nvSpPr>
          <p:cNvPr id="154" name="YLbl4"/>
          <p:cNvSpPr/>
          <p:nvPr/>
        </p:nvSpPr>
        <p:spPr>
          <a:xfrm>
            <a:off x="279400" y="14351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$2000</a:t>
            </a:r>
          </a:p>
        </p:txBody>
      </p:sp>
      <p:sp>
        <p:nvSpPr>
          <p:cNvPr id="156" name="Grid1"/>
          <p:cNvSpPr/>
          <p:nvPr/>
        </p:nvSpPr>
        <p:spPr>
          <a:xfrm>
            <a:off x="1016000" y="4483100"/>
            <a:ext cx="46990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57" name="Grid2"/>
          <p:cNvSpPr/>
          <p:nvPr/>
        </p:nvSpPr>
        <p:spPr>
          <a:xfrm>
            <a:off x="1016000" y="3505200"/>
            <a:ext cx="46990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58" name="Grid3"/>
          <p:cNvSpPr/>
          <p:nvPr/>
        </p:nvSpPr>
        <p:spPr>
          <a:xfrm>
            <a:off x="1016000" y="2527300"/>
            <a:ext cx="46990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59" name="Grid4"/>
          <p:cNvSpPr/>
          <p:nvPr/>
        </p:nvSpPr>
        <p:spPr>
          <a:xfrm>
            <a:off x="1016000" y="1536700"/>
            <a:ext cx="46990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60" name="Bar0"/>
          <p:cNvSpPr/>
          <p:nvPr/>
        </p:nvSpPr>
        <p:spPr>
          <a:xfrm>
            <a:off x="1041400" y="3403600"/>
            <a:ext cx="508000" cy="20574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68" name="BVal0"/>
          <p:cNvSpPr/>
          <p:nvPr/>
        </p:nvSpPr>
        <p:spPr>
          <a:xfrm>
            <a:off x="977900" y="31242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dirty="0">
                <a:solidFill>
                  <a:srgbClr val="4A4A4A"/>
                </a:solidFill>
              </a:rPr>
              <a:t>$1051</a:t>
            </a:r>
          </a:p>
        </p:txBody>
      </p:sp>
      <p:sp>
        <p:nvSpPr>
          <p:cNvPr id="176" name="BXLbl0"/>
          <p:cNvSpPr/>
          <p:nvPr/>
        </p:nvSpPr>
        <p:spPr>
          <a:xfrm>
            <a:off x="990600" y="55372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</a:rPr>
              <a:t>FY2020A</a:t>
            </a:r>
          </a:p>
        </p:txBody>
      </p:sp>
      <p:sp>
        <p:nvSpPr>
          <p:cNvPr id="161" name="Bar1"/>
          <p:cNvSpPr/>
          <p:nvPr/>
        </p:nvSpPr>
        <p:spPr>
          <a:xfrm>
            <a:off x="1714500" y="3390900"/>
            <a:ext cx="508000" cy="20701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69" name="BVal1"/>
          <p:cNvSpPr/>
          <p:nvPr/>
        </p:nvSpPr>
        <p:spPr>
          <a:xfrm>
            <a:off x="1651000" y="31115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dirty="0">
                <a:solidFill>
                  <a:srgbClr val="4A4A4A"/>
                </a:solidFill>
              </a:rPr>
              <a:t>$1059</a:t>
            </a:r>
          </a:p>
        </p:txBody>
      </p:sp>
      <p:sp>
        <p:nvSpPr>
          <p:cNvPr id="177" name="BXLbl1"/>
          <p:cNvSpPr/>
          <p:nvPr/>
        </p:nvSpPr>
        <p:spPr>
          <a:xfrm>
            <a:off x="1663700" y="55372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</a:rPr>
              <a:t>FY2021A</a:t>
            </a:r>
          </a:p>
        </p:txBody>
      </p:sp>
      <p:sp>
        <p:nvSpPr>
          <p:cNvPr id="162" name="Bar2"/>
          <p:cNvSpPr/>
          <p:nvPr/>
        </p:nvSpPr>
        <p:spPr>
          <a:xfrm>
            <a:off x="2387600" y="3289300"/>
            <a:ext cx="508000" cy="21717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70" name="BVal2"/>
          <p:cNvSpPr/>
          <p:nvPr/>
        </p:nvSpPr>
        <p:spPr>
          <a:xfrm>
            <a:off x="2324100" y="30099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dirty="0">
                <a:solidFill>
                  <a:srgbClr val="4A4A4A"/>
                </a:solidFill>
              </a:rPr>
              <a:t>$1109</a:t>
            </a:r>
          </a:p>
        </p:txBody>
      </p:sp>
      <p:sp>
        <p:nvSpPr>
          <p:cNvPr id="178" name="BXLbl2"/>
          <p:cNvSpPr/>
          <p:nvPr/>
        </p:nvSpPr>
        <p:spPr>
          <a:xfrm>
            <a:off x="2336800" y="55372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</a:rPr>
              <a:t>FY2022A</a:t>
            </a:r>
          </a:p>
        </p:txBody>
      </p:sp>
      <p:sp>
        <p:nvSpPr>
          <p:cNvPr id="163" name="Bar3"/>
          <p:cNvSpPr/>
          <p:nvPr/>
        </p:nvSpPr>
        <p:spPr>
          <a:xfrm>
            <a:off x="3060700" y="3149600"/>
            <a:ext cx="508000" cy="23114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71" name="BVal3"/>
          <p:cNvSpPr/>
          <p:nvPr/>
        </p:nvSpPr>
        <p:spPr>
          <a:xfrm>
            <a:off x="2997200" y="28702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dirty="0">
                <a:solidFill>
                  <a:srgbClr val="4A4A4A"/>
                </a:solidFill>
              </a:rPr>
              <a:t>$1179</a:t>
            </a:r>
          </a:p>
        </p:txBody>
      </p:sp>
      <p:sp>
        <p:nvSpPr>
          <p:cNvPr id="179" name="BXLbl3"/>
          <p:cNvSpPr/>
          <p:nvPr/>
        </p:nvSpPr>
        <p:spPr>
          <a:xfrm>
            <a:off x="3009900" y="55372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</a:rPr>
              <a:t>FY2023A</a:t>
            </a:r>
          </a:p>
        </p:txBody>
      </p:sp>
      <p:sp>
        <p:nvSpPr>
          <p:cNvPr id="164" name="Bar4"/>
          <p:cNvSpPr/>
          <p:nvPr/>
        </p:nvSpPr>
        <p:spPr>
          <a:xfrm>
            <a:off x="3733800" y="3035300"/>
            <a:ext cx="508000" cy="24257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72" name="BVal4"/>
          <p:cNvSpPr/>
          <p:nvPr/>
        </p:nvSpPr>
        <p:spPr>
          <a:xfrm>
            <a:off x="3670300" y="27559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dirty="0">
                <a:solidFill>
                  <a:srgbClr val="4A4A4A"/>
                </a:solidFill>
              </a:rPr>
              <a:t>$1239</a:t>
            </a:r>
          </a:p>
        </p:txBody>
      </p:sp>
      <p:sp>
        <p:nvSpPr>
          <p:cNvPr id="180" name="BXLbl4"/>
          <p:cNvSpPr/>
          <p:nvPr/>
        </p:nvSpPr>
        <p:spPr>
          <a:xfrm>
            <a:off x="3683000" y="55372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</a:rPr>
              <a:t>FY2024A</a:t>
            </a:r>
          </a:p>
        </p:txBody>
      </p:sp>
      <p:sp>
        <p:nvSpPr>
          <p:cNvPr id="165" name="Bar5"/>
          <p:cNvSpPr/>
          <p:nvPr/>
        </p:nvSpPr>
        <p:spPr>
          <a:xfrm>
            <a:off x="4406900" y="2832100"/>
            <a:ext cx="508000" cy="26289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73" name="BVal5"/>
          <p:cNvSpPr/>
          <p:nvPr/>
        </p:nvSpPr>
        <p:spPr>
          <a:xfrm>
            <a:off x="4343400" y="25527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EFC400"/>
                </a:solidFill>
              </a:rPr>
              <a:t>$1339</a:t>
            </a:r>
          </a:p>
        </p:txBody>
      </p:sp>
      <p:sp>
        <p:nvSpPr>
          <p:cNvPr id="181" name="BXLbl5"/>
          <p:cNvSpPr/>
          <p:nvPr/>
        </p:nvSpPr>
        <p:spPr>
          <a:xfrm>
            <a:off x="4356100" y="55372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</a:rPr>
              <a:t>FY2025A</a:t>
            </a:r>
          </a:p>
        </p:txBody>
      </p:sp>
      <p:sp>
        <p:nvSpPr>
          <p:cNvPr id="166" name="Bar6"/>
          <p:cNvSpPr/>
          <p:nvPr/>
        </p:nvSpPr>
        <p:spPr>
          <a:xfrm>
            <a:off x="5080000" y="2552700"/>
            <a:ext cx="508000" cy="2908300"/>
          </a:xfrm>
          <a:prstGeom prst="rect">
            <a:avLst/>
          </a:prstGeom>
          <a:solidFill>
            <a:srgbClr val="8A6C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74" name="BVal6"/>
          <p:cNvSpPr/>
          <p:nvPr/>
        </p:nvSpPr>
        <p:spPr>
          <a:xfrm>
            <a:off x="5016500" y="22733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dirty="0">
                <a:solidFill>
                  <a:srgbClr val="4A4A4A"/>
                </a:solidFill>
              </a:rPr>
              <a:t>$1482</a:t>
            </a:r>
          </a:p>
        </p:txBody>
      </p:sp>
      <p:sp>
        <p:nvSpPr>
          <p:cNvPr id="182" name="BXLbl6"/>
          <p:cNvSpPr/>
          <p:nvPr/>
        </p:nvSpPr>
        <p:spPr>
          <a:xfrm>
            <a:off x="5029200" y="55372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</a:rPr>
              <a:t>FY2026E</a:t>
            </a:r>
          </a:p>
        </p:txBody>
      </p:sp>
      <p:sp>
        <p:nvSpPr>
          <p:cNvPr id="200" name="VDiv"/>
          <p:cNvSpPr/>
          <p:nvPr/>
        </p:nvSpPr>
        <p:spPr>
          <a:xfrm>
            <a:off x="5943600" y="889000"/>
            <a:ext cx="25400" cy="58420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1" name="WFHdr"/>
          <p:cNvSpPr/>
          <p:nvPr/>
        </p:nvSpPr>
        <p:spPr>
          <a:xfrm>
            <a:off x="6045200" y="990600"/>
            <a:ext cx="5867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FY2025A AISC WATERFALL COMPONENTS ($/oz)</a:t>
            </a:r>
          </a:p>
        </p:txBody>
      </p:sp>
      <p:sp>
        <p:nvSpPr>
          <p:cNvPr id="210" name="WH0"/>
          <p:cNvSpPr/>
          <p:nvPr/>
        </p:nvSpPr>
        <p:spPr>
          <a:xfrm>
            <a:off x="6045200" y="1231900"/>
            <a:ext cx="2540000" cy="330200"/>
          </a:xfrm>
          <a:prstGeom prst="rect">
            <a:avLst/>
          </a:prstGeom>
          <a:solidFill>
            <a:srgbClr val="E0E2E4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8A6C00"/>
                </a:solidFill>
              </a:rPr>
              <a:t>Component</a:t>
            </a:r>
          </a:p>
        </p:txBody>
      </p:sp>
      <p:sp>
        <p:nvSpPr>
          <p:cNvPr id="211" name="WH1"/>
          <p:cNvSpPr/>
          <p:nvPr/>
        </p:nvSpPr>
        <p:spPr>
          <a:xfrm>
            <a:off x="8636000" y="1219200"/>
            <a:ext cx="914400" cy="342900"/>
          </a:xfrm>
          <a:prstGeom prst="rect">
            <a:avLst/>
          </a:prstGeom>
          <a:solidFill>
            <a:srgbClr val="E0E2E4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50" b="1" dirty="0">
                <a:solidFill>
                  <a:srgbClr val="8A6C00"/>
                </a:solidFill>
              </a:rPr>
              <a:t>Delta ($/oz)</a:t>
            </a:r>
          </a:p>
        </p:txBody>
      </p:sp>
      <p:sp>
        <p:nvSpPr>
          <p:cNvPr id="212" name="WH2"/>
          <p:cNvSpPr/>
          <p:nvPr/>
        </p:nvSpPr>
        <p:spPr>
          <a:xfrm>
            <a:off x="9601200" y="1231900"/>
            <a:ext cx="1143000" cy="330200"/>
          </a:xfrm>
          <a:prstGeom prst="rect">
            <a:avLst/>
          </a:prstGeom>
          <a:solidFill>
            <a:srgbClr val="E0E2E4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Cumul. AISC</a:t>
            </a:r>
          </a:p>
        </p:txBody>
      </p:sp>
      <p:sp>
        <p:nvSpPr>
          <p:cNvPr id="220" name="WL0"/>
          <p:cNvSpPr/>
          <p:nvPr/>
        </p:nvSpPr>
        <p:spPr>
          <a:xfrm>
            <a:off x="6045200" y="1587500"/>
            <a:ext cx="2540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Production costs/oz</a:t>
            </a:r>
          </a:p>
        </p:txBody>
      </p:sp>
      <p:sp>
        <p:nvSpPr>
          <p:cNvPr id="222" name="WC_0"/>
          <p:cNvSpPr/>
          <p:nvPr/>
        </p:nvSpPr>
        <p:spPr>
          <a:xfrm>
            <a:off x="9601200" y="1587500"/>
            <a:ext cx="1143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4A4A4A"/>
                </a:solidFill>
              </a:rPr>
              <a:t>$965</a:t>
            </a:r>
          </a:p>
        </p:txBody>
      </p:sp>
      <p:sp>
        <p:nvSpPr>
          <p:cNvPr id="225" name="WL1"/>
          <p:cNvSpPr/>
          <p:nvPr/>
        </p:nvSpPr>
        <p:spPr>
          <a:xfrm>
            <a:off x="6045200" y="1981200"/>
            <a:ext cx="2540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TCC adjustments</a:t>
            </a:r>
          </a:p>
        </p:txBody>
      </p:sp>
      <p:sp>
        <p:nvSpPr>
          <p:cNvPr id="226" name="WD1"/>
          <p:cNvSpPr/>
          <p:nvPr/>
        </p:nvSpPr>
        <p:spPr>
          <a:xfrm>
            <a:off x="8636000" y="1981200"/>
            <a:ext cx="914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EFC400"/>
                </a:solidFill>
              </a:rPr>
              <a:t>+$70</a:t>
            </a:r>
          </a:p>
        </p:txBody>
      </p:sp>
      <p:sp>
        <p:nvSpPr>
          <p:cNvPr id="227" name="WC_1"/>
          <p:cNvSpPr/>
          <p:nvPr/>
        </p:nvSpPr>
        <p:spPr>
          <a:xfrm>
            <a:off x="9601200" y="1981200"/>
            <a:ext cx="1143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4A4A4A"/>
                </a:solidFill>
              </a:rPr>
              <a:t>$1,035</a:t>
            </a:r>
          </a:p>
        </p:txBody>
      </p:sp>
      <p:sp>
        <p:nvSpPr>
          <p:cNvPr id="230" name="WL2"/>
          <p:cNvSpPr/>
          <p:nvPr/>
        </p:nvSpPr>
        <p:spPr>
          <a:xfrm>
            <a:off x="6045200" y="2374900"/>
            <a:ext cx="2540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Detour Lake (by-product credits)</a:t>
            </a:r>
          </a:p>
        </p:txBody>
      </p:sp>
      <p:sp>
        <p:nvSpPr>
          <p:cNvPr id="231" name="WD2"/>
          <p:cNvSpPr/>
          <p:nvPr/>
        </p:nvSpPr>
        <p:spPr>
          <a:xfrm>
            <a:off x="8636000" y="2374900"/>
            <a:ext cx="9144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EFC400"/>
                </a:solidFill>
              </a:rPr>
              <a:t>-$56</a:t>
            </a:r>
          </a:p>
        </p:txBody>
      </p:sp>
      <p:sp>
        <p:nvSpPr>
          <p:cNvPr id="232" name="WC_2"/>
          <p:cNvSpPr/>
          <p:nvPr/>
        </p:nvSpPr>
        <p:spPr>
          <a:xfrm>
            <a:off x="9601200" y="2374900"/>
            <a:ext cx="1143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4A4A4A"/>
                </a:solidFill>
              </a:rPr>
              <a:t>$979</a:t>
            </a:r>
          </a:p>
        </p:txBody>
      </p:sp>
      <p:sp>
        <p:nvSpPr>
          <p:cNvPr id="235" name="WL3"/>
          <p:cNvSpPr/>
          <p:nvPr/>
        </p:nvSpPr>
        <p:spPr>
          <a:xfrm>
            <a:off x="6045200" y="2768600"/>
            <a:ext cx="2540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Sustaining capex/oz</a:t>
            </a:r>
          </a:p>
        </p:txBody>
      </p:sp>
      <p:sp>
        <p:nvSpPr>
          <p:cNvPr id="236" name="WD3"/>
          <p:cNvSpPr/>
          <p:nvPr/>
        </p:nvSpPr>
        <p:spPr>
          <a:xfrm>
            <a:off x="8636000" y="2768600"/>
            <a:ext cx="914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EFC400"/>
                </a:solidFill>
              </a:rPr>
              <a:t>+$274</a:t>
            </a:r>
          </a:p>
        </p:txBody>
      </p:sp>
      <p:sp>
        <p:nvSpPr>
          <p:cNvPr id="237" name="WC_3"/>
          <p:cNvSpPr/>
          <p:nvPr/>
        </p:nvSpPr>
        <p:spPr>
          <a:xfrm>
            <a:off x="9601200" y="2768600"/>
            <a:ext cx="1143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4A4A4A"/>
                </a:solidFill>
              </a:rPr>
              <a:t>$1,253</a:t>
            </a:r>
          </a:p>
        </p:txBody>
      </p:sp>
      <p:sp>
        <p:nvSpPr>
          <p:cNvPr id="240" name="WL4"/>
          <p:cNvSpPr/>
          <p:nvPr/>
        </p:nvSpPr>
        <p:spPr>
          <a:xfrm>
            <a:off x="6045200" y="3162300"/>
            <a:ext cx="2540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G&amp;A per oz</a:t>
            </a:r>
          </a:p>
        </p:txBody>
      </p:sp>
      <p:sp>
        <p:nvSpPr>
          <p:cNvPr id="241" name="WD4"/>
          <p:cNvSpPr/>
          <p:nvPr/>
        </p:nvSpPr>
        <p:spPr>
          <a:xfrm>
            <a:off x="8636000" y="3162300"/>
            <a:ext cx="9144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EFC400"/>
                </a:solidFill>
              </a:rPr>
              <a:t>+$68</a:t>
            </a:r>
          </a:p>
        </p:txBody>
      </p:sp>
      <p:sp>
        <p:nvSpPr>
          <p:cNvPr id="242" name="WC_4"/>
          <p:cNvSpPr/>
          <p:nvPr/>
        </p:nvSpPr>
        <p:spPr>
          <a:xfrm>
            <a:off x="9601200" y="3162300"/>
            <a:ext cx="1143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4A4A4A"/>
                </a:solidFill>
              </a:rPr>
              <a:t>$1,321</a:t>
            </a:r>
          </a:p>
        </p:txBody>
      </p:sp>
      <p:sp>
        <p:nvSpPr>
          <p:cNvPr id="245" name="WL5"/>
          <p:cNvSpPr/>
          <p:nvPr/>
        </p:nvSpPr>
        <p:spPr>
          <a:xfrm>
            <a:off x="6045200" y="3556000"/>
            <a:ext cx="2540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Non-cash reclamation</a:t>
            </a:r>
          </a:p>
        </p:txBody>
      </p:sp>
      <p:sp>
        <p:nvSpPr>
          <p:cNvPr id="246" name="WD5"/>
          <p:cNvSpPr/>
          <p:nvPr/>
        </p:nvSpPr>
        <p:spPr>
          <a:xfrm>
            <a:off x="8636000" y="3556000"/>
            <a:ext cx="914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EFC400"/>
                </a:solidFill>
              </a:rPr>
              <a:t>+$18</a:t>
            </a:r>
          </a:p>
        </p:txBody>
      </p:sp>
      <p:sp>
        <p:nvSpPr>
          <p:cNvPr id="247" name="WC_5"/>
          <p:cNvSpPr/>
          <p:nvPr/>
        </p:nvSpPr>
        <p:spPr>
          <a:xfrm>
            <a:off x="9601200" y="3556000"/>
            <a:ext cx="1143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4A4A4A"/>
                </a:solidFill>
              </a:rPr>
              <a:t>$1,339</a:t>
            </a:r>
          </a:p>
        </p:txBody>
      </p:sp>
      <p:sp>
        <p:nvSpPr>
          <p:cNvPr id="250" name="WL6"/>
          <p:cNvSpPr/>
          <p:nvPr/>
        </p:nvSpPr>
        <p:spPr>
          <a:xfrm>
            <a:off x="6045200" y="3949700"/>
            <a:ext cx="2540000" cy="381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CONSOLIDATED AISC</a:t>
            </a:r>
          </a:p>
        </p:txBody>
      </p:sp>
      <p:sp>
        <p:nvSpPr>
          <p:cNvPr id="252" name="WC_6"/>
          <p:cNvSpPr/>
          <p:nvPr/>
        </p:nvSpPr>
        <p:spPr>
          <a:xfrm>
            <a:off x="9601200" y="3949700"/>
            <a:ext cx="1143000" cy="381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EFC400"/>
                </a:solidFill>
              </a:rPr>
              <a:t>$1,339</a:t>
            </a:r>
          </a:p>
        </p:txBody>
      </p:sp>
      <p:sp>
        <p:nvSpPr>
          <p:cNvPr id="270" name="WFSep"/>
          <p:cNvSpPr/>
          <p:nvPr/>
        </p:nvSpPr>
        <p:spPr>
          <a:xfrm>
            <a:off x="6045200" y="4394200"/>
            <a:ext cx="5867400" cy="254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71" name="PCHdr"/>
          <p:cNvSpPr/>
          <p:nvPr/>
        </p:nvSpPr>
        <p:spPr>
          <a:xfrm>
            <a:off x="6045200" y="4470400"/>
            <a:ext cx="5867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PEER AISC COMPARISON — FY2025A</a:t>
            </a:r>
          </a:p>
        </p:txBody>
      </p:sp>
      <p:sp>
        <p:nvSpPr>
          <p:cNvPr id="280" name="PRL0"/>
          <p:cNvSpPr/>
          <p:nvPr/>
        </p:nvSpPr>
        <p:spPr>
          <a:xfrm>
            <a:off x="6045200" y="4724400"/>
            <a:ext cx="19050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Agnico Eagle (AEM)</a:t>
            </a:r>
          </a:p>
        </p:txBody>
      </p:sp>
      <p:sp>
        <p:nvSpPr>
          <p:cNvPr id="281" name="PRV0"/>
          <p:cNvSpPr/>
          <p:nvPr/>
        </p:nvSpPr>
        <p:spPr>
          <a:xfrm>
            <a:off x="8001000" y="4724400"/>
            <a:ext cx="12192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$1,339/oz</a:t>
            </a:r>
          </a:p>
        </p:txBody>
      </p:sp>
      <p:sp>
        <p:nvSpPr>
          <p:cNvPr id="282" name="PRD0"/>
          <p:cNvSpPr/>
          <p:nvPr/>
        </p:nvSpPr>
        <p:spPr>
          <a:xfrm>
            <a:off x="9271000" y="4724400"/>
            <a:ext cx="13716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dirty="0">
                <a:solidFill>
                  <a:srgbClr val="62666A"/>
                </a:solidFill>
              </a:rPr>
              <a:t>#1 — Sector Leader</a:t>
            </a:r>
          </a:p>
        </p:txBody>
      </p:sp>
      <p:sp>
        <p:nvSpPr>
          <p:cNvPr id="285" name="PRL1"/>
          <p:cNvSpPr/>
          <p:nvPr/>
        </p:nvSpPr>
        <p:spPr>
          <a:xfrm>
            <a:off x="6045200" y="5054600"/>
            <a:ext cx="1905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Kinross Gold (KGC)</a:t>
            </a:r>
          </a:p>
        </p:txBody>
      </p:sp>
      <p:sp>
        <p:nvSpPr>
          <p:cNvPr id="286" name="PRV1"/>
          <p:cNvSpPr/>
          <p:nvPr/>
        </p:nvSpPr>
        <p:spPr>
          <a:xfrm>
            <a:off x="8001000" y="5054600"/>
            <a:ext cx="12192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$1,340/oz</a:t>
            </a:r>
          </a:p>
        </p:txBody>
      </p:sp>
      <p:sp>
        <p:nvSpPr>
          <p:cNvPr id="287" name="PRD1"/>
          <p:cNvSpPr/>
          <p:nvPr/>
        </p:nvSpPr>
        <p:spPr>
          <a:xfrm>
            <a:off x="9271000" y="5054600"/>
            <a:ext cx="13716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dirty="0">
                <a:solidFill>
                  <a:srgbClr val="62666A"/>
                </a:solidFill>
              </a:rPr>
              <a:t>~Peer</a:t>
            </a:r>
          </a:p>
        </p:txBody>
      </p:sp>
      <p:sp>
        <p:nvSpPr>
          <p:cNvPr id="290" name="PRL2"/>
          <p:cNvSpPr/>
          <p:nvPr/>
        </p:nvSpPr>
        <p:spPr>
          <a:xfrm>
            <a:off x="6045200" y="5384800"/>
            <a:ext cx="1905000" cy="3048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Newmont Corp (NEM)</a:t>
            </a:r>
          </a:p>
        </p:txBody>
      </p:sp>
      <p:sp>
        <p:nvSpPr>
          <p:cNvPr id="291" name="PRV2"/>
          <p:cNvSpPr/>
          <p:nvPr/>
        </p:nvSpPr>
        <p:spPr>
          <a:xfrm>
            <a:off x="8001000" y="5384800"/>
            <a:ext cx="1219200" cy="3048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62666A"/>
                </a:solidFill>
              </a:rPr>
              <a:t>$1,575/oz</a:t>
            </a:r>
          </a:p>
        </p:txBody>
      </p:sp>
      <p:sp>
        <p:nvSpPr>
          <p:cNvPr id="292" name="PRD2"/>
          <p:cNvSpPr/>
          <p:nvPr/>
        </p:nvSpPr>
        <p:spPr>
          <a:xfrm>
            <a:off x="9271000" y="5384800"/>
            <a:ext cx="1371600" cy="3048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dirty="0">
                <a:solidFill>
                  <a:srgbClr val="62666A"/>
                </a:solidFill>
              </a:rPr>
              <a:t>-$236/oz vs. AEM</a:t>
            </a:r>
          </a:p>
        </p:txBody>
      </p:sp>
      <p:sp>
        <p:nvSpPr>
          <p:cNvPr id="295" name="PRL3"/>
          <p:cNvSpPr/>
          <p:nvPr/>
        </p:nvSpPr>
        <p:spPr>
          <a:xfrm>
            <a:off x="6045200" y="5715000"/>
            <a:ext cx="1905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Barrick Gold (GOLD)</a:t>
            </a:r>
          </a:p>
        </p:txBody>
      </p:sp>
      <p:sp>
        <p:nvSpPr>
          <p:cNvPr id="296" name="PRV3"/>
          <p:cNvSpPr/>
          <p:nvPr/>
        </p:nvSpPr>
        <p:spPr>
          <a:xfrm>
            <a:off x="8001000" y="5715000"/>
            <a:ext cx="12192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62666A"/>
                </a:solidFill>
              </a:rPr>
              <a:t>$1,450/oz</a:t>
            </a:r>
          </a:p>
        </p:txBody>
      </p:sp>
      <p:sp>
        <p:nvSpPr>
          <p:cNvPr id="297" name="PRD3"/>
          <p:cNvSpPr/>
          <p:nvPr/>
        </p:nvSpPr>
        <p:spPr>
          <a:xfrm>
            <a:off x="9271000" y="5715000"/>
            <a:ext cx="13716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dirty="0">
                <a:solidFill>
                  <a:srgbClr val="62666A"/>
                </a:solidFill>
              </a:rPr>
              <a:t>-$111/oz vs. AEM</a:t>
            </a:r>
          </a:p>
        </p:txBody>
      </p:sp>
      <p:sp>
        <p:nvSpPr>
          <p:cNvPr id="300" name="PRL4"/>
          <p:cNvSpPr/>
          <p:nvPr/>
        </p:nvSpPr>
        <p:spPr>
          <a:xfrm>
            <a:off x="6045200" y="6045200"/>
            <a:ext cx="1905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62666A"/>
                </a:solidFill>
              </a:rPr>
              <a:t>PEER MEDIAN</a:t>
            </a:r>
          </a:p>
        </p:txBody>
      </p:sp>
      <p:sp>
        <p:nvSpPr>
          <p:cNvPr id="301" name="PRV4"/>
          <p:cNvSpPr/>
          <p:nvPr/>
        </p:nvSpPr>
        <p:spPr>
          <a:xfrm>
            <a:off x="8001000" y="6045200"/>
            <a:ext cx="12192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62666A"/>
                </a:solidFill>
              </a:rPr>
              <a:t>~$1,530/oz</a:t>
            </a:r>
          </a:p>
        </p:txBody>
      </p:sp>
      <p:sp>
        <p:nvSpPr>
          <p:cNvPr id="302" name="PRD4"/>
          <p:cNvSpPr/>
          <p:nvPr/>
        </p:nvSpPr>
        <p:spPr>
          <a:xfrm>
            <a:off x="9271000" y="6045200"/>
            <a:ext cx="13716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dirty="0">
                <a:solidFill>
                  <a:srgbClr val="62666A"/>
                </a:solidFill>
              </a:rPr>
              <a:t>-$191/oz vs. AEM</a:t>
            </a:r>
          </a:p>
        </p:txBody>
      </p:sp>
      <p:sp>
        <p:nvSpPr>
          <p:cNvPr id="2" name="Src"/>
          <p:cNvSpPr/>
          <p:nvPr/>
        </p:nvSpPr>
        <p:spPr>
          <a:xfrm>
            <a:off x="127000" y="6402647"/>
            <a:ext cx="1163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i="1" dirty="0">
                <a:solidFill>
                  <a:srgbClr val="555555"/>
                </a:solidFill>
              </a:rPr>
              <a:t>Source: AEM Q4 2025 News Release, AEM-model.xlsx Unit Economics. AISC on by-product basis per company reporting. FY2025A AISC: $1,339/oz | FY2026E guidance midpoint: $1,475/oz</a:t>
            </a:r>
          </a:p>
        </p:txBody>
      </p:sp>
    </p:spTree>
    <p:extLst>
      <p:ext uri="{BB962C8B-B14F-4D97-AF65-F5344CB8AC3E}">
        <p14:creationId xmlns:p14="http://schemas.microsoft.com/office/powerpoint/2010/main" val="2179416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ecLbl"/>
          <p:cNvSpPr/>
          <p:nvPr/>
        </p:nvSpPr>
        <p:spPr>
          <a:xfrm>
            <a:off x="279400" y="127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8A6C00"/>
                </a:solidFill>
              </a:rPr>
              <a:t>PRODUCTION OUTLOOK &amp; RESERVE BASE</a:t>
            </a:r>
          </a:p>
        </p:txBody>
      </p:sp>
      <p:sp>
        <p:nvSpPr>
          <p:cNvPr id="105" name="SNum"/>
          <p:cNvSpPr/>
          <p:nvPr/>
        </p:nvSpPr>
        <p:spPr>
          <a:xfrm>
            <a:off x="11582400" y="127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6</a:t>
            </a:r>
          </a:p>
        </p:txBody>
      </p:sp>
      <p:sp>
        <p:nvSpPr>
          <p:cNvPr id="106" name="Title"/>
          <p:cNvSpPr/>
          <p:nvPr/>
        </p:nvSpPr>
        <p:spPr>
          <a:xfrm>
            <a:off x="279400" y="381000"/>
            <a:ext cx="116332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600" dirty="0">
                <a:solidFill>
                  <a:srgbClr val="221F1F"/>
                </a:solidFill>
              </a:rPr>
              <a:t>Stable 3-Year Guidance 3.3–3.5M oz; Record 55.4 Moz P&amp;P Reserves; Pipeline Adds 1.3–1.5M oz by 2030s</a:t>
            </a:r>
          </a:p>
        </p:txBody>
      </p:sp>
      <p:sp>
        <p:nvSpPr>
          <p:cNvPr id="107" name="Div1"/>
          <p:cNvSpPr/>
          <p:nvPr/>
        </p:nvSpPr>
        <p:spPr>
          <a:xfrm>
            <a:off x="279400" y="889000"/>
            <a:ext cx="11633200" cy="254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08" name="PChHdr"/>
          <p:cNvSpPr/>
          <p:nvPr/>
        </p:nvSpPr>
        <p:spPr>
          <a:xfrm>
            <a:off x="279400" y="9906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PRODUCTION GUIDANCE (Koz) — FY2025A-FY2028E</a:t>
            </a:r>
          </a:p>
        </p:txBody>
      </p:sp>
      <p:sp>
        <p:nvSpPr>
          <p:cNvPr id="150" name="YL3000"/>
          <p:cNvSpPr/>
          <p:nvPr/>
        </p:nvSpPr>
        <p:spPr>
          <a:xfrm>
            <a:off x="279400" y="42291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3000</a:t>
            </a:r>
          </a:p>
        </p:txBody>
      </p:sp>
      <p:sp>
        <p:nvSpPr>
          <p:cNvPr id="155" name="Gr3000"/>
          <p:cNvSpPr/>
          <p:nvPr/>
        </p:nvSpPr>
        <p:spPr>
          <a:xfrm>
            <a:off x="889000" y="4330700"/>
            <a:ext cx="48260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" name="YL3200"/>
          <p:cNvSpPr/>
          <p:nvPr/>
        </p:nvSpPr>
        <p:spPr>
          <a:xfrm>
            <a:off x="279400" y="3479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3200</a:t>
            </a:r>
          </a:p>
        </p:txBody>
      </p:sp>
      <p:sp>
        <p:nvSpPr>
          <p:cNvPr id="3" name="Gr3200"/>
          <p:cNvSpPr/>
          <p:nvPr/>
        </p:nvSpPr>
        <p:spPr>
          <a:xfrm>
            <a:off x="889000" y="3581400"/>
            <a:ext cx="48260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4" name="YL3400"/>
          <p:cNvSpPr/>
          <p:nvPr/>
        </p:nvSpPr>
        <p:spPr>
          <a:xfrm>
            <a:off x="279400" y="27432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3400</a:t>
            </a:r>
          </a:p>
        </p:txBody>
      </p:sp>
      <p:sp>
        <p:nvSpPr>
          <p:cNvPr id="5" name="Gr3400"/>
          <p:cNvSpPr/>
          <p:nvPr/>
        </p:nvSpPr>
        <p:spPr>
          <a:xfrm>
            <a:off x="889000" y="2844800"/>
            <a:ext cx="48260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6" name="YL3600"/>
          <p:cNvSpPr/>
          <p:nvPr/>
        </p:nvSpPr>
        <p:spPr>
          <a:xfrm>
            <a:off x="279400" y="19939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3600</a:t>
            </a:r>
          </a:p>
        </p:txBody>
      </p:sp>
      <p:sp>
        <p:nvSpPr>
          <p:cNvPr id="7" name="Gr3600"/>
          <p:cNvSpPr/>
          <p:nvPr/>
        </p:nvSpPr>
        <p:spPr>
          <a:xfrm>
            <a:off x="889000" y="2095500"/>
            <a:ext cx="48260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60" name="B0"/>
          <p:cNvSpPr/>
          <p:nvPr/>
        </p:nvSpPr>
        <p:spPr>
          <a:xfrm>
            <a:off x="1143000" y="2667000"/>
            <a:ext cx="812800" cy="24130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65" name="BV0"/>
          <p:cNvSpPr/>
          <p:nvPr/>
        </p:nvSpPr>
        <p:spPr>
          <a:xfrm>
            <a:off x="1092200" y="2387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EFC400"/>
                </a:solidFill>
              </a:rPr>
              <a:t>3447</a:t>
            </a:r>
          </a:p>
        </p:txBody>
      </p:sp>
      <p:sp>
        <p:nvSpPr>
          <p:cNvPr id="170" name="BX0"/>
          <p:cNvSpPr/>
          <p:nvPr/>
        </p:nvSpPr>
        <p:spPr>
          <a:xfrm>
            <a:off x="1092200" y="5156200"/>
            <a:ext cx="91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dirty="0">
                <a:solidFill>
                  <a:srgbClr val="555555"/>
                </a:solidFill>
              </a:rPr>
              <a:t>FY2025A</a:t>
            </a:r>
          </a:p>
        </p:txBody>
      </p:sp>
      <p:sp>
        <p:nvSpPr>
          <p:cNvPr id="161" name="B1"/>
          <p:cNvSpPr/>
          <p:nvPr/>
        </p:nvSpPr>
        <p:spPr>
          <a:xfrm>
            <a:off x="2235200" y="2844800"/>
            <a:ext cx="812800" cy="22352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66" name="BV1"/>
          <p:cNvSpPr/>
          <p:nvPr/>
        </p:nvSpPr>
        <p:spPr>
          <a:xfrm>
            <a:off x="2184400" y="25654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151E24"/>
                </a:solidFill>
              </a:rPr>
              <a:t>3400</a:t>
            </a:r>
          </a:p>
        </p:txBody>
      </p:sp>
      <p:sp>
        <p:nvSpPr>
          <p:cNvPr id="171" name="BX1"/>
          <p:cNvSpPr/>
          <p:nvPr/>
        </p:nvSpPr>
        <p:spPr>
          <a:xfrm>
            <a:off x="2184400" y="5156200"/>
            <a:ext cx="91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dirty="0">
                <a:solidFill>
                  <a:srgbClr val="555555"/>
                </a:solidFill>
              </a:rPr>
              <a:t>FY2026E</a:t>
            </a:r>
          </a:p>
        </p:txBody>
      </p:sp>
      <p:sp>
        <p:nvSpPr>
          <p:cNvPr id="162" name="B2"/>
          <p:cNvSpPr/>
          <p:nvPr/>
        </p:nvSpPr>
        <p:spPr>
          <a:xfrm>
            <a:off x="3327400" y="2844800"/>
            <a:ext cx="812800" cy="22352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67" name="BV2"/>
          <p:cNvSpPr/>
          <p:nvPr/>
        </p:nvSpPr>
        <p:spPr>
          <a:xfrm>
            <a:off x="3276600" y="25654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151E24"/>
                </a:solidFill>
              </a:rPr>
              <a:t>3400</a:t>
            </a:r>
          </a:p>
        </p:txBody>
      </p:sp>
      <p:sp>
        <p:nvSpPr>
          <p:cNvPr id="172" name="BX2"/>
          <p:cNvSpPr/>
          <p:nvPr/>
        </p:nvSpPr>
        <p:spPr>
          <a:xfrm>
            <a:off x="3276600" y="5156200"/>
            <a:ext cx="91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dirty="0">
                <a:solidFill>
                  <a:srgbClr val="555555"/>
                </a:solidFill>
              </a:rPr>
              <a:t>FY2027E</a:t>
            </a:r>
          </a:p>
        </p:txBody>
      </p:sp>
      <p:sp>
        <p:nvSpPr>
          <p:cNvPr id="163" name="B3"/>
          <p:cNvSpPr/>
          <p:nvPr/>
        </p:nvSpPr>
        <p:spPr>
          <a:xfrm>
            <a:off x="4419600" y="2844800"/>
            <a:ext cx="812800" cy="22352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68" name="BV3"/>
          <p:cNvSpPr/>
          <p:nvPr/>
        </p:nvSpPr>
        <p:spPr>
          <a:xfrm>
            <a:off x="4368800" y="25654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EFC400"/>
                </a:solidFill>
              </a:rPr>
              <a:t>3400</a:t>
            </a:r>
          </a:p>
        </p:txBody>
      </p:sp>
      <p:sp>
        <p:nvSpPr>
          <p:cNvPr id="173" name="BX3"/>
          <p:cNvSpPr/>
          <p:nvPr/>
        </p:nvSpPr>
        <p:spPr>
          <a:xfrm>
            <a:off x="4368800" y="5156200"/>
            <a:ext cx="91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dirty="0">
                <a:solidFill>
                  <a:srgbClr val="555555"/>
                </a:solidFill>
              </a:rPr>
              <a:t>FY2028E</a:t>
            </a:r>
          </a:p>
        </p:txBody>
      </p:sp>
      <p:sp>
        <p:nvSpPr>
          <p:cNvPr id="180" name="RngLbl"/>
          <p:cNvSpPr/>
          <p:nvPr/>
        </p:nvSpPr>
        <p:spPr>
          <a:xfrm>
            <a:off x="787400" y="54483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/>
            <a:r>
              <a:rPr lang="en-US" sz="1000" dirty="0">
                <a:solidFill>
                  <a:srgbClr val="151E24"/>
                </a:solidFill>
              </a:rPr>
              <a:t>2026-2028E Guidance Range: 3,300–3,500 Koz gold per year</a:t>
            </a:r>
          </a:p>
        </p:txBody>
      </p:sp>
      <p:sp>
        <p:nvSpPr>
          <p:cNvPr id="200" name="VDiv"/>
          <p:cNvSpPr/>
          <p:nvPr/>
        </p:nvSpPr>
        <p:spPr>
          <a:xfrm>
            <a:off x="5943600" y="889000"/>
            <a:ext cx="25400" cy="58420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1" name="GHdr"/>
          <p:cNvSpPr/>
          <p:nvPr/>
        </p:nvSpPr>
        <p:spPr>
          <a:xfrm>
            <a:off x="6045200" y="990600"/>
            <a:ext cx="5867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THREE-YEAR GUIDANCE &amp; ORGANIC GROWTH PIPELINE</a:t>
            </a:r>
          </a:p>
        </p:txBody>
      </p:sp>
      <p:sp>
        <p:nvSpPr>
          <p:cNvPr id="210" name="GCBg2026"/>
          <p:cNvSpPr/>
          <p:nvPr/>
        </p:nvSpPr>
        <p:spPr>
          <a:xfrm>
            <a:off x="6045200" y="1244600"/>
            <a:ext cx="5588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3" name="GCBar2026"/>
          <p:cNvSpPr/>
          <p:nvPr/>
        </p:nvSpPr>
        <p:spPr>
          <a:xfrm>
            <a:off x="6045200" y="1244600"/>
            <a:ext cx="50800" cy="7620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6" name="GCYr2026"/>
          <p:cNvSpPr/>
          <p:nvPr/>
        </p:nvSpPr>
        <p:spPr>
          <a:xfrm>
            <a:off x="6121400" y="13208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400" b="1" dirty="0">
                <a:solidFill>
                  <a:srgbClr val="151E24"/>
                </a:solidFill>
              </a:rPr>
              <a:t>2026</a:t>
            </a:r>
          </a:p>
        </p:txBody>
      </p:sp>
      <p:sp>
        <p:nvSpPr>
          <p:cNvPr id="219" name="GCProd2026"/>
          <p:cNvSpPr/>
          <p:nvPr/>
        </p:nvSpPr>
        <p:spPr>
          <a:xfrm>
            <a:off x="6807200" y="1320800"/>
            <a:ext cx="4445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221F1F"/>
                </a:solidFill>
              </a:rPr>
              <a:t>Production: 3,300 – 3,500 Koz  |  AISC: $1,400–$1,550/oz  |  Capex: $2.2–$2.4B</a:t>
            </a:r>
          </a:p>
        </p:txBody>
      </p:sp>
      <p:sp>
        <p:nvSpPr>
          <p:cNvPr id="222" name="GCNote2026"/>
          <p:cNvSpPr/>
          <p:nvPr/>
        </p:nvSpPr>
        <p:spPr>
          <a:xfrm>
            <a:off x="6807200" y="1701800"/>
            <a:ext cx="4445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Reflects Detour Lake higher grade sequencing, East Gouldie ramp-up</a:t>
            </a:r>
          </a:p>
        </p:txBody>
      </p:sp>
      <p:sp>
        <p:nvSpPr>
          <p:cNvPr id="211" name="GCBg2027"/>
          <p:cNvSpPr/>
          <p:nvPr/>
        </p:nvSpPr>
        <p:spPr>
          <a:xfrm>
            <a:off x="6045200" y="2125403"/>
            <a:ext cx="5588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4" name="GCBar2027"/>
          <p:cNvSpPr/>
          <p:nvPr/>
        </p:nvSpPr>
        <p:spPr>
          <a:xfrm>
            <a:off x="6045200" y="2108200"/>
            <a:ext cx="50800" cy="7620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7" name="GCYr2027"/>
          <p:cNvSpPr/>
          <p:nvPr/>
        </p:nvSpPr>
        <p:spPr>
          <a:xfrm>
            <a:off x="6121400" y="21844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400" b="1" dirty="0">
                <a:solidFill>
                  <a:srgbClr val="151E24"/>
                </a:solidFill>
              </a:rPr>
              <a:t>2027</a:t>
            </a:r>
          </a:p>
        </p:txBody>
      </p:sp>
      <p:sp>
        <p:nvSpPr>
          <p:cNvPr id="220" name="GCProd2027"/>
          <p:cNvSpPr/>
          <p:nvPr/>
        </p:nvSpPr>
        <p:spPr>
          <a:xfrm>
            <a:off x="6807200" y="2184400"/>
            <a:ext cx="4445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221F1F"/>
                </a:solidFill>
              </a:rPr>
              <a:t>Production: ~3,300 – 3,500 Koz  |  AISC: ~$1,400–$1,550/oz  |  Capex: ~$2.2–$2.4B</a:t>
            </a:r>
          </a:p>
        </p:txBody>
      </p:sp>
      <p:sp>
        <p:nvSpPr>
          <p:cNvPr id="223" name="GCNote2027"/>
          <p:cNvSpPr/>
          <p:nvPr/>
        </p:nvSpPr>
        <p:spPr>
          <a:xfrm>
            <a:off x="6794500" y="2578100"/>
            <a:ext cx="466598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Detour higher grade + East Gouldie shaft (Q2 2027) + Meadowbank extension</a:t>
            </a:r>
          </a:p>
        </p:txBody>
      </p:sp>
      <p:sp>
        <p:nvSpPr>
          <p:cNvPr id="212" name="GCBg2028"/>
          <p:cNvSpPr/>
          <p:nvPr/>
        </p:nvSpPr>
        <p:spPr>
          <a:xfrm>
            <a:off x="6045200" y="2971800"/>
            <a:ext cx="5588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5" name="GCBar2028"/>
          <p:cNvSpPr/>
          <p:nvPr/>
        </p:nvSpPr>
        <p:spPr>
          <a:xfrm>
            <a:off x="6045200" y="2971800"/>
            <a:ext cx="50800" cy="7620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8" name="GCYr2028"/>
          <p:cNvSpPr/>
          <p:nvPr/>
        </p:nvSpPr>
        <p:spPr>
          <a:xfrm>
            <a:off x="6121400" y="30480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400" b="1" dirty="0">
                <a:solidFill>
                  <a:srgbClr val="EFC400"/>
                </a:solidFill>
              </a:rPr>
              <a:t>2028</a:t>
            </a:r>
          </a:p>
        </p:txBody>
      </p:sp>
      <p:sp>
        <p:nvSpPr>
          <p:cNvPr id="221" name="GCProd2028"/>
          <p:cNvSpPr/>
          <p:nvPr/>
        </p:nvSpPr>
        <p:spPr>
          <a:xfrm>
            <a:off x="6807200" y="3048000"/>
            <a:ext cx="4445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221F1F"/>
                </a:solidFill>
              </a:rPr>
              <a:t>Production: ~3,300 – 3,500 Koz  |  AISC: ~$1,400–$1,500/oz  |  Capex: ~$2.0–$2.3B</a:t>
            </a:r>
          </a:p>
        </p:txBody>
      </p:sp>
      <p:sp>
        <p:nvSpPr>
          <p:cNvPr id="224" name="GCNote2028"/>
          <p:cNvSpPr/>
          <p:nvPr/>
        </p:nvSpPr>
        <p:spPr>
          <a:xfrm>
            <a:off x="6794500" y="3435235"/>
            <a:ext cx="466598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Meadowbank extended to 2030; East Gouldie + Kittila offset Detour grade cycle</a:t>
            </a:r>
          </a:p>
        </p:txBody>
      </p:sp>
      <p:sp>
        <p:nvSpPr>
          <p:cNvPr id="230" name="OGSep"/>
          <p:cNvSpPr/>
          <p:nvPr/>
        </p:nvSpPr>
        <p:spPr>
          <a:xfrm>
            <a:off x="6045200" y="3886200"/>
            <a:ext cx="5588000" cy="254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31" name="OGHdr"/>
          <p:cNvSpPr/>
          <p:nvPr/>
        </p:nvSpPr>
        <p:spPr>
          <a:xfrm>
            <a:off x="6045200" y="39624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ORGANIC GROWTH PIPELINE — 2030+ RAMP EVENTS</a:t>
            </a:r>
          </a:p>
        </p:txBody>
      </p:sp>
      <p:sp>
        <p:nvSpPr>
          <p:cNvPr id="240" name="PGBullet0"/>
          <p:cNvSpPr/>
          <p:nvPr/>
        </p:nvSpPr>
        <p:spPr>
          <a:xfrm>
            <a:off x="6045200" y="4216400"/>
            <a:ext cx="76200" cy="762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44" name="PGName0"/>
          <p:cNvSpPr/>
          <p:nvPr/>
        </p:nvSpPr>
        <p:spPr>
          <a:xfrm>
            <a:off x="6172200" y="41910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Canadian Malartic (Odyssey UG)</a:t>
            </a:r>
          </a:p>
        </p:txBody>
      </p:sp>
      <p:sp>
        <p:nvSpPr>
          <p:cNvPr id="248" name="PGTgt0"/>
          <p:cNvSpPr/>
          <p:nvPr/>
        </p:nvSpPr>
        <p:spPr>
          <a:xfrm>
            <a:off x="6172200" y="44069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4A4A4A"/>
                </a:solidFill>
              </a:rPr>
              <a:t>2033 ramp ~1M oz; East Gouldie Q1 2026 ramp, shaft Q2 2027; 6.0 Moz reserves at Odyssey</a:t>
            </a:r>
          </a:p>
        </p:txBody>
      </p:sp>
      <p:sp>
        <p:nvSpPr>
          <p:cNvPr id="241" name="PGBullet1"/>
          <p:cNvSpPr/>
          <p:nvPr/>
        </p:nvSpPr>
        <p:spPr>
          <a:xfrm>
            <a:off x="6045200" y="4673600"/>
            <a:ext cx="76200" cy="762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45" name="PGName1"/>
          <p:cNvSpPr/>
          <p:nvPr/>
        </p:nvSpPr>
        <p:spPr>
          <a:xfrm>
            <a:off x="6172200" y="46482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Detour Lake Underground</a:t>
            </a:r>
          </a:p>
        </p:txBody>
      </p:sp>
      <p:sp>
        <p:nvSpPr>
          <p:cNvPr id="249" name="PGTgt1"/>
          <p:cNvSpPr/>
          <p:nvPr/>
        </p:nvSpPr>
        <p:spPr>
          <a:xfrm>
            <a:off x="6172200" y="48641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4A4A4A"/>
                </a:solidFill>
              </a:rPr>
              <a:t>300–350 Koz incremental from 2030; exploration ramp advancing; total P&amp;P 18.6 Moz (27yr life)</a:t>
            </a:r>
          </a:p>
        </p:txBody>
      </p:sp>
      <p:sp>
        <p:nvSpPr>
          <p:cNvPr id="242" name="PGBullet2"/>
          <p:cNvSpPr/>
          <p:nvPr/>
        </p:nvSpPr>
        <p:spPr>
          <a:xfrm>
            <a:off x="6045200" y="5130800"/>
            <a:ext cx="76200" cy="762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46" name="PGName2"/>
          <p:cNvSpPr/>
          <p:nvPr/>
        </p:nvSpPr>
        <p:spPr>
          <a:xfrm>
            <a:off x="6172200" y="51054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Hope Bay (Construction Dec. Q2 2026)</a:t>
            </a:r>
          </a:p>
        </p:txBody>
      </p:sp>
      <p:sp>
        <p:nvSpPr>
          <p:cNvPr id="250" name="PGTgt2"/>
          <p:cNvSpPr/>
          <p:nvPr/>
        </p:nvSpPr>
        <p:spPr>
          <a:xfrm>
            <a:off x="6172200" y="53213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4A4A4A"/>
                </a:solidFill>
              </a:rPr>
              <a:t>400–425 Koz incremental from ~2030; 3.4 Moz P&amp;P; surface infra complete; $15-25/share optionality</a:t>
            </a:r>
          </a:p>
        </p:txBody>
      </p:sp>
      <p:sp>
        <p:nvSpPr>
          <p:cNvPr id="243" name="PGBullet3"/>
          <p:cNvSpPr/>
          <p:nvPr/>
        </p:nvSpPr>
        <p:spPr>
          <a:xfrm>
            <a:off x="6057900" y="5702300"/>
            <a:ext cx="76200" cy="762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47" name="PGName3"/>
          <p:cNvSpPr/>
          <p:nvPr/>
        </p:nvSpPr>
        <p:spPr>
          <a:xfrm>
            <a:off x="6166658" y="56769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Upper Beaver (Ontario)</a:t>
            </a:r>
          </a:p>
        </p:txBody>
      </p:sp>
      <p:sp>
        <p:nvSpPr>
          <p:cNvPr id="251" name="PGTgt3"/>
          <p:cNvSpPr/>
          <p:nvPr/>
        </p:nvSpPr>
        <p:spPr>
          <a:xfrm>
            <a:off x="6172200" y="5905500"/>
            <a:ext cx="5588000" cy="469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4A4A4A"/>
                </a:solidFill>
              </a:rPr>
              <a:t>200–225 Koz gold + 3,600t copper from 2030; 2.8 Moz at 3.71 g/t; development ahead of schedule</a:t>
            </a:r>
          </a:p>
        </p:txBody>
      </p:sp>
    </p:spTree>
    <p:extLst>
      <p:ext uri="{BB962C8B-B14F-4D97-AF65-F5344CB8AC3E}">
        <p14:creationId xmlns:p14="http://schemas.microsoft.com/office/powerpoint/2010/main" val="1647950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ecLabel"/>
          <p:cNvSpPr/>
          <p:nvPr/>
        </p:nvSpPr>
        <p:spPr>
          <a:xfrm>
            <a:off x="279400" y="127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8A6C00"/>
                </a:solidFill>
              </a:rPr>
              <a:t>FINANCIAL SUMMARY — INCOME STATEMENT</a:t>
            </a:r>
          </a:p>
        </p:txBody>
      </p:sp>
      <p:sp>
        <p:nvSpPr>
          <p:cNvPr id="105" name="SlideNum"/>
          <p:cNvSpPr/>
          <p:nvPr/>
        </p:nvSpPr>
        <p:spPr>
          <a:xfrm>
            <a:off x="11582400" y="127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7</a:t>
            </a:r>
          </a:p>
        </p:txBody>
      </p:sp>
      <p:sp>
        <p:nvSpPr>
          <p:cNvPr id="106" name="Title"/>
          <p:cNvSpPr/>
          <p:nvPr/>
        </p:nvSpPr>
        <p:spPr>
          <a:xfrm>
            <a:off x="279400" y="381000"/>
            <a:ext cx="116332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600" dirty="0">
                <a:solidFill>
                  <a:srgbClr val="221F1F"/>
                </a:solidFill>
              </a:rPr>
              <a:t>P&amp;L Summary FY2024A–FY2029E: Record Revenue Growth &amp; Structural Margin Expansion (Bull Case: $6,000/oz)</a:t>
            </a:r>
          </a:p>
        </p:txBody>
      </p:sp>
      <p:sp>
        <p:nvSpPr>
          <p:cNvPr id="107" name="Divider"/>
          <p:cNvSpPr/>
          <p:nvPr/>
        </p:nvSpPr>
        <p:spPr>
          <a:xfrm>
            <a:off x="279400" y="889000"/>
            <a:ext cx="11633200" cy="254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0" name="Hdr0"/>
          <p:cNvSpPr/>
          <p:nvPr/>
        </p:nvSpPr>
        <p:spPr>
          <a:xfrm>
            <a:off x="279400" y="1016000"/>
            <a:ext cx="3048000" cy="355600"/>
          </a:xfrm>
          <a:prstGeom prst="rect">
            <a:avLst/>
          </a:prstGeom>
          <a:solidFill>
            <a:srgbClr val="E0E2E4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1" name="Hdr1"/>
          <p:cNvSpPr/>
          <p:nvPr/>
        </p:nvSpPr>
        <p:spPr>
          <a:xfrm>
            <a:off x="3403600" y="1016000"/>
            <a:ext cx="1371600" cy="355600"/>
          </a:xfrm>
          <a:prstGeom prst="rect">
            <a:avLst/>
          </a:prstGeom>
          <a:solidFill>
            <a:srgbClr val="E0E2E4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FFFFFF"/>
                </a:solidFill>
              </a:rPr>
              <a:t>FY2024A</a:t>
            </a:r>
          </a:p>
        </p:txBody>
      </p:sp>
      <p:sp>
        <p:nvSpPr>
          <p:cNvPr id="202" name="Hdr2"/>
          <p:cNvSpPr/>
          <p:nvPr/>
        </p:nvSpPr>
        <p:spPr>
          <a:xfrm>
            <a:off x="4851400" y="1016000"/>
            <a:ext cx="1371600" cy="355600"/>
          </a:xfrm>
          <a:prstGeom prst="rect">
            <a:avLst/>
          </a:prstGeom>
          <a:solidFill>
            <a:srgbClr val="E0E2E4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FFFFFF"/>
                </a:solidFill>
              </a:rPr>
              <a:t>FY2025A</a:t>
            </a:r>
          </a:p>
        </p:txBody>
      </p:sp>
      <p:sp>
        <p:nvSpPr>
          <p:cNvPr id="203" name="Hdr3"/>
          <p:cNvSpPr/>
          <p:nvPr/>
        </p:nvSpPr>
        <p:spPr>
          <a:xfrm>
            <a:off x="6299200" y="1016000"/>
            <a:ext cx="1371600" cy="355600"/>
          </a:xfrm>
          <a:prstGeom prst="rect">
            <a:avLst/>
          </a:prstGeom>
          <a:solidFill>
            <a:srgbClr val="E0E2E4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FFFFFF"/>
                </a:solidFill>
              </a:rPr>
              <a:t>FY2026E</a:t>
            </a:r>
          </a:p>
        </p:txBody>
      </p:sp>
      <p:sp>
        <p:nvSpPr>
          <p:cNvPr id="204" name="Hdr4"/>
          <p:cNvSpPr/>
          <p:nvPr/>
        </p:nvSpPr>
        <p:spPr>
          <a:xfrm>
            <a:off x="7747000" y="1016000"/>
            <a:ext cx="1371600" cy="355600"/>
          </a:xfrm>
          <a:prstGeom prst="rect">
            <a:avLst/>
          </a:prstGeom>
          <a:solidFill>
            <a:srgbClr val="E0E2E4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FFFFFF"/>
                </a:solidFill>
              </a:rPr>
              <a:t>FY2027E</a:t>
            </a:r>
          </a:p>
        </p:txBody>
      </p:sp>
      <p:sp>
        <p:nvSpPr>
          <p:cNvPr id="205" name="Hdr5"/>
          <p:cNvSpPr/>
          <p:nvPr/>
        </p:nvSpPr>
        <p:spPr>
          <a:xfrm>
            <a:off x="9194800" y="1016000"/>
            <a:ext cx="1371600" cy="355600"/>
          </a:xfrm>
          <a:prstGeom prst="rect">
            <a:avLst/>
          </a:prstGeom>
          <a:solidFill>
            <a:srgbClr val="E0E2E4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FFFFFF"/>
                </a:solidFill>
              </a:rPr>
              <a:t>FY2028E</a:t>
            </a:r>
          </a:p>
        </p:txBody>
      </p:sp>
      <p:sp>
        <p:nvSpPr>
          <p:cNvPr id="206" name="Hdr6"/>
          <p:cNvSpPr/>
          <p:nvPr/>
        </p:nvSpPr>
        <p:spPr>
          <a:xfrm>
            <a:off x="10642600" y="1016000"/>
            <a:ext cx="1371600" cy="355600"/>
          </a:xfrm>
          <a:prstGeom prst="rect">
            <a:avLst/>
          </a:prstGeom>
          <a:solidFill>
            <a:srgbClr val="E0E2E4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FFFFFF"/>
                </a:solidFill>
              </a:rPr>
              <a:t>FY2029E</a:t>
            </a:r>
          </a:p>
        </p:txBody>
      </p:sp>
      <p:sp>
        <p:nvSpPr>
          <p:cNvPr id="207" name="HdrDiv"/>
          <p:cNvSpPr/>
          <p:nvPr/>
        </p:nvSpPr>
        <p:spPr>
          <a:xfrm>
            <a:off x="279400" y="1371600"/>
            <a:ext cx="11633200" cy="254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300" name="RL0"/>
          <p:cNvSpPr/>
          <p:nvPr/>
        </p:nvSpPr>
        <p:spPr>
          <a:xfrm>
            <a:off x="279400" y="1422400"/>
            <a:ext cx="30480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b="1" dirty="0">
                <a:solidFill>
                  <a:srgbClr val="3D3D3D"/>
                </a:solidFill>
              </a:rPr>
              <a:t>Revenue ($M)</a:t>
            </a:r>
          </a:p>
        </p:txBody>
      </p:sp>
      <p:sp>
        <p:nvSpPr>
          <p:cNvPr id="301" name="RV0_0"/>
          <p:cNvSpPr/>
          <p:nvPr/>
        </p:nvSpPr>
        <p:spPr>
          <a:xfrm>
            <a:off x="3403600" y="14224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221F1F"/>
                </a:solidFill>
              </a:rPr>
              <a:t>$8,374</a:t>
            </a:r>
          </a:p>
        </p:txBody>
      </p:sp>
      <p:sp>
        <p:nvSpPr>
          <p:cNvPr id="302" name="RV0_1"/>
          <p:cNvSpPr/>
          <p:nvPr/>
        </p:nvSpPr>
        <p:spPr>
          <a:xfrm>
            <a:off x="4851400" y="14224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221F1F"/>
                </a:solidFill>
              </a:rPr>
              <a:t>$11,908</a:t>
            </a:r>
          </a:p>
        </p:txBody>
      </p:sp>
      <p:sp>
        <p:nvSpPr>
          <p:cNvPr id="303" name="RV0_2"/>
          <p:cNvSpPr/>
          <p:nvPr/>
        </p:nvSpPr>
        <p:spPr>
          <a:xfrm>
            <a:off x="6299200" y="14224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EFC400"/>
                </a:solidFill>
              </a:rPr>
              <a:t>$20,400</a:t>
            </a:r>
          </a:p>
        </p:txBody>
      </p:sp>
      <p:sp>
        <p:nvSpPr>
          <p:cNvPr id="304" name="RV0_3"/>
          <p:cNvSpPr/>
          <p:nvPr/>
        </p:nvSpPr>
        <p:spPr>
          <a:xfrm>
            <a:off x="7747000" y="14224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>
                <a:solidFill>
                  <a:srgbClr val="221F1F"/>
                </a:solidFill>
              </a:rPr>
              <a:t>$19,614</a:t>
            </a:r>
            <a:endParaRPr lang="en-US" sz="1200" dirty="0">
              <a:solidFill>
                <a:srgbClr val="221F1F"/>
              </a:solidFill>
            </a:endParaRPr>
          </a:p>
        </p:txBody>
      </p:sp>
      <p:sp>
        <p:nvSpPr>
          <p:cNvPr id="305" name="RV0_4"/>
          <p:cNvSpPr/>
          <p:nvPr/>
        </p:nvSpPr>
        <p:spPr>
          <a:xfrm>
            <a:off x="9194800" y="14224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>
                <a:solidFill>
                  <a:srgbClr val="221F1F"/>
                </a:solidFill>
              </a:rPr>
              <a:t>$20,374</a:t>
            </a:r>
            <a:endParaRPr lang="en-US" sz="1200" dirty="0">
              <a:solidFill>
                <a:srgbClr val="221F1F"/>
              </a:solidFill>
            </a:endParaRPr>
          </a:p>
        </p:txBody>
      </p:sp>
      <p:sp>
        <p:nvSpPr>
          <p:cNvPr id="306" name="RV0_5"/>
          <p:cNvSpPr/>
          <p:nvPr/>
        </p:nvSpPr>
        <p:spPr>
          <a:xfrm>
            <a:off x="10642600" y="14224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221F1F"/>
                </a:solidFill>
              </a:rPr>
              <a:t>$20,374</a:t>
            </a:r>
          </a:p>
        </p:txBody>
      </p:sp>
      <p:sp>
        <p:nvSpPr>
          <p:cNvPr id="310" name="RL1"/>
          <p:cNvSpPr/>
          <p:nvPr/>
        </p:nvSpPr>
        <p:spPr>
          <a:xfrm>
            <a:off x="279400" y="1892300"/>
            <a:ext cx="3048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</a:rPr>
              <a:t>YoY Growth</a:t>
            </a:r>
          </a:p>
        </p:txBody>
      </p:sp>
      <p:sp>
        <p:nvSpPr>
          <p:cNvPr id="311" name="RV1_0"/>
          <p:cNvSpPr/>
          <p:nvPr/>
        </p:nvSpPr>
        <p:spPr>
          <a:xfrm>
            <a:off x="3403600" y="18923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555555"/>
                </a:solidFill>
              </a:rPr>
              <a:t>—</a:t>
            </a:r>
          </a:p>
        </p:txBody>
      </p:sp>
      <p:sp>
        <p:nvSpPr>
          <p:cNvPr id="312" name="RV1_1"/>
          <p:cNvSpPr/>
          <p:nvPr/>
        </p:nvSpPr>
        <p:spPr>
          <a:xfrm>
            <a:off x="4851400" y="18923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555555"/>
                </a:solidFill>
              </a:rPr>
              <a:t>+42.2%</a:t>
            </a:r>
          </a:p>
        </p:txBody>
      </p:sp>
      <p:sp>
        <p:nvSpPr>
          <p:cNvPr id="313" name="RV1_2"/>
          <p:cNvSpPr/>
          <p:nvPr/>
        </p:nvSpPr>
        <p:spPr>
          <a:xfrm>
            <a:off x="6299200" y="18923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+71.3%</a:t>
            </a:r>
          </a:p>
        </p:txBody>
      </p:sp>
      <p:sp>
        <p:nvSpPr>
          <p:cNvPr id="314" name="RV1_3"/>
          <p:cNvSpPr/>
          <p:nvPr/>
        </p:nvSpPr>
        <p:spPr>
          <a:xfrm>
            <a:off x="7747000" y="18923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>
                <a:solidFill>
                  <a:srgbClr val="555555"/>
                </a:solidFill>
              </a:rPr>
              <a:t>-3.9%</a:t>
            </a:r>
            <a:endParaRPr lang="en-US" sz="1100" dirty="0">
              <a:solidFill>
                <a:srgbClr val="555555"/>
              </a:solidFill>
            </a:endParaRPr>
          </a:p>
        </p:txBody>
      </p:sp>
      <p:sp>
        <p:nvSpPr>
          <p:cNvPr id="315" name="RV1_4"/>
          <p:cNvSpPr/>
          <p:nvPr/>
        </p:nvSpPr>
        <p:spPr>
          <a:xfrm>
            <a:off x="9194800" y="18923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>
                <a:solidFill>
                  <a:srgbClr val="555555"/>
                </a:solidFill>
              </a:rPr>
              <a:t>+3.9%</a:t>
            </a:r>
            <a:endParaRPr lang="en-US" sz="1100" dirty="0">
              <a:solidFill>
                <a:srgbClr val="555555"/>
              </a:solidFill>
            </a:endParaRPr>
          </a:p>
        </p:txBody>
      </p:sp>
      <p:sp>
        <p:nvSpPr>
          <p:cNvPr id="316" name="RV1_5"/>
          <p:cNvSpPr/>
          <p:nvPr/>
        </p:nvSpPr>
        <p:spPr>
          <a:xfrm>
            <a:off x="10642600" y="18923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555555"/>
                </a:solidFill>
              </a:rPr>
              <a:t>+3.9%</a:t>
            </a:r>
          </a:p>
        </p:txBody>
      </p:sp>
      <p:sp>
        <p:nvSpPr>
          <p:cNvPr id="320" name="RL2"/>
          <p:cNvSpPr/>
          <p:nvPr/>
        </p:nvSpPr>
        <p:spPr>
          <a:xfrm>
            <a:off x="279400" y="2362200"/>
            <a:ext cx="30480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b="1" dirty="0">
                <a:solidFill>
                  <a:srgbClr val="3D3D3D"/>
                </a:solidFill>
              </a:rPr>
              <a:t>EBITDA ($M)</a:t>
            </a:r>
          </a:p>
        </p:txBody>
      </p:sp>
      <p:sp>
        <p:nvSpPr>
          <p:cNvPr id="321" name="RV2_0"/>
          <p:cNvSpPr/>
          <p:nvPr/>
        </p:nvSpPr>
        <p:spPr>
          <a:xfrm>
            <a:off x="3403600" y="23622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221F1F"/>
                </a:solidFill>
              </a:rPr>
              <a:t>$6,230</a:t>
            </a:r>
          </a:p>
        </p:txBody>
      </p:sp>
      <p:sp>
        <p:nvSpPr>
          <p:cNvPr id="322" name="RV2_1"/>
          <p:cNvSpPr/>
          <p:nvPr/>
        </p:nvSpPr>
        <p:spPr>
          <a:xfrm>
            <a:off x="4851400" y="23622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221F1F"/>
                </a:solidFill>
              </a:rPr>
              <a:t>$8,349</a:t>
            </a:r>
          </a:p>
        </p:txBody>
      </p:sp>
      <p:sp>
        <p:nvSpPr>
          <p:cNvPr id="323" name="RV2_2"/>
          <p:cNvSpPr/>
          <p:nvPr/>
        </p:nvSpPr>
        <p:spPr>
          <a:xfrm>
            <a:off x="6299200" y="23622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EFC400"/>
                </a:solidFill>
              </a:rPr>
              <a:t>$16,169</a:t>
            </a:r>
          </a:p>
        </p:txBody>
      </p:sp>
      <p:sp>
        <p:nvSpPr>
          <p:cNvPr id="324" name="RV2_3"/>
          <p:cNvSpPr/>
          <p:nvPr/>
        </p:nvSpPr>
        <p:spPr>
          <a:xfrm>
            <a:off x="7747000" y="23622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>
                <a:solidFill>
                  <a:srgbClr val="221F1F"/>
                </a:solidFill>
              </a:rPr>
              <a:t>$15,386</a:t>
            </a:r>
            <a:endParaRPr lang="en-US" sz="1200" dirty="0">
              <a:solidFill>
                <a:srgbClr val="221F1F"/>
              </a:solidFill>
            </a:endParaRPr>
          </a:p>
        </p:txBody>
      </p:sp>
      <p:sp>
        <p:nvSpPr>
          <p:cNvPr id="325" name="RV2_4"/>
          <p:cNvSpPr/>
          <p:nvPr/>
        </p:nvSpPr>
        <p:spPr>
          <a:xfrm>
            <a:off x="9194800" y="23622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>
                <a:solidFill>
                  <a:srgbClr val="221F1F"/>
                </a:solidFill>
              </a:rPr>
              <a:t>$18,040</a:t>
            </a:r>
            <a:endParaRPr lang="en-US" sz="1200" dirty="0">
              <a:solidFill>
                <a:srgbClr val="221F1F"/>
              </a:solidFill>
            </a:endParaRPr>
          </a:p>
        </p:txBody>
      </p:sp>
      <p:sp>
        <p:nvSpPr>
          <p:cNvPr id="326" name="RV2_5"/>
          <p:cNvSpPr/>
          <p:nvPr/>
        </p:nvSpPr>
        <p:spPr>
          <a:xfrm>
            <a:off x="10642600" y="23622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221F1F"/>
                </a:solidFill>
              </a:rPr>
              <a:t>$18,853</a:t>
            </a:r>
          </a:p>
        </p:txBody>
      </p:sp>
      <p:sp>
        <p:nvSpPr>
          <p:cNvPr id="330" name="RL3"/>
          <p:cNvSpPr/>
          <p:nvPr/>
        </p:nvSpPr>
        <p:spPr>
          <a:xfrm>
            <a:off x="279400" y="2832100"/>
            <a:ext cx="3048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</a:rPr>
              <a:t>EBITDA Margin</a:t>
            </a:r>
          </a:p>
        </p:txBody>
      </p:sp>
      <p:sp>
        <p:nvSpPr>
          <p:cNvPr id="331" name="RV3_0"/>
          <p:cNvSpPr/>
          <p:nvPr/>
        </p:nvSpPr>
        <p:spPr>
          <a:xfrm>
            <a:off x="3403600" y="28321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62666A"/>
                </a:solidFill>
              </a:rPr>
              <a:t>74.4%</a:t>
            </a:r>
          </a:p>
        </p:txBody>
      </p:sp>
      <p:sp>
        <p:nvSpPr>
          <p:cNvPr id="332" name="RV3_1"/>
          <p:cNvSpPr/>
          <p:nvPr/>
        </p:nvSpPr>
        <p:spPr>
          <a:xfrm>
            <a:off x="4851400" y="28321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62666A"/>
                </a:solidFill>
              </a:rPr>
              <a:t>70.1%</a:t>
            </a:r>
          </a:p>
        </p:txBody>
      </p:sp>
      <p:sp>
        <p:nvSpPr>
          <p:cNvPr id="333" name="RV3_2"/>
          <p:cNvSpPr/>
          <p:nvPr/>
        </p:nvSpPr>
        <p:spPr>
          <a:xfrm>
            <a:off x="6299200" y="28321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79.3%</a:t>
            </a:r>
          </a:p>
        </p:txBody>
      </p:sp>
      <p:sp>
        <p:nvSpPr>
          <p:cNvPr id="334" name="RV3_3"/>
          <p:cNvSpPr/>
          <p:nvPr/>
        </p:nvSpPr>
        <p:spPr>
          <a:xfrm>
            <a:off x="7747000" y="28321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>
                <a:solidFill>
                  <a:srgbClr val="62666A"/>
                </a:solidFill>
              </a:rPr>
              <a:t>78.4%</a:t>
            </a:r>
            <a:endParaRPr lang="en-US" sz="1100" dirty="0">
              <a:solidFill>
                <a:srgbClr val="62666A"/>
              </a:solidFill>
            </a:endParaRPr>
          </a:p>
        </p:txBody>
      </p:sp>
      <p:sp>
        <p:nvSpPr>
          <p:cNvPr id="335" name="RV3_4"/>
          <p:cNvSpPr/>
          <p:nvPr/>
        </p:nvSpPr>
        <p:spPr>
          <a:xfrm>
            <a:off x="9194800" y="28321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>
                <a:solidFill>
                  <a:srgbClr val="62666A"/>
                </a:solidFill>
              </a:rPr>
              <a:t>88.6%</a:t>
            </a:r>
            <a:endParaRPr lang="en-US" sz="1100" dirty="0">
              <a:solidFill>
                <a:srgbClr val="62666A"/>
              </a:solidFill>
            </a:endParaRPr>
          </a:p>
        </p:txBody>
      </p:sp>
      <p:sp>
        <p:nvSpPr>
          <p:cNvPr id="336" name="RV3_5"/>
          <p:cNvSpPr/>
          <p:nvPr/>
        </p:nvSpPr>
        <p:spPr>
          <a:xfrm>
            <a:off x="10642600" y="28321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62666A"/>
                </a:solidFill>
              </a:rPr>
              <a:t>92.5%</a:t>
            </a:r>
          </a:p>
        </p:txBody>
      </p:sp>
      <p:sp>
        <p:nvSpPr>
          <p:cNvPr id="340" name="RL4"/>
          <p:cNvSpPr/>
          <p:nvPr/>
        </p:nvSpPr>
        <p:spPr>
          <a:xfrm>
            <a:off x="279400" y="3302000"/>
            <a:ext cx="30480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b="1" dirty="0">
                <a:solidFill>
                  <a:srgbClr val="3D3D3D"/>
                </a:solidFill>
              </a:rPr>
              <a:t>Net Income ($M)</a:t>
            </a:r>
          </a:p>
        </p:txBody>
      </p:sp>
      <p:sp>
        <p:nvSpPr>
          <p:cNvPr id="341" name="RV4_0"/>
          <p:cNvSpPr/>
          <p:nvPr/>
        </p:nvSpPr>
        <p:spPr>
          <a:xfrm>
            <a:off x="3403600" y="33020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221F1F"/>
                </a:solidFill>
              </a:rPr>
              <a:t>$2,222</a:t>
            </a:r>
          </a:p>
        </p:txBody>
      </p:sp>
      <p:sp>
        <p:nvSpPr>
          <p:cNvPr id="342" name="RV4_1"/>
          <p:cNvSpPr/>
          <p:nvPr/>
        </p:nvSpPr>
        <p:spPr>
          <a:xfrm>
            <a:off x="4851400" y="33020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221F1F"/>
                </a:solidFill>
              </a:rPr>
              <a:t>$3,827</a:t>
            </a:r>
          </a:p>
        </p:txBody>
      </p:sp>
      <p:sp>
        <p:nvSpPr>
          <p:cNvPr id="343" name="RV4_2"/>
          <p:cNvSpPr/>
          <p:nvPr/>
        </p:nvSpPr>
        <p:spPr>
          <a:xfrm>
            <a:off x="6299200" y="33020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EFC400"/>
                </a:solidFill>
              </a:rPr>
              <a:t>$9,438</a:t>
            </a:r>
          </a:p>
        </p:txBody>
      </p:sp>
      <p:sp>
        <p:nvSpPr>
          <p:cNvPr id="344" name="RV4_3"/>
          <p:cNvSpPr/>
          <p:nvPr/>
        </p:nvSpPr>
        <p:spPr>
          <a:xfrm>
            <a:off x="7747000" y="33020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>
                <a:solidFill>
                  <a:srgbClr val="221F1F"/>
                </a:solidFill>
              </a:rPr>
              <a:t>$9,003</a:t>
            </a:r>
            <a:endParaRPr lang="en-US" sz="1200" dirty="0">
              <a:solidFill>
                <a:srgbClr val="221F1F"/>
              </a:solidFill>
            </a:endParaRPr>
          </a:p>
        </p:txBody>
      </p:sp>
      <p:sp>
        <p:nvSpPr>
          <p:cNvPr id="345" name="RV4_4"/>
          <p:cNvSpPr/>
          <p:nvPr/>
        </p:nvSpPr>
        <p:spPr>
          <a:xfrm>
            <a:off x="9194800" y="33020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>
                <a:solidFill>
                  <a:srgbClr val="221F1F"/>
                </a:solidFill>
              </a:rPr>
              <a:t>$10,579</a:t>
            </a:r>
            <a:endParaRPr lang="en-US" sz="1200" dirty="0">
              <a:solidFill>
                <a:srgbClr val="221F1F"/>
              </a:solidFill>
            </a:endParaRPr>
          </a:p>
        </p:txBody>
      </p:sp>
      <p:sp>
        <p:nvSpPr>
          <p:cNvPr id="346" name="RV4_5"/>
          <p:cNvSpPr/>
          <p:nvPr/>
        </p:nvSpPr>
        <p:spPr>
          <a:xfrm>
            <a:off x="10642600" y="33020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221F1F"/>
                </a:solidFill>
              </a:rPr>
              <a:t>$11,098</a:t>
            </a:r>
          </a:p>
        </p:txBody>
      </p:sp>
      <p:sp>
        <p:nvSpPr>
          <p:cNvPr id="350" name="RL5"/>
          <p:cNvSpPr/>
          <p:nvPr/>
        </p:nvSpPr>
        <p:spPr>
          <a:xfrm>
            <a:off x="279400" y="3771900"/>
            <a:ext cx="3048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</a:rPr>
              <a:t>Net Margin</a:t>
            </a:r>
          </a:p>
        </p:txBody>
      </p:sp>
      <p:sp>
        <p:nvSpPr>
          <p:cNvPr id="351" name="RV5_0"/>
          <p:cNvSpPr/>
          <p:nvPr/>
        </p:nvSpPr>
        <p:spPr>
          <a:xfrm>
            <a:off x="3403600" y="37719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62666A"/>
                </a:solidFill>
              </a:rPr>
              <a:t>26.5%</a:t>
            </a:r>
          </a:p>
        </p:txBody>
      </p:sp>
      <p:sp>
        <p:nvSpPr>
          <p:cNvPr id="352" name="RV5_1"/>
          <p:cNvSpPr/>
          <p:nvPr/>
        </p:nvSpPr>
        <p:spPr>
          <a:xfrm>
            <a:off x="4851400" y="37719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62666A"/>
                </a:solidFill>
              </a:rPr>
              <a:t>32.1%</a:t>
            </a:r>
          </a:p>
        </p:txBody>
      </p:sp>
      <p:sp>
        <p:nvSpPr>
          <p:cNvPr id="353" name="RV5_2"/>
          <p:cNvSpPr/>
          <p:nvPr/>
        </p:nvSpPr>
        <p:spPr>
          <a:xfrm>
            <a:off x="6299200" y="37719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46.3%</a:t>
            </a:r>
          </a:p>
        </p:txBody>
      </p:sp>
      <p:sp>
        <p:nvSpPr>
          <p:cNvPr id="354" name="RV5_3"/>
          <p:cNvSpPr/>
          <p:nvPr/>
        </p:nvSpPr>
        <p:spPr>
          <a:xfrm>
            <a:off x="7747000" y="37719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>
                <a:solidFill>
                  <a:srgbClr val="62666A"/>
                </a:solidFill>
              </a:rPr>
              <a:t>45.9%</a:t>
            </a:r>
            <a:endParaRPr lang="en-US" sz="1100" dirty="0">
              <a:solidFill>
                <a:srgbClr val="62666A"/>
              </a:solidFill>
            </a:endParaRPr>
          </a:p>
        </p:txBody>
      </p:sp>
      <p:sp>
        <p:nvSpPr>
          <p:cNvPr id="355" name="RV5_4"/>
          <p:cNvSpPr/>
          <p:nvPr/>
        </p:nvSpPr>
        <p:spPr>
          <a:xfrm>
            <a:off x="9194800" y="37719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>
                <a:solidFill>
                  <a:srgbClr val="62666A"/>
                </a:solidFill>
              </a:rPr>
              <a:t>51.9%</a:t>
            </a:r>
            <a:endParaRPr lang="en-US" sz="1100" dirty="0">
              <a:solidFill>
                <a:srgbClr val="62666A"/>
              </a:solidFill>
            </a:endParaRPr>
          </a:p>
        </p:txBody>
      </p:sp>
      <p:sp>
        <p:nvSpPr>
          <p:cNvPr id="356" name="RV5_5"/>
          <p:cNvSpPr/>
          <p:nvPr/>
        </p:nvSpPr>
        <p:spPr>
          <a:xfrm>
            <a:off x="10642600" y="37719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62666A"/>
                </a:solidFill>
              </a:rPr>
              <a:t>54.5%</a:t>
            </a:r>
          </a:p>
        </p:txBody>
      </p:sp>
      <p:sp>
        <p:nvSpPr>
          <p:cNvPr id="360" name="RL6"/>
          <p:cNvSpPr/>
          <p:nvPr/>
        </p:nvSpPr>
        <p:spPr>
          <a:xfrm>
            <a:off x="279400" y="4241800"/>
            <a:ext cx="30480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b="1" dirty="0">
                <a:solidFill>
                  <a:srgbClr val="3D3D3D"/>
                </a:solidFill>
              </a:rPr>
              <a:t>EPS (Diluted)</a:t>
            </a:r>
          </a:p>
        </p:txBody>
      </p:sp>
      <p:sp>
        <p:nvSpPr>
          <p:cNvPr id="361" name="RV6_0"/>
          <p:cNvSpPr/>
          <p:nvPr/>
        </p:nvSpPr>
        <p:spPr>
          <a:xfrm>
            <a:off x="3403600" y="42418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221F1F"/>
                </a:solidFill>
              </a:rPr>
              <a:t>$4.49</a:t>
            </a:r>
          </a:p>
        </p:txBody>
      </p:sp>
      <p:sp>
        <p:nvSpPr>
          <p:cNvPr id="362" name="RV6_1"/>
          <p:cNvSpPr/>
          <p:nvPr/>
        </p:nvSpPr>
        <p:spPr>
          <a:xfrm>
            <a:off x="4851400" y="42418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221F1F"/>
                </a:solidFill>
              </a:rPr>
              <a:t>$7.74</a:t>
            </a:r>
          </a:p>
        </p:txBody>
      </p:sp>
      <p:sp>
        <p:nvSpPr>
          <p:cNvPr id="363" name="RV6_2"/>
          <p:cNvSpPr/>
          <p:nvPr/>
        </p:nvSpPr>
        <p:spPr>
          <a:xfrm>
            <a:off x="6299200" y="42418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EFC400"/>
                </a:solidFill>
              </a:rPr>
              <a:t>$19.15</a:t>
            </a:r>
          </a:p>
        </p:txBody>
      </p:sp>
      <p:sp>
        <p:nvSpPr>
          <p:cNvPr id="364" name="RV6_3"/>
          <p:cNvSpPr/>
          <p:nvPr/>
        </p:nvSpPr>
        <p:spPr>
          <a:xfrm>
            <a:off x="7747000" y="42418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>
                <a:solidFill>
                  <a:srgbClr val="221F1F"/>
                </a:solidFill>
              </a:rPr>
              <a:t>$18.27</a:t>
            </a:r>
            <a:endParaRPr lang="en-US" sz="1200" dirty="0">
              <a:solidFill>
                <a:srgbClr val="221F1F"/>
              </a:solidFill>
            </a:endParaRPr>
          </a:p>
        </p:txBody>
      </p:sp>
      <p:sp>
        <p:nvSpPr>
          <p:cNvPr id="365" name="RV6_4"/>
          <p:cNvSpPr/>
          <p:nvPr/>
        </p:nvSpPr>
        <p:spPr>
          <a:xfrm>
            <a:off x="9194800" y="42418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>
                <a:solidFill>
                  <a:srgbClr val="221F1F"/>
                </a:solidFill>
              </a:rPr>
              <a:t>$21.46</a:t>
            </a:r>
            <a:endParaRPr lang="en-US" sz="1200" dirty="0">
              <a:solidFill>
                <a:srgbClr val="221F1F"/>
              </a:solidFill>
            </a:endParaRPr>
          </a:p>
        </p:txBody>
      </p:sp>
      <p:sp>
        <p:nvSpPr>
          <p:cNvPr id="366" name="RV6_5"/>
          <p:cNvSpPr/>
          <p:nvPr/>
        </p:nvSpPr>
        <p:spPr>
          <a:xfrm>
            <a:off x="10642600" y="4241800"/>
            <a:ext cx="1371600" cy="4572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221F1F"/>
                </a:solidFill>
              </a:rPr>
              <a:t>$22.52</a:t>
            </a:r>
          </a:p>
        </p:txBody>
      </p:sp>
      <p:sp>
        <p:nvSpPr>
          <p:cNvPr id="370" name="RL7"/>
          <p:cNvSpPr/>
          <p:nvPr/>
        </p:nvSpPr>
        <p:spPr>
          <a:xfrm>
            <a:off x="279400" y="4711700"/>
            <a:ext cx="3048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b="1" dirty="0">
                <a:solidFill>
                  <a:srgbClr val="3D3D3D"/>
                </a:solidFill>
              </a:rPr>
              <a:t>Free Cash Flow ($M)</a:t>
            </a:r>
          </a:p>
        </p:txBody>
      </p:sp>
      <p:sp>
        <p:nvSpPr>
          <p:cNvPr id="371" name="RV7_0"/>
          <p:cNvSpPr/>
          <p:nvPr/>
        </p:nvSpPr>
        <p:spPr>
          <a:xfrm>
            <a:off x="3403600" y="47117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221F1F"/>
                </a:solidFill>
              </a:rPr>
              <a:t>$1,768</a:t>
            </a:r>
          </a:p>
        </p:txBody>
      </p:sp>
      <p:sp>
        <p:nvSpPr>
          <p:cNvPr id="372" name="RV7_1"/>
          <p:cNvSpPr/>
          <p:nvPr/>
        </p:nvSpPr>
        <p:spPr>
          <a:xfrm>
            <a:off x="4851400" y="47117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221F1F"/>
                </a:solidFill>
              </a:rPr>
              <a:t>$4,399</a:t>
            </a:r>
          </a:p>
        </p:txBody>
      </p:sp>
      <p:sp>
        <p:nvSpPr>
          <p:cNvPr id="373" name="RV7_2"/>
          <p:cNvSpPr/>
          <p:nvPr/>
        </p:nvSpPr>
        <p:spPr>
          <a:xfrm>
            <a:off x="6299200" y="47117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EFC400"/>
                </a:solidFill>
              </a:rPr>
              <a:t>$8,852</a:t>
            </a:r>
          </a:p>
        </p:txBody>
      </p:sp>
      <p:sp>
        <p:nvSpPr>
          <p:cNvPr id="374" name="RV7_3"/>
          <p:cNvSpPr/>
          <p:nvPr/>
        </p:nvSpPr>
        <p:spPr>
          <a:xfrm>
            <a:off x="7747000" y="47117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>
                <a:solidFill>
                  <a:srgbClr val="221F1F"/>
                </a:solidFill>
              </a:rPr>
              <a:t>$8,421</a:t>
            </a:r>
            <a:endParaRPr lang="en-US" sz="1200" dirty="0">
              <a:solidFill>
                <a:srgbClr val="221F1F"/>
              </a:solidFill>
            </a:endParaRPr>
          </a:p>
        </p:txBody>
      </p:sp>
      <p:sp>
        <p:nvSpPr>
          <p:cNvPr id="375" name="RV7_4"/>
          <p:cNvSpPr/>
          <p:nvPr/>
        </p:nvSpPr>
        <p:spPr>
          <a:xfrm>
            <a:off x="9194800" y="47117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>
                <a:solidFill>
                  <a:srgbClr val="221F1F"/>
                </a:solidFill>
              </a:rPr>
              <a:t>$9,877</a:t>
            </a:r>
            <a:endParaRPr lang="en-US" sz="1200" dirty="0">
              <a:solidFill>
                <a:srgbClr val="221F1F"/>
              </a:solidFill>
            </a:endParaRPr>
          </a:p>
        </p:txBody>
      </p:sp>
      <p:sp>
        <p:nvSpPr>
          <p:cNvPr id="376" name="RV7_5"/>
          <p:cNvSpPr/>
          <p:nvPr/>
        </p:nvSpPr>
        <p:spPr>
          <a:xfrm>
            <a:off x="10642600" y="47117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221F1F"/>
                </a:solidFill>
              </a:rPr>
              <a:t>$10,404</a:t>
            </a:r>
          </a:p>
        </p:txBody>
      </p:sp>
      <p:sp>
        <p:nvSpPr>
          <p:cNvPr id="380" name="RL8"/>
          <p:cNvSpPr/>
          <p:nvPr/>
        </p:nvSpPr>
        <p:spPr>
          <a:xfrm>
            <a:off x="279400" y="5181600"/>
            <a:ext cx="3048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62666A"/>
                </a:solidFill>
              </a:rPr>
              <a:t>FCF Margin</a:t>
            </a:r>
          </a:p>
        </p:txBody>
      </p:sp>
      <p:sp>
        <p:nvSpPr>
          <p:cNvPr id="381" name="RV8_0"/>
          <p:cNvSpPr/>
          <p:nvPr/>
        </p:nvSpPr>
        <p:spPr>
          <a:xfrm>
            <a:off x="3403600" y="51816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62666A"/>
                </a:solidFill>
              </a:rPr>
              <a:t>21.1%</a:t>
            </a:r>
          </a:p>
        </p:txBody>
      </p:sp>
      <p:sp>
        <p:nvSpPr>
          <p:cNvPr id="382" name="RV8_1"/>
          <p:cNvSpPr/>
          <p:nvPr/>
        </p:nvSpPr>
        <p:spPr>
          <a:xfrm>
            <a:off x="4851400" y="51816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62666A"/>
                </a:solidFill>
              </a:rPr>
              <a:t>36.9%</a:t>
            </a:r>
          </a:p>
        </p:txBody>
      </p:sp>
      <p:sp>
        <p:nvSpPr>
          <p:cNvPr id="383" name="RV8_2"/>
          <p:cNvSpPr/>
          <p:nvPr/>
        </p:nvSpPr>
        <p:spPr>
          <a:xfrm>
            <a:off x="6299200" y="51816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43.4%</a:t>
            </a:r>
          </a:p>
        </p:txBody>
      </p:sp>
      <p:sp>
        <p:nvSpPr>
          <p:cNvPr id="384" name="RV8_3"/>
          <p:cNvSpPr/>
          <p:nvPr/>
        </p:nvSpPr>
        <p:spPr>
          <a:xfrm>
            <a:off x="7747000" y="51816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>
                <a:solidFill>
                  <a:srgbClr val="62666A"/>
                </a:solidFill>
              </a:rPr>
              <a:t>42.9%</a:t>
            </a:r>
            <a:endParaRPr lang="en-US" sz="1100" dirty="0">
              <a:solidFill>
                <a:srgbClr val="62666A"/>
              </a:solidFill>
            </a:endParaRPr>
          </a:p>
        </p:txBody>
      </p:sp>
      <p:sp>
        <p:nvSpPr>
          <p:cNvPr id="385" name="RV8_4"/>
          <p:cNvSpPr/>
          <p:nvPr/>
        </p:nvSpPr>
        <p:spPr>
          <a:xfrm>
            <a:off x="9194800" y="51816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>
                <a:solidFill>
                  <a:srgbClr val="62666A"/>
                </a:solidFill>
              </a:rPr>
              <a:t>48.5%</a:t>
            </a:r>
            <a:endParaRPr lang="en-US" sz="1100" dirty="0">
              <a:solidFill>
                <a:srgbClr val="62666A"/>
              </a:solidFill>
            </a:endParaRPr>
          </a:p>
        </p:txBody>
      </p:sp>
      <p:sp>
        <p:nvSpPr>
          <p:cNvPr id="386" name="RV8_5"/>
          <p:cNvSpPr/>
          <p:nvPr/>
        </p:nvSpPr>
        <p:spPr>
          <a:xfrm>
            <a:off x="10642600" y="51816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62666A"/>
                </a:solidFill>
              </a:rPr>
              <a:t>51.1%</a:t>
            </a:r>
          </a:p>
        </p:txBody>
      </p:sp>
      <p:sp>
        <p:nvSpPr>
          <p:cNvPr id="398" name="TotDiv"/>
          <p:cNvSpPr/>
          <p:nvPr/>
        </p:nvSpPr>
        <p:spPr>
          <a:xfrm>
            <a:off x="279400" y="5638800"/>
            <a:ext cx="11633200" cy="254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400" name="CBg0"/>
          <p:cNvSpPr/>
          <p:nvPr/>
        </p:nvSpPr>
        <p:spPr>
          <a:xfrm>
            <a:off x="279400" y="5727700"/>
            <a:ext cx="2819400" cy="58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401" name="CLbl0"/>
          <p:cNvSpPr/>
          <p:nvPr/>
        </p:nvSpPr>
        <p:spPr>
          <a:xfrm>
            <a:off x="355600" y="5778500"/>
            <a:ext cx="2717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FY2026E Revenue</a:t>
            </a:r>
          </a:p>
        </p:txBody>
      </p:sp>
      <p:sp>
        <p:nvSpPr>
          <p:cNvPr id="402" name="CVal0"/>
          <p:cNvSpPr/>
          <p:nvPr/>
        </p:nvSpPr>
        <p:spPr>
          <a:xfrm>
            <a:off x="355600" y="6007100"/>
            <a:ext cx="2717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200" b="1" dirty="0">
                <a:solidFill>
                  <a:srgbClr val="151E24"/>
                </a:solidFill>
              </a:rPr>
              <a:t>$20.4B (+71% YoY)</a:t>
            </a:r>
          </a:p>
        </p:txBody>
      </p:sp>
      <p:sp>
        <p:nvSpPr>
          <p:cNvPr id="403" name="CBg1"/>
          <p:cNvSpPr/>
          <p:nvPr/>
        </p:nvSpPr>
        <p:spPr>
          <a:xfrm>
            <a:off x="3149600" y="5727700"/>
            <a:ext cx="2819400" cy="58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404" name="CLbl1"/>
          <p:cNvSpPr/>
          <p:nvPr/>
        </p:nvSpPr>
        <p:spPr>
          <a:xfrm>
            <a:off x="3225800" y="5778500"/>
            <a:ext cx="2717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FY2026E EBITDA</a:t>
            </a:r>
          </a:p>
        </p:txBody>
      </p:sp>
      <p:sp>
        <p:nvSpPr>
          <p:cNvPr id="405" name="CVal1"/>
          <p:cNvSpPr/>
          <p:nvPr/>
        </p:nvSpPr>
        <p:spPr>
          <a:xfrm>
            <a:off x="3225800" y="6007100"/>
            <a:ext cx="2717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200" b="1" dirty="0">
                <a:solidFill>
                  <a:srgbClr val="151E24"/>
                </a:solidFill>
              </a:rPr>
              <a:t>$16.2B (79.3% Margin)</a:t>
            </a:r>
          </a:p>
        </p:txBody>
      </p:sp>
      <p:sp>
        <p:nvSpPr>
          <p:cNvPr id="406" name="CBg2"/>
          <p:cNvSpPr/>
          <p:nvPr/>
        </p:nvSpPr>
        <p:spPr>
          <a:xfrm>
            <a:off x="6019800" y="5727700"/>
            <a:ext cx="2819400" cy="58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407" name="CLbl2"/>
          <p:cNvSpPr/>
          <p:nvPr/>
        </p:nvSpPr>
        <p:spPr>
          <a:xfrm>
            <a:off x="6096000" y="5778500"/>
            <a:ext cx="2717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FY2026E Free Cash Flow</a:t>
            </a:r>
          </a:p>
        </p:txBody>
      </p:sp>
      <p:sp>
        <p:nvSpPr>
          <p:cNvPr id="408" name="CVal2"/>
          <p:cNvSpPr/>
          <p:nvPr/>
        </p:nvSpPr>
        <p:spPr>
          <a:xfrm>
            <a:off x="6096000" y="6007100"/>
            <a:ext cx="2717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200" b="1" dirty="0">
                <a:solidFill>
                  <a:srgbClr val="151E24"/>
                </a:solidFill>
              </a:rPr>
              <a:t>$8.9B (43.4% FCF Yield)</a:t>
            </a:r>
          </a:p>
        </p:txBody>
      </p:sp>
      <p:sp>
        <p:nvSpPr>
          <p:cNvPr id="409" name="CBg3"/>
          <p:cNvSpPr/>
          <p:nvPr/>
        </p:nvSpPr>
        <p:spPr>
          <a:xfrm>
            <a:off x="8890000" y="5727700"/>
            <a:ext cx="2819400" cy="58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410" name="CLbl3"/>
          <p:cNvSpPr/>
          <p:nvPr/>
        </p:nvSpPr>
        <p:spPr>
          <a:xfrm>
            <a:off x="8966200" y="5778500"/>
            <a:ext cx="2717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FY2026E EPS (Diluted)</a:t>
            </a:r>
          </a:p>
        </p:txBody>
      </p:sp>
      <p:sp>
        <p:nvSpPr>
          <p:cNvPr id="411" name="CVal3"/>
          <p:cNvSpPr/>
          <p:nvPr/>
        </p:nvSpPr>
        <p:spPr>
          <a:xfrm>
            <a:off x="8966200" y="6007100"/>
            <a:ext cx="2717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200" b="1" dirty="0">
                <a:solidFill>
                  <a:srgbClr val="151E24"/>
                </a:solidFill>
              </a:rPr>
              <a:t>$19.15 (+147% vs. FY2024A)</a:t>
            </a:r>
          </a:p>
        </p:txBody>
      </p:sp>
      <p:sp>
        <p:nvSpPr>
          <p:cNvPr id="450" name="Src"/>
          <p:cNvSpPr/>
          <p:nvPr/>
        </p:nvSpPr>
        <p:spPr>
          <a:xfrm>
            <a:off x="279400" y="6375400"/>
            <a:ext cx="116332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555555"/>
                </a:solidFill>
              </a:rPr>
              <a:t>Source: AEM-model.xlsx Projected P&amp;L | FY2024A-FY2025A from Q4 2025 News Release | FY2026E-FY2029E = author bull case estimates ($6,000/oz gold)</a:t>
            </a:r>
          </a:p>
        </p:txBody>
      </p:sp>
    </p:spTree>
    <p:extLst>
      <p:ext uri="{BB962C8B-B14F-4D97-AF65-F5344CB8AC3E}">
        <p14:creationId xmlns:p14="http://schemas.microsoft.com/office/powerpoint/2010/main" val="1942022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ecLbl"/>
          <p:cNvSpPr/>
          <p:nvPr/>
        </p:nvSpPr>
        <p:spPr>
          <a:xfrm>
            <a:off x="279400" y="127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8A6C00"/>
                </a:solidFill>
              </a:rPr>
              <a:t>CAPITAL RETURNS &amp; BALANCE SHEET</a:t>
            </a:r>
          </a:p>
        </p:txBody>
      </p:sp>
      <p:sp>
        <p:nvSpPr>
          <p:cNvPr id="105" name="SNum"/>
          <p:cNvSpPr/>
          <p:nvPr/>
        </p:nvSpPr>
        <p:spPr>
          <a:xfrm>
            <a:off x="11582400" y="127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8</a:t>
            </a:r>
          </a:p>
        </p:txBody>
      </p:sp>
      <p:sp>
        <p:nvSpPr>
          <p:cNvPr id="106" name="Title"/>
          <p:cNvSpPr/>
          <p:nvPr/>
        </p:nvSpPr>
        <p:spPr>
          <a:xfrm>
            <a:off x="279400" y="381000"/>
            <a:ext cx="116332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600" b="1" dirty="0">
                <a:solidFill>
                  <a:srgbClr val="221F1F"/>
                </a:solidFill>
              </a:rPr>
              <a:t>Record FCF Funds $1.4B FY2025 Returns; Net Cash $2.67B; Dividend +12.5%; NCIB Renewed to $2B</a:t>
            </a:r>
          </a:p>
        </p:txBody>
      </p:sp>
      <p:sp>
        <p:nvSpPr>
          <p:cNvPr id="107" name="Div1"/>
          <p:cNvSpPr/>
          <p:nvPr/>
        </p:nvSpPr>
        <p:spPr>
          <a:xfrm>
            <a:off x="279400" y="889000"/>
            <a:ext cx="11633200" cy="254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0" name="KBg0"/>
          <p:cNvSpPr/>
          <p:nvPr/>
        </p:nvSpPr>
        <p:spPr>
          <a:xfrm>
            <a:off x="279400" y="990600"/>
            <a:ext cx="2870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4" name="KLbl0"/>
          <p:cNvSpPr/>
          <p:nvPr/>
        </p:nvSpPr>
        <p:spPr>
          <a:xfrm>
            <a:off x="355600" y="10541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NET CASH (Dec 31, 2025)</a:t>
            </a:r>
          </a:p>
        </p:txBody>
      </p:sp>
      <p:sp>
        <p:nvSpPr>
          <p:cNvPr id="208" name="KVal0"/>
          <p:cNvSpPr/>
          <p:nvPr/>
        </p:nvSpPr>
        <p:spPr>
          <a:xfrm>
            <a:off x="355600" y="1295400"/>
            <a:ext cx="274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400" b="1" dirty="0">
                <a:solidFill>
                  <a:srgbClr val="EFC400"/>
                </a:solidFill>
              </a:rPr>
              <a:t>$2,670M</a:t>
            </a:r>
          </a:p>
        </p:txBody>
      </p:sp>
      <p:sp>
        <p:nvSpPr>
          <p:cNvPr id="212" name="KSub0"/>
          <p:cNvSpPr/>
          <p:nvPr/>
        </p:nvSpPr>
        <p:spPr>
          <a:xfrm>
            <a:off x="355600" y="1536700"/>
            <a:ext cx="274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vs. -$217M Jan 2025</a:t>
            </a:r>
          </a:p>
        </p:txBody>
      </p:sp>
      <p:sp>
        <p:nvSpPr>
          <p:cNvPr id="201" name="KBg1"/>
          <p:cNvSpPr/>
          <p:nvPr/>
        </p:nvSpPr>
        <p:spPr>
          <a:xfrm>
            <a:off x="3200400" y="990600"/>
            <a:ext cx="2870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5" name="KLbl1"/>
          <p:cNvSpPr/>
          <p:nvPr/>
        </p:nvSpPr>
        <p:spPr>
          <a:xfrm>
            <a:off x="3276600" y="10541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QUARTERLY DIVIDEND</a:t>
            </a:r>
          </a:p>
        </p:txBody>
      </p:sp>
      <p:sp>
        <p:nvSpPr>
          <p:cNvPr id="209" name="KVal1"/>
          <p:cNvSpPr/>
          <p:nvPr/>
        </p:nvSpPr>
        <p:spPr>
          <a:xfrm>
            <a:off x="3276600" y="1295400"/>
            <a:ext cx="274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400" b="1" dirty="0">
                <a:solidFill>
                  <a:srgbClr val="EFC400"/>
                </a:solidFill>
              </a:rPr>
              <a:t>$0.45/share</a:t>
            </a:r>
          </a:p>
        </p:txBody>
      </p:sp>
      <p:sp>
        <p:nvSpPr>
          <p:cNvPr id="213" name="KSub1"/>
          <p:cNvSpPr/>
          <p:nvPr/>
        </p:nvSpPr>
        <p:spPr>
          <a:xfrm>
            <a:off x="3276600" y="1536700"/>
            <a:ext cx="274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+12.5% increase Feb 2026</a:t>
            </a:r>
          </a:p>
        </p:txBody>
      </p:sp>
      <p:sp>
        <p:nvSpPr>
          <p:cNvPr id="202" name="KBg2"/>
          <p:cNvSpPr/>
          <p:nvPr/>
        </p:nvSpPr>
        <p:spPr>
          <a:xfrm>
            <a:off x="6121400" y="990600"/>
            <a:ext cx="2870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6" name="KLbl2"/>
          <p:cNvSpPr/>
          <p:nvPr/>
        </p:nvSpPr>
        <p:spPr>
          <a:xfrm>
            <a:off x="6197600" y="10541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ANNUALIZED DIVIDEND</a:t>
            </a:r>
          </a:p>
        </p:txBody>
      </p:sp>
      <p:sp>
        <p:nvSpPr>
          <p:cNvPr id="210" name="KVal2"/>
          <p:cNvSpPr/>
          <p:nvPr/>
        </p:nvSpPr>
        <p:spPr>
          <a:xfrm>
            <a:off x="6197600" y="1295400"/>
            <a:ext cx="274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400" b="1" dirty="0">
                <a:solidFill>
                  <a:srgbClr val="EFC400"/>
                </a:solidFill>
              </a:rPr>
              <a:t>$1.80/share</a:t>
            </a:r>
          </a:p>
        </p:txBody>
      </p:sp>
      <p:sp>
        <p:nvSpPr>
          <p:cNvPr id="214" name="KSub2"/>
          <p:cNvSpPr/>
          <p:nvPr/>
        </p:nvSpPr>
        <p:spPr>
          <a:xfrm>
            <a:off x="6197600" y="1536700"/>
            <a:ext cx="274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Paid every yr since 1983</a:t>
            </a:r>
          </a:p>
        </p:txBody>
      </p:sp>
      <p:sp>
        <p:nvSpPr>
          <p:cNvPr id="203" name="KBg3"/>
          <p:cNvSpPr/>
          <p:nvPr/>
        </p:nvSpPr>
        <p:spPr>
          <a:xfrm>
            <a:off x="9042400" y="990600"/>
            <a:ext cx="2870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7" name="KLbl3"/>
          <p:cNvSpPr/>
          <p:nvPr/>
        </p:nvSpPr>
        <p:spPr>
          <a:xfrm>
            <a:off x="9118600" y="10541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FY2025 TOTAL RETURNS</a:t>
            </a:r>
          </a:p>
        </p:txBody>
      </p:sp>
      <p:sp>
        <p:nvSpPr>
          <p:cNvPr id="211" name="KVal3"/>
          <p:cNvSpPr/>
          <p:nvPr/>
        </p:nvSpPr>
        <p:spPr>
          <a:xfrm>
            <a:off x="9118600" y="1295400"/>
            <a:ext cx="274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400" b="1" dirty="0">
                <a:solidFill>
                  <a:srgbClr val="EFC400"/>
                </a:solidFill>
              </a:rPr>
              <a:t>$1.4 Billion</a:t>
            </a:r>
          </a:p>
        </p:txBody>
      </p:sp>
      <p:sp>
        <p:nvSpPr>
          <p:cNvPr id="215" name="KSub3"/>
          <p:cNvSpPr/>
          <p:nvPr/>
        </p:nvSpPr>
        <p:spPr>
          <a:xfrm>
            <a:off x="9118600" y="1536700"/>
            <a:ext cx="274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$728M div + $600M NCIB</a:t>
            </a:r>
          </a:p>
        </p:txBody>
      </p:sp>
      <p:sp>
        <p:nvSpPr>
          <p:cNvPr id="220" name="Div2"/>
          <p:cNvSpPr/>
          <p:nvPr/>
        </p:nvSpPr>
        <p:spPr>
          <a:xfrm>
            <a:off x="279400" y="1854200"/>
            <a:ext cx="11633200" cy="254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21" name="BSHdr"/>
          <p:cNvSpPr/>
          <p:nvPr/>
        </p:nvSpPr>
        <p:spPr>
          <a:xfrm>
            <a:off x="279400" y="19304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BALANCE SHEET METRICS (USD $M)</a:t>
            </a:r>
          </a:p>
        </p:txBody>
      </p:sp>
      <p:sp>
        <p:nvSpPr>
          <p:cNvPr id="230" name="BH0"/>
          <p:cNvSpPr/>
          <p:nvPr/>
        </p:nvSpPr>
        <p:spPr>
          <a:xfrm>
            <a:off x="279400" y="2184400"/>
            <a:ext cx="2108200" cy="3302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8A6C00"/>
                </a:solidFill>
              </a:rPr>
              <a:t>Metric</a:t>
            </a:r>
          </a:p>
        </p:txBody>
      </p:sp>
      <p:sp>
        <p:nvSpPr>
          <p:cNvPr id="231" name="BH1"/>
          <p:cNvSpPr/>
          <p:nvPr/>
        </p:nvSpPr>
        <p:spPr>
          <a:xfrm>
            <a:off x="2438400" y="2184400"/>
            <a:ext cx="1676400" cy="3302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FY2025A</a:t>
            </a:r>
          </a:p>
        </p:txBody>
      </p:sp>
      <p:sp>
        <p:nvSpPr>
          <p:cNvPr id="232" name="BH2"/>
          <p:cNvSpPr/>
          <p:nvPr/>
        </p:nvSpPr>
        <p:spPr>
          <a:xfrm>
            <a:off x="4165600" y="2184400"/>
            <a:ext cx="1676400" cy="3302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FY2026E</a:t>
            </a:r>
          </a:p>
        </p:txBody>
      </p:sp>
      <p:sp>
        <p:nvSpPr>
          <p:cNvPr id="233" name="BH3"/>
          <p:cNvSpPr/>
          <p:nvPr/>
        </p:nvSpPr>
        <p:spPr>
          <a:xfrm>
            <a:off x="5905500" y="2184400"/>
            <a:ext cx="1651000" cy="3302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FY2027E</a:t>
            </a:r>
          </a:p>
        </p:txBody>
      </p:sp>
      <p:sp>
        <p:nvSpPr>
          <p:cNvPr id="240" name="BR0_0"/>
          <p:cNvSpPr/>
          <p:nvPr/>
        </p:nvSpPr>
        <p:spPr>
          <a:xfrm>
            <a:off x="279400" y="2540000"/>
            <a:ext cx="21082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Cash &amp; Equivalents</a:t>
            </a:r>
          </a:p>
        </p:txBody>
      </p:sp>
      <p:sp>
        <p:nvSpPr>
          <p:cNvPr id="241" name="BR0_1"/>
          <p:cNvSpPr/>
          <p:nvPr/>
        </p:nvSpPr>
        <p:spPr>
          <a:xfrm>
            <a:off x="2438400" y="2540000"/>
            <a:ext cx="16764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$2,866M</a:t>
            </a:r>
          </a:p>
        </p:txBody>
      </p:sp>
      <p:sp>
        <p:nvSpPr>
          <p:cNvPr id="242" name="BR0_2"/>
          <p:cNvSpPr/>
          <p:nvPr/>
        </p:nvSpPr>
        <p:spPr>
          <a:xfrm>
            <a:off x="4165600" y="2540000"/>
            <a:ext cx="16764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$7,879M</a:t>
            </a:r>
          </a:p>
        </p:txBody>
      </p:sp>
      <p:sp>
        <p:nvSpPr>
          <p:cNvPr id="243" name="BR0_3"/>
          <p:cNvSpPr/>
          <p:nvPr/>
        </p:nvSpPr>
        <p:spPr>
          <a:xfrm>
            <a:off x="5905500" y="2540000"/>
            <a:ext cx="1651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$12,905M</a:t>
            </a:r>
          </a:p>
        </p:txBody>
      </p:sp>
      <p:sp>
        <p:nvSpPr>
          <p:cNvPr id="250" name="BR1_0"/>
          <p:cNvSpPr/>
          <p:nvPr/>
        </p:nvSpPr>
        <p:spPr>
          <a:xfrm>
            <a:off x="279400" y="2933700"/>
            <a:ext cx="2108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Total Debt</a:t>
            </a:r>
          </a:p>
        </p:txBody>
      </p:sp>
      <p:sp>
        <p:nvSpPr>
          <p:cNvPr id="251" name="BR1_1"/>
          <p:cNvSpPr/>
          <p:nvPr/>
        </p:nvSpPr>
        <p:spPr>
          <a:xfrm>
            <a:off x="2438400" y="2933700"/>
            <a:ext cx="1676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$196M</a:t>
            </a:r>
          </a:p>
        </p:txBody>
      </p:sp>
      <p:sp>
        <p:nvSpPr>
          <p:cNvPr id="252" name="BR1_2"/>
          <p:cNvSpPr/>
          <p:nvPr/>
        </p:nvSpPr>
        <p:spPr>
          <a:xfrm>
            <a:off x="4165600" y="2933700"/>
            <a:ext cx="1676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$180M</a:t>
            </a:r>
          </a:p>
        </p:txBody>
      </p:sp>
      <p:sp>
        <p:nvSpPr>
          <p:cNvPr id="253" name="BR1_3"/>
          <p:cNvSpPr/>
          <p:nvPr/>
        </p:nvSpPr>
        <p:spPr>
          <a:xfrm>
            <a:off x="5905500" y="2933700"/>
            <a:ext cx="1651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$150M</a:t>
            </a:r>
          </a:p>
        </p:txBody>
      </p:sp>
      <p:sp>
        <p:nvSpPr>
          <p:cNvPr id="260" name="BR2_0"/>
          <p:cNvSpPr/>
          <p:nvPr/>
        </p:nvSpPr>
        <p:spPr>
          <a:xfrm>
            <a:off x="279400" y="3327400"/>
            <a:ext cx="21082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4A4A4A"/>
                </a:solidFill>
              </a:rPr>
              <a:t>Net Cash / (Debt)</a:t>
            </a:r>
          </a:p>
        </p:txBody>
      </p:sp>
      <p:sp>
        <p:nvSpPr>
          <p:cNvPr id="261" name="BR2_1"/>
          <p:cNvSpPr/>
          <p:nvPr/>
        </p:nvSpPr>
        <p:spPr>
          <a:xfrm>
            <a:off x="2438400" y="3327400"/>
            <a:ext cx="16764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$2,670M</a:t>
            </a:r>
          </a:p>
        </p:txBody>
      </p:sp>
      <p:sp>
        <p:nvSpPr>
          <p:cNvPr id="262" name="BR2_2"/>
          <p:cNvSpPr/>
          <p:nvPr/>
        </p:nvSpPr>
        <p:spPr>
          <a:xfrm>
            <a:off x="4165600" y="3327400"/>
            <a:ext cx="16764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$7,699M</a:t>
            </a:r>
          </a:p>
        </p:txBody>
      </p:sp>
      <p:sp>
        <p:nvSpPr>
          <p:cNvPr id="263" name="BR2_3"/>
          <p:cNvSpPr/>
          <p:nvPr/>
        </p:nvSpPr>
        <p:spPr>
          <a:xfrm>
            <a:off x="5905500" y="3327400"/>
            <a:ext cx="1651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$12,754M</a:t>
            </a:r>
          </a:p>
        </p:txBody>
      </p:sp>
      <p:sp>
        <p:nvSpPr>
          <p:cNvPr id="270" name="BR3_0"/>
          <p:cNvSpPr/>
          <p:nvPr/>
        </p:nvSpPr>
        <p:spPr>
          <a:xfrm>
            <a:off x="279400" y="3721100"/>
            <a:ext cx="2108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Net Debt / EBITDA</a:t>
            </a:r>
          </a:p>
        </p:txBody>
      </p:sp>
      <p:sp>
        <p:nvSpPr>
          <p:cNvPr id="271" name="BR3_1"/>
          <p:cNvSpPr/>
          <p:nvPr/>
        </p:nvSpPr>
        <p:spPr>
          <a:xfrm>
            <a:off x="2438400" y="3721100"/>
            <a:ext cx="1676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-0.32x</a:t>
            </a:r>
          </a:p>
        </p:txBody>
      </p:sp>
      <p:sp>
        <p:nvSpPr>
          <p:cNvPr id="272" name="BR3_2"/>
          <p:cNvSpPr/>
          <p:nvPr/>
        </p:nvSpPr>
        <p:spPr>
          <a:xfrm>
            <a:off x="4165600" y="3721100"/>
            <a:ext cx="1676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-0.48x</a:t>
            </a:r>
          </a:p>
        </p:txBody>
      </p:sp>
      <p:sp>
        <p:nvSpPr>
          <p:cNvPr id="273" name="BR3_3"/>
          <p:cNvSpPr/>
          <p:nvPr/>
        </p:nvSpPr>
        <p:spPr>
          <a:xfrm>
            <a:off x="5905500" y="3721100"/>
            <a:ext cx="1651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-0.83x</a:t>
            </a:r>
          </a:p>
        </p:txBody>
      </p:sp>
      <p:sp>
        <p:nvSpPr>
          <p:cNvPr id="280" name="BR4_0"/>
          <p:cNvSpPr/>
          <p:nvPr/>
        </p:nvSpPr>
        <p:spPr>
          <a:xfrm>
            <a:off x="279400" y="4114800"/>
            <a:ext cx="21082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Return on Equity</a:t>
            </a:r>
          </a:p>
        </p:txBody>
      </p:sp>
      <p:sp>
        <p:nvSpPr>
          <p:cNvPr id="281" name="BR4_1"/>
          <p:cNvSpPr/>
          <p:nvPr/>
        </p:nvSpPr>
        <p:spPr>
          <a:xfrm>
            <a:off x="2438400" y="4114800"/>
            <a:ext cx="16764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19.6%</a:t>
            </a:r>
          </a:p>
        </p:txBody>
      </p:sp>
      <p:sp>
        <p:nvSpPr>
          <p:cNvPr id="282" name="BR4_2"/>
          <p:cNvSpPr/>
          <p:nvPr/>
        </p:nvSpPr>
        <p:spPr>
          <a:xfrm>
            <a:off x="4165600" y="4114800"/>
            <a:ext cx="16764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34.5%</a:t>
            </a:r>
          </a:p>
        </p:txBody>
      </p:sp>
      <p:sp>
        <p:nvSpPr>
          <p:cNvPr id="283" name="BR4_3"/>
          <p:cNvSpPr/>
          <p:nvPr/>
        </p:nvSpPr>
        <p:spPr>
          <a:xfrm>
            <a:off x="5905500" y="4114800"/>
            <a:ext cx="1651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27.1%</a:t>
            </a:r>
          </a:p>
        </p:txBody>
      </p:sp>
      <p:sp>
        <p:nvSpPr>
          <p:cNvPr id="290" name="BR5_0"/>
          <p:cNvSpPr/>
          <p:nvPr/>
        </p:nvSpPr>
        <p:spPr>
          <a:xfrm>
            <a:off x="279400" y="4508500"/>
            <a:ext cx="2108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Book Value / Share</a:t>
            </a:r>
          </a:p>
        </p:txBody>
      </p:sp>
      <p:sp>
        <p:nvSpPr>
          <p:cNvPr id="291" name="BR5_1"/>
          <p:cNvSpPr/>
          <p:nvPr/>
        </p:nvSpPr>
        <p:spPr>
          <a:xfrm>
            <a:off x="2438400" y="4508500"/>
            <a:ext cx="1676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$49.48</a:t>
            </a:r>
          </a:p>
        </p:txBody>
      </p:sp>
      <p:sp>
        <p:nvSpPr>
          <p:cNvPr id="292" name="BR5_2"/>
          <p:cNvSpPr/>
          <p:nvPr/>
        </p:nvSpPr>
        <p:spPr>
          <a:xfrm>
            <a:off x="4165600" y="4508500"/>
            <a:ext cx="1676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$60.96</a:t>
            </a:r>
          </a:p>
        </p:txBody>
      </p:sp>
      <p:sp>
        <p:nvSpPr>
          <p:cNvPr id="293" name="BR5_3"/>
          <p:cNvSpPr/>
          <p:nvPr/>
        </p:nvSpPr>
        <p:spPr>
          <a:xfrm>
            <a:off x="5905500" y="4508500"/>
            <a:ext cx="1651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$73.31</a:t>
            </a:r>
          </a:p>
        </p:txBody>
      </p:sp>
      <p:sp>
        <p:nvSpPr>
          <p:cNvPr id="300" name="VDiv"/>
          <p:cNvSpPr/>
          <p:nvPr/>
        </p:nvSpPr>
        <p:spPr>
          <a:xfrm>
            <a:off x="7747000" y="1854200"/>
            <a:ext cx="25400" cy="48260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301" name="CRFHdr"/>
          <p:cNvSpPr/>
          <p:nvPr/>
        </p:nvSpPr>
        <p:spPr>
          <a:xfrm>
            <a:off x="7848600" y="193040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CAPITAL RETURN FRAMEWORK</a:t>
            </a:r>
          </a:p>
        </p:txBody>
      </p:sp>
      <p:sp>
        <p:nvSpPr>
          <p:cNvPr id="310" name="SHdr0"/>
          <p:cNvSpPr/>
          <p:nvPr/>
        </p:nvSpPr>
        <p:spPr>
          <a:xfrm>
            <a:off x="7848600" y="222250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Dividend Policy</a:t>
            </a:r>
          </a:p>
        </p:txBody>
      </p:sp>
      <p:sp>
        <p:nvSpPr>
          <p:cNvPr id="311" name="SBody0"/>
          <p:cNvSpPr/>
          <p:nvPr/>
        </p:nvSpPr>
        <p:spPr>
          <a:xfrm>
            <a:off x="7848600" y="2476500"/>
            <a:ext cx="4191000" cy="1041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$0.45/qtr ($1.80/yr annualized) — 12.5% increase Feb 2026
Annual payout: ~$900M/yr at current share count
Dividend paid every year since 1983 — 43-year track record</a:t>
            </a:r>
          </a:p>
        </p:txBody>
      </p:sp>
      <p:sp>
        <p:nvSpPr>
          <p:cNvPr id="315" name="SHdr1"/>
          <p:cNvSpPr/>
          <p:nvPr/>
        </p:nvSpPr>
        <p:spPr>
          <a:xfrm>
            <a:off x="7848600" y="368300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NCIB (Normal Course Issuer Bid)</a:t>
            </a:r>
          </a:p>
        </p:txBody>
      </p:sp>
      <p:sp>
        <p:nvSpPr>
          <p:cNvPr id="316" name="SBody1"/>
          <p:cNvSpPr/>
          <p:nvPr/>
        </p:nvSpPr>
        <p:spPr>
          <a:xfrm>
            <a:off x="7848600" y="3937000"/>
            <a:ext cx="4191000" cy="1041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FY2025A: $600M in repurchases at avg $145.76/share (4.1M shares)
Q4 2025: $300M at avg $168.11/share (1.8M shares)
Renewed in May 2026 with up to $2B internal limit</a:t>
            </a:r>
          </a:p>
        </p:txBody>
      </p:sp>
      <p:sp>
        <p:nvSpPr>
          <p:cNvPr id="320" name="SHdr2"/>
          <p:cNvSpPr/>
          <p:nvPr/>
        </p:nvSpPr>
        <p:spPr>
          <a:xfrm>
            <a:off x="7848600" y="508000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Free Cash Flow Generation</a:t>
            </a:r>
          </a:p>
        </p:txBody>
      </p:sp>
      <p:sp>
        <p:nvSpPr>
          <p:cNvPr id="321" name="SBody2"/>
          <p:cNvSpPr/>
          <p:nvPr/>
        </p:nvSpPr>
        <p:spPr>
          <a:xfrm>
            <a:off x="7848600" y="5334000"/>
            <a:ext cx="4191000" cy="1041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FY2025A FCF: $4,399M ($8.76/share) — RECORD annual FCF
FY2026E FCF: $8,852M ($17.96/share) — +101.2% YoY
Shareholder returns covered at ~40% FCF allocation</a:t>
            </a:r>
          </a:p>
        </p:txBody>
      </p:sp>
      <p:sp>
        <p:nvSpPr>
          <p:cNvPr id="400" name="Foot"/>
          <p:cNvSpPr/>
          <p:nvPr/>
        </p:nvSpPr>
        <p:spPr>
          <a:xfrm>
            <a:off x="88900" y="6419850"/>
            <a:ext cx="1163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900" i="1" dirty="0">
                <a:solidFill>
                  <a:srgbClr val="555555"/>
                </a:solidFill>
              </a:rPr>
              <a:t>Shareholder returns well covered at 40% FCF allocation; remaining 60% funds organic pipeline.</a:t>
            </a:r>
          </a:p>
        </p:txBody>
      </p:sp>
    </p:spTree>
    <p:extLst>
      <p:ext uri="{BB962C8B-B14F-4D97-AF65-F5344CB8AC3E}">
        <p14:creationId xmlns:p14="http://schemas.microsoft.com/office/powerpoint/2010/main" val="1561918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ecLbl"/>
          <p:cNvSpPr/>
          <p:nvPr/>
        </p:nvSpPr>
        <p:spPr>
          <a:xfrm>
            <a:off x="279400" y="127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8A6C00"/>
                </a:solidFill>
              </a:rPr>
              <a:t>DCF VALUATION</a:t>
            </a:r>
          </a:p>
        </p:txBody>
      </p:sp>
      <p:sp>
        <p:nvSpPr>
          <p:cNvPr id="105" name="SNum"/>
          <p:cNvSpPr/>
          <p:nvPr/>
        </p:nvSpPr>
        <p:spPr>
          <a:xfrm>
            <a:off x="11582400" y="127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9</a:t>
            </a:r>
          </a:p>
        </p:txBody>
      </p:sp>
      <p:sp>
        <p:nvSpPr>
          <p:cNvPr id="106" name="Title"/>
          <p:cNvSpPr/>
          <p:nvPr/>
        </p:nvSpPr>
        <p:spPr>
          <a:xfrm>
            <a:off x="279400" y="381000"/>
            <a:ext cx="116332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600" dirty="0">
                <a:solidFill>
                  <a:srgbClr val="221F1F"/>
                </a:solidFill>
              </a:rPr>
              <a:t>DCF (Exit Multiple): $371/share | WACC 7.59% | 8x FY2029E EBITDA | 50% Weight in Blended PT</a:t>
            </a:r>
          </a:p>
        </p:txBody>
      </p:sp>
      <p:sp>
        <p:nvSpPr>
          <p:cNvPr id="107" name="Div1"/>
          <p:cNvSpPr/>
          <p:nvPr/>
        </p:nvSpPr>
        <p:spPr>
          <a:xfrm>
            <a:off x="279400" y="889000"/>
            <a:ext cx="11633200" cy="254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0" name="KBg0"/>
          <p:cNvSpPr/>
          <p:nvPr/>
        </p:nvSpPr>
        <p:spPr>
          <a:xfrm>
            <a:off x="279400" y="990600"/>
            <a:ext cx="2870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0" name="KLbl0"/>
          <p:cNvSpPr/>
          <p:nvPr/>
        </p:nvSpPr>
        <p:spPr>
          <a:xfrm>
            <a:off x="355600" y="1054100"/>
            <a:ext cx="2717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DCF IMPLIED PRICE</a:t>
            </a:r>
          </a:p>
        </p:txBody>
      </p:sp>
      <p:sp>
        <p:nvSpPr>
          <p:cNvPr id="220" name="KVal0"/>
          <p:cNvSpPr/>
          <p:nvPr/>
        </p:nvSpPr>
        <p:spPr>
          <a:xfrm>
            <a:off x="355600" y="1282700"/>
            <a:ext cx="2717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400" b="1" dirty="0">
                <a:solidFill>
                  <a:srgbClr val="EFC400"/>
                </a:solidFill>
              </a:rPr>
              <a:t>$371/share</a:t>
            </a:r>
          </a:p>
        </p:txBody>
      </p:sp>
      <p:sp>
        <p:nvSpPr>
          <p:cNvPr id="230" name="KSub0"/>
          <p:cNvSpPr/>
          <p:nvPr/>
        </p:nvSpPr>
        <p:spPr>
          <a:xfrm>
            <a:off x="355600" y="1536700"/>
            <a:ext cx="27178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50% weight in blended PT</a:t>
            </a:r>
          </a:p>
        </p:txBody>
      </p:sp>
      <p:sp>
        <p:nvSpPr>
          <p:cNvPr id="201" name="KBg1"/>
          <p:cNvSpPr/>
          <p:nvPr/>
        </p:nvSpPr>
        <p:spPr>
          <a:xfrm>
            <a:off x="3200400" y="990600"/>
            <a:ext cx="2870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1" name="KLbl1"/>
          <p:cNvSpPr/>
          <p:nvPr/>
        </p:nvSpPr>
        <p:spPr>
          <a:xfrm>
            <a:off x="3276600" y="1054100"/>
            <a:ext cx="2717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WACC</a:t>
            </a:r>
          </a:p>
        </p:txBody>
      </p:sp>
      <p:sp>
        <p:nvSpPr>
          <p:cNvPr id="221" name="KVal1"/>
          <p:cNvSpPr/>
          <p:nvPr/>
        </p:nvSpPr>
        <p:spPr>
          <a:xfrm>
            <a:off x="3276600" y="1282700"/>
            <a:ext cx="2717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400" b="1" dirty="0">
                <a:solidFill>
                  <a:srgbClr val="221F1F"/>
                </a:solidFill>
              </a:rPr>
              <a:t>7.59%</a:t>
            </a:r>
          </a:p>
        </p:txBody>
      </p:sp>
      <p:sp>
        <p:nvSpPr>
          <p:cNvPr id="231" name="KSub1"/>
          <p:cNvSpPr/>
          <p:nvPr/>
        </p:nvSpPr>
        <p:spPr>
          <a:xfrm>
            <a:off x="3276600" y="1536700"/>
            <a:ext cx="27178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Ke 9.2% | D/TC 10%</a:t>
            </a:r>
          </a:p>
        </p:txBody>
      </p:sp>
      <p:sp>
        <p:nvSpPr>
          <p:cNvPr id="202" name="KBg2"/>
          <p:cNvSpPr/>
          <p:nvPr/>
        </p:nvSpPr>
        <p:spPr>
          <a:xfrm>
            <a:off x="6121400" y="990600"/>
            <a:ext cx="2870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2" name="KLbl2"/>
          <p:cNvSpPr/>
          <p:nvPr/>
        </p:nvSpPr>
        <p:spPr>
          <a:xfrm>
            <a:off x="6197600" y="1054100"/>
            <a:ext cx="2717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EXIT MULTIPLE</a:t>
            </a:r>
          </a:p>
        </p:txBody>
      </p:sp>
      <p:sp>
        <p:nvSpPr>
          <p:cNvPr id="222" name="KVal2"/>
          <p:cNvSpPr/>
          <p:nvPr/>
        </p:nvSpPr>
        <p:spPr>
          <a:xfrm>
            <a:off x="6197600" y="1282700"/>
            <a:ext cx="2717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400" b="1" dirty="0">
                <a:solidFill>
                  <a:srgbClr val="221F1F"/>
                </a:solidFill>
              </a:rPr>
              <a:t>8x FY2029E EBITDA</a:t>
            </a:r>
          </a:p>
        </p:txBody>
      </p:sp>
      <p:sp>
        <p:nvSpPr>
          <p:cNvPr id="232" name="KSub2"/>
          <p:cNvSpPr/>
          <p:nvPr/>
        </p:nvSpPr>
        <p:spPr>
          <a:xfrm>
            <a:off x="6197600" y="1536700"/>
            <a:ext cx="27178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Applied to $18,853M TV</a:t>
            </a:r>
          </a:p>
        </p:txBody>
      </p:sp>
      <p:sp>
        <p:nvSpPr>
          <p:cNvPr id="203" name="KBg3"/>
          <p:cNvSpPr/>
          <p:nvPr/>
        </p:nvSpPr>
        <p:spPr>
          <a:xfrm>
            <a:off x="9042400" y="990600"/>
            <a:ext cx="2870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3" name="KLbl3"/>
          <p:cNvSpPr/>
          <p:nvPr/>
        </p:nvSpPr>
        <p:spPr>
          <a:xfrm>
            <a:off x="9118600" y="1054100"/>
            <a:ext cx="2717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TERMINAL YEAR EBITDA</a:t>
            </a:r>
          </a:p>
        </p:txBody>
      </p:sp>
      <p:sp>
        <p:nvSpPr>
          <p:cNvPr id="223" name="KVal3"/>
          <p:cNvSpPr/>
          <p:nvPr/>
        </p:nvSpPr>
        <p:spPr>
          <a:xfrm>
            <a:off x="9118600" y="1282700"/>
            <a:ext cx="2717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400" b="1" dirty="0">
                <a:solidFill>
                  <a:srgbClr val="221F1F"/>
                </a:solidFill>
              </a:rPr>
              <a:t>$18,853M</a:t>
            </a:r>
          </a:p>
        </p:txBody>
      </p:sp>
      <p:sp>
        <p:nvSpPr>
          <p:cNvPr id="233" name="KSub3"/>
          <p:cNvSpPr/>
          <p:nvPr/>
        </p:nvSpPr>
        <p:spPr>
          <a:xfrm>
            <a:off x="9118600" y="1536700"/>
            <a:ext cx="27178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FY2029E (bull case)</a:t>
            </a:r>
          </a:p>
        </p:txBody>
      </p:sp>
      <p:sp>
        <p:nvSpPr>
          <p:cNvPr id="240" name="Div2"/>
          <p:cNvSpPr/>
          <p:nvPr/>
        </p:nvSpPr>
        <p:spPr>
          <a:xfrm>
            <a:off x="279400" y="1854200"/>
            <a:ext cx="11633200" cy="254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41" name="FCFHdr"/>
          <p:cNvSpPr/>
          <p:nvPr/>
        </p:nvSpPr>
        <p:spPr>
          <a:xfrm>
            <a:off x="279400" y="19304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UNLEVERED FREE CASH FLOW BRIDGE (USD $M)</a:t>
            </a:r>
          </a:p>
        </p:txBody>
      </p:sp>
      <p:sp>
        <p:nvSpPr>
          <p:cNvPr id="250" name="FH0"/>
          <p:cNvSpPr/>
          <p:nvPr/>
        </p:nvSpPr>
        <p:spPr>
          <a:xfrm>
            <a:off x="279400" y="2184400"/>
            <a:ext cx="2209800" cy="3302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8A6C00"/>
                </a:solidFill>
              </a:rPr>
              <a:t>Line Item</a:t>
            </a:r>
          </a:p>
        </p:txBody>
      </p:sp>
      <p:sp>
        <p:nvSpPr>
          <p:cNvPr id="251" name="FH1"/>
          <p:cNvSpPr/>
          <p:nvPr/>
        </p:nvSpPr>
        <p:spPr>
          <a:xfrm>
            <a:off x="2540000" y="2184400"/>
            <a:ext cx="1371600" cy="3302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FY2025A</a:t>
            </a:r>
          </a:p>
        </p:txBody>
      </p:sp>
      <p:sp>
        <p:nvSpPr>
          <p:cNvPr id="252" name="FH2"/>
          <p:cNvSpPr/>
          <p:nvPr/>
        </p:nvSpPr>
        <p:spPr>
          <a:xfrm>
            <a:off x="3962400" y="2184400"/>
            <a:ext cx="1371600" cy="3302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FY2026E</a:t>
            </a:r>
          </a:p>
        </p:txBody>
      </p:sp>
      <p:sp>
        <p:nvSpPr>
          <p:cNvPr id="253" name="FH3"/>
          <p:cNvSpPr/>
          <p:nvPr/>
        </p:nvSpPr>
        <p:spPr>
          <a:xfrm>
            <a:off x="5384800" y="2184400"/>
            <a:ext cx="1371600" cy="3302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FY2027E</a:t>
            </a:r>
          </a:p>
        </p:txBody>
      </p:sp>
      <p:sp>
        <p:nvSpPr>
          <p:cNvPr id="260" name="FL0"/>
          <p:cNvSpPr/>
          <p:nvPr/>
        </p:nvSpPr>
        <p:spPr>
          <a:xfrm>
            <a:off x="279400" y="2540000"/>
            <a:ext cx="2209800" cy="381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EBITDA ($M)</a:t>
            </a:r>
          </a:p>
        </p:txBody>
      </p:sp>
      <p:sp>
        <p:nvSpPr>
          <p:cNvPr id="261" name="FV0_0"/>
          <p:cNvSpPr/>
          <p:nvPr/>
        </p:nvSpPr>
        <p:spPr>
          <a:xfrm>
            <a:off x="2540000" y="2540000"/>
            <a:ext cx="1371600" cy="381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EFC400"/>
                </a:solidFill>
              </a:rPr>
              <a:t>$8,349</a:t>
            </a:r>
          </a:p>
        </p:txBody>
      </p:sp>
      <p:sp>
        <p:nvSpPr>
          <p:cNvPr id="262" name="FV0_1"/>
          <p:cNvSpPr/>
          <p:nvPr/>
        </p:nvSpPr>
        <p:spPr>
          <a:xfrm>
            <a:off x="3962400" y="2540000"/>
            <a:ext cx="1371600" cy="381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EFC400"/>
                </a:solidFill>
              </a:rPr>
              <a:t>$16,169</a:t>
            </a:r>
          </a:p>
        </p:txBody>
      </p:sp>
      <p:sp>
        <p:nvSpPr>
          <p:cNvPr id="263" name="FV0_2"/>
          <p:cNvSpPr/>
          <p:nvPr/>
        </p:nvSpPr>
        <p:spPr>
          <a:xfrm>
            <a:off x="5384800" y="2540000"/>
            <a:ext cx="1371600" cy="381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EFC400"/>
                </a:solidFill>
              </a:rPr>
              <a:t>$15,386</a:t>
            </a:r>
          </a:p>
        </p:txBody>
      </p:sp>
      <p:sp>
        <p:nvSpPr>
          <p:cNvPr id="270" name="FL1"/>
          <p:cNvSpPr/>
          <p:nvPr/>
        </p:nvSpPr>
        <p:spPr>
          <a:xfrm>
            <a:off x="279400" y="2933700"/>
            <a:ext cx="2209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Less: Taxes on EBIT</a:t>
            </a:r>
          </a:p>
        </p:txBody>
      </p:sp>
      <p:sp>
        <p:nvSpPr>
          <p:cNvPr id="271" name="FV1_0"/>
          <p:cNvSpPr/>
          <p:nvPr/>
        </p:nvSpPr>
        <p:spPr>
          <a:xfrm>
            <a:off x="2540000" y="2933700"/>
            <a:ext cx="1371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($1,692)</a:t>
            </a:r>
          </a:p>
        </p:txBody>
      </p:sp>
      <p:sp>
        <p:nvSpPr>
          <p:cNvPr id="272" name="FV1_1"/>
          <p:cNvSpPr/>
          <p:nvPr/>
        </p:nvSpPr>
        <p:spPr>
          <a:xfrm>
            <a:off x="3962400" y="2933700"/>
            <a:ext cx="1371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($4,505)</a:t>
            </a:r>
          </a:p>
        </p:txBody>
      </p:sp>
      <p:sp>
        <p:nvSpPr>
          <p:cNvPr id="273" name="FV1_2"/>
          <p:cNvSpPr/>
          <p:nvPr/>
        </p:nvSpPr>
        <p:spPr>
          <a:xfrm>
            <a:off x="5384800" y="2933700"/>
            <a:ext cx="1371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($4,208)</a:t>
            </a:r>
          </a:p>
        </p:txBody>
      </p:sp>
      <p:sp>
        <p:nvSpPr>
          <p:cNvPr id="280" name="FL2"/>
          <p:cNvSpPr/>
          <p:nvPr/>
        </p:nvSpPr>
        <p:spPr>
          <a:xfrm>
            <a:off x="279400" y="3327400"/>
            <a:ext cx="22098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NOPAT (EBIT after-tax)</a:t>
            </a:r>
          </a:p>
        </p:txBody>
      </p:sp>
      <p:sp>
        <p:nvSpPr>
          <p:cNvPr id="281" name="FV2_0"/>
          <p:cNvSpPr/>
          <p:nvPr/>
        </p:nvSpPr>
        <p:spPr>
          <a:xfrm>
            <a:off x="2540000" y="3327400"/>
            <a:ext cx="13716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$6,657</a:t>
            </a:r>
          </a:p>
        </p:txBody>
      </p:sp>
      <p:sp>
        <p:nvSpPr>
          <p:cNvPr id="282" name="FV2_1"/>
          <p:cNvSpPr/>
          <p:nvPr/>
        </p:nvSpPr>
        <p:spPr>
          <a:xfrm>
            <a:off x="3962400" y="3327400"/>
            <a:ext cx="13716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$11,664</a:t>
            </a:r>
          </a:p>
        </p:txBody>
      </p:sp>
      <p:sp>
        <p:nvSpPr>
          <p:cNvPr id="283" name="FV2_2"/>
          <p:cNvSpPr/>
          <p:nvPr/>
        </p:nvSpPr>
        <p:spPr>
          <a:xfrm>
            <a:off x="5384800" y="3327400"/>
            <a:ext cx="13716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$11,178</a:t>
            </a:r>
          </a:p>
        </p:txBody>
      </p:sp>
      <p:sp>
        <p:nvSpPr>
          <p:cNvPr id="290" name="FL3"/>
          <p:cNvSpPr/>
          <p:nvPr/>
        </p:nvSpPr>
        <p:spPr>
          <a:xfrm>
            <a:off x="279400" y="3721100"/>
            <a:ext cx="2209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Plus: D&amp;A ($M)</a:t>
            </a:r>
          </a:p>
        </p:txBody>
      </p:sp>
      <p:sp>
        <p:nvSpPr>
          <p:cNvPr id="291" name="FV3_0"/>
          <p:cNvSpPr/>
          <p:nvPr/>
        </p:nvSpPr>
        <p:spPr>
          <a:xfrm>
            <a:off x="2540000" y="3721100"/>
            <a:ext cx="1371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$1,645</a:t>
            </a:r>
          </a:p>
        </p:txBody>
      </p:sp>
      <p:sp>
        <p:nvSpPr>
          <p:cNvPr id="292" name="FV3_1"/>
          <p:cNvSpPr/>
          <p:nvPr/>
        </p:nvSpPr>
        <p:spPr>
          <a:xfrm>
            <a:off x="3962400" y="3721100"/>
            <a:ext cx="1371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$1,649</a:t>
            </a:r>
          </a:p>
        </p:txBody>
      </p:sp>
      <p:sp>
        <p:nvSpPr>
          <p:cNvPr id="293" name="FV3_2"/>
          <p:cNvSpPr/>
          <p:nvPr/>
        </p:nvSpPr>
        <p:spPr>
          <a:xfrm>
            <a:off x="5384800" y="3721100"/>
            <a:ext cx="1371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$1,682</a:t>
            </a:r>
          </a:p>
        </p:txBody>
      </p:sp>
      <p:sp>
        <p:nvSpPr>
          <p:cNvPr id="300" name="FL4"/>
          <p:cNvSpPr/>
          <p:nvPr/>
        </p:nvSpPr>
        <p:spPr>
          <a:xfrm>
            <a:off x="279400" y="4114800"/>
            <a:ext cx="22098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Less: Capex ($M)</a:t>
            </a:r>
          </a:p>
        </p:txBody>
      </p:sp>
      <p:sp>
        <p:nvSpPr>
          <p:cNvPr id="301" name="FV4_0"/>
          <p:cNvSpPr/>
          <p:nvPr/>
        </p:nvSpPr>
        <p:spPr>
          <a:xfrm>
            <a:off x="2540000" y="4114800"/>
            <a:ext cx="13716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($2,418)</a:t>
            </a:r>
          </a:p>
        </p:txBody>
      </p:sp>
      <p:sp>
        <p:nvSpPr>
          <p:cNvPr id="302" name="FV4_1"/>
          <p:cNvSpPr/>
          <p:nvPr/>
        </p:nvSpPr>
        <p:spPr>
          <a:xfrm>
            <a:off x="3962400" y="4114800"/>
            <a:ext cx="13716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($2,285)</a:t>
            </a:r>
          </a:p>
        </p:txBody>
      </p:sp>
      <p:sp>
        <p:nvSpPr>
          <p:cNvPr id="303" name="FV4_2"/>
          <p:cNvSpPr/>
          <p:nvPr/>
        </p:nvSpPr>
        <p:spPr>
          <a:xfrm>
            <a:off x="5384800" y="4114800"/>
            <a:ext cx="13716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($2,300)</a:t>
            </a:r>
          </a:p>
        </p:txBody>
      </p:sp>
      <p:sp>
        <p:nvSpPr>
          <p:cNvPr id="310" name="FL5"/>
          <p:cNvSpPr/>
          <p:nvPr/>
        </p:nvSpPr>
        <p:spPr>
          <a:xfrm>
            <a:off x="279400" y="4508500"/>
            <a:ext cx="2209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Change in Working Capital</a:t>
            </a:r>
          </a:p>
        </p:txBody>
      </p:sp>
      <p:sp>
        <p:nvSpPr>
          <p:cNvPr id="311" name="FV5_0"/>
          <p:cNvSpPr/>
          <p:nvPr/>
        </p:nvSpPr>
        <p:spPr>
          <a:xfrm>
            <a:off x="2540000" y="4508500"/>
            <a:ext cx="1371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+$804</a:t>
            </a:r>
          </a:p>
        </p:txBody>
      </p:sp>
      <p:sp>
        <p:nvSpPr>
          <p:cNvPr id="312" name="FV5_1"/>
          <p:cNvSpPr/>
          <p:nvPr/>
        </p:nvSpPr>
        <p:spPr>
          <a:xfrm>
            <a:off x="3962400" y="4508500"/>
            <a:ext cx="1371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($200)</a:t>
            </a:r>
          </a:p>
        </p:txBody>
      </p:sp>
      <p:sp>
        <p:nvSpPr>
          <p:cNvPr id="313" name="FV5_2"/>
          <p:cNvSpPr/>
          <p:nvPr/>
        </p:nvSpPr>
        <p:spPr>
          <a:xfrm>
            <a:off x="5384800" y="4508500"/>
            <a:ext cx="1371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+$50</a:t>
            </a:r>
          </a:p>
        </p:txBody>
      </p:sp>
      <p:sp>
        <p:nvSpPr>
          <p:cNvPr id="320" name="FL6"/>
          <p:cNvSpPr/>
          <p:nvPr/>
        </p:nvSpPr>
        <p:spPr>
          <a:xfrm>
            <a:off x="279400" y="4902200"/>
            <a:ext cx="2209800" cy="381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UNLEVERED FCF ($M)</a:t>
            </a:r>
          </a:p>
        </p:txBody>
      </p:sp>
      <p:sp>
        <p:nvSpPr>
          <p:cNvPr id="321" name="FV6_0"/>
          <p:cNvSpPr/>
          <p:nvPr/>
        </p:nvSpPr>
        <p:spPr>
          <a:xfrm>
            <a:off x="2540000" y="4902200"/>
            <a:ext cx="1371600" cy="381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EFC400"/>
                </a:solidFill>
              </a:rPr>
              <a:t>$6,688</a:t>
            </a:r>
          </a:p>
        </p:txBody>
      </p:sp>
      <p:sp>
        <p:nvSpPr>
          <p:cNvPr id="322" name="FV6_1"/>
          <p:cNvSpPr/>
          <p:nvPr/>
        </p:nvSpPr>
        <p:spPr>
          <a:xfrm>
            <a:off x="3962400" y="4902200"/>
            <a:ext cx="1371600" cy="381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EFC400"/>
                </a:solidFill>
              </a:rPr>
              <a:t>$10,828</a:t>
            </a:r>
          </a:p>
        </p:txBody>
      </p:sp>
      <p:sp>
        <p:nvSpPr>
          <p:cNvPr id="323" name="FV6_2"/>
          <p:cNvSpPr/>
          <p:nvPr/>
        </p:nvSpPr>
        <p:spPr>
          <a:xfrm>
            <a:off x="5384800" y="4902200"/>
            <a:ext cx="1371600" cy="381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b="1" dirty="0">
                <a:solidFill>
                  <a:srgbClr val="EFC400"/>
                </a:solidFill>
              </a:rPr>
              <a:t>$10,610</a:t>
            </a:r>
          </a:p>
        </p:txBody>
      </p:sp>
      <p:sp>
        <p:nvSpPr>
          <p:cNvPr id="2" name="VDiv"/>
          <p:cNvSpPr/>
          <p:nvPr/>
        </p:nvSpPr>
        <p:spPr>
          <a:xfrm>
            <a:off x="7035800" y="1854200"/>
            <a:ext cx="25400" cy="48260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3" name="DSHdr"/>
          <p:cNvSpPr/>
          <p:nvPr/>
        </p:nvSpPr>
        <p:spPr>
          <a:xfrm>
            <a:off x="7137400" y="1930400"/>
            <a:ext cx="477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DCF VALUATION SUMMARY</a:t>
            </a:r>
          </a:p>
        </p:txBody>
      </p:sp>
      <p:sp>
        <p:nvSpPr>
          <p:cNvPr id="4" name="Sum0"/>
          <p:cNvSpPr/>
          <p:nvPr/>
        </p:nvSpPr>
        <p:spPr>
          <a:xfrm>
            <a:off x="7137400" y="2260600"/>
            <a:ext cx="4775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dirty="0">
                <a:solidFill>
                  <a:srgbClr val="3D3D3D"/>
                </a:solidFill>
              </a:rPr>
              <a:t>PV of FCFs (FY2025-2029):  $43.3B  (28.5% of EV)</a:t>
            </a:r>
          </a:p>
        </p:txBody>
      </p:sp>
      <p:sp>
        <p:nvSpPr>
          <p:cNvPr id="5" name="Sum1"/>
          <p:cNvSpPr/>
          <p:nvPr/>
        </p:nvSpPr>
        <p:spPr>
          <a:xfrm>
            <a:off x="7137400" y="2628900"/>
            <a:ext cx="4775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dirty="0">
                <a:solidFill>
                  <a:srgbClr val="3D3D3D"/>
                </a:solidFill>
              </a:rPr>
              <a:t>PV of Terminal Value (8x exit):  $108.5B  (71.5% of EV)</a:t>
            </a:r>
          </a:p>
        </p:txBody>
      </p:sp>
      <p:sp>
        <p:nvSpPr>
          <p:cNvPr id="6" name="Sum2"/>
          <p:cNvSpPr/>
          <p:nvPr/>
        </p:nvSpPr>
        <p:spPr>
          <a:xfrm>
            <a:off x="7137400" y="2997200"/>
            <a:ext cx="4775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dirty="0">
                <a:solidFill>
                  <a:srgbClr val="3D3D3D"/>
                </a:solidFill>
              </a:rPr>
              <a:t>Enterprise Value:  $151.8B</a:t>
            </a:r>
          </a:p>
        </p:txBody>
      </p:sp>
      <p:sp>
        <p:nvSpPr>
          <p:cNvPr id="7" name="Sum3"/>
          <p:cNvSpPr/>
          <p:nvPr/>
        </p:nvSpPr>
        <p:spPr>
          <a:xfrm>
            <a:off x="7137400" y="3365500"/>
            <a:ext cx="4775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dirty="0">
                <a:solidFill>
                  <a:srgbClr val="3D3D3D"/>
                </a:solidFill>
              </a:rPr>
              <a:t>Plus Net Cash $25.1B / Less Debt ($100M):</a:t>
            </a:r>
          </a:p>
        </p:txBody>
      </p:sp>
      <p:sp>
        <p:nvSpPr>
          <p:cNvPr id="314" name="Sum4"/>
          <p:cNvSpPr/>
          <p:nvPr/>
        </p:nvSpPr>
        <p:spPr>
          <a:xfrm>
            <a:off x="7137400" y="3733800"/>
            <a:ext cx="4775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dirty="0">
                <a:solidFill>
                  <a:srgbClr val="3D3D3D"/>
                </a:solidFill>
              </a:rPr>
              <a:t>Equity Value:  $176.9B</a:t>
            </a:r>
          </a:p>
        </p:txBody>
      </p:sp>
      <p:sp>
        <p:nvSpPr>
          <p:cNvPr id="315" name="Sum5"/>
          <p:cNvSpPr/>
          <p:nvPr/>
        </p:nvSpPr>
        <p:spPr>
          <a:xfrm>
            <a:off x="7137400" y="4102100"/>
            <a:ext cx="4775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dirty="0">
                <a:solidFill>
                  <a:srgbClr val="3D3D3D"/>
                </a:solidFill>
              </a:rPr>
              <a:t>Shares Outstanding:  493M shares</a:t>
            </a:r>
          </a:p>
        </p:txBody>
      </p:sp>
      <p:sp>
        <p:nvSpPr>
          <p:cNvPr id="316" name="Sum6"/>
          <p:cNvSpPr/>
          <p:nvPr/>
        </p:nvSpPr>
        <p:spPr>
          <a:xfrm>
            <a:off x="7137400" y="4470400"/>
            <a:ext cx="47752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b="1" dirty="0">
                <a:solidFill>
                  <a:srgbClr val="EFC400"/>
                </a:solidFill>
              </a:rPr>
              <a:t>INTRINSIC VALUE (DCF):  $371 / share</a:t>
            </a:r>
          </a:p>
        </p:txBody>
      </p:sp>
      <p:sp>
        <p:nvSpPr>
          <p:cNvPr id="8" name="AsmpHdr"/>
          <p:cNvSpPr/>
          <p:nvPr/>
        </p:nvSpPr>
        <p:spPr>
          <a:xfrm>
            <a:off x="7137400" y="4914900"/>
            <a:ext cx="477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KEY ASSUMPTIONS</a:t>
            </a:r>
          </a:p>
        </p:txBody>
      </p:sp>
      <p:sp>
        <p:nvSpPr>
          <p:cNvPr id="9" name="Asmp1"/>
          <p:cNvSpPr/>
          <p:nvPr/>
        </p:nvSpPr>
        <p:spPr>
          <a:xfrm>
            <a:off x="7137400" y="5168900"/>
            <a:ext cx="4775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WACC: 7.59%  |  Ke: 9.2%  |  D/TC: 10%  |  Tax Rate: 28%</a:t>
            </a:r>
          </a:p>
        </p:txBody>
      </p:sp>
      <p:sp>
        <p:nvSpPr>
          <p:cNvPr id="10" name="Asmp2"/>
          <p:cNvSpPr/>
          <p:nvPr/>
        </p:nvSpPr>
        <p:spPr>
          <a:xfrm>
            <a:off x="7137400" y="5448300"/>
            <a:ext cx="4775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8x exit multiple on $18,853M FY2029E EBITDA → TV = $150.8B</a:t>
            </a:r>
          </a:p>
        </p:txBody>
      </p:sp>
      <p:sp>
        <p:nvSpPr>
          <p:cNvPr id="11" name="Asmp3"/>
          <p:cNvSpPr/>
          <p:nvPr/>
        </p:nvSpPr>
        <p:spPr>
          <a:xfrm>
            <a:off x="7137400" y="5727700"/>
            <a:ext cx="4775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Blended PT: 50% DCF ($371) + 30% NAV ($162) + 20% Comps ($329) = $300</a:t>
            </a:r>
          </a:p>
        </p:txBody>
      </p:sp>
      <p:sp>
        <p:nvSpPr>
          <p:cNvPr id="400" name="Src"/>
          <p:cNvSpPr/>
          <p:nvPr/>
        </p:nvSpPr>
        <p:spPr>
          <a:xfrm>
            <a:off x="113145" y="6388100"/>
            <a:ext cx="1163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900" i="1" dirty="0">
                <a:solidFill>
                  <a:srgbClr val="555555"/>
                </a:solidFill>
              </a:rPr>
              <a:t>Source: AEM-model.xlsx DCF tab. All projections are author estimates. Gold price assumption $6,000/oz. Not investment advice.</a:t>
            </a:r>
          </a:p>
        </p:txBody>
      </p:sp>
    </p:spTree>
    <p:extLst>
      <p:ext uri="{BB962C8B-B14F-4D97-AF65-F5344CB8AC3E}">
        <p14:creationId xmlns:p14="http://schemas.microsoft.com/office/powerpoint/2010/main" val="2115354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ecLbl"/>
          <p:cNvSpPr/>
          <p:nvPr/>
        </p:nvSpPr>
        <p:spPr>
          <a:xfrm>
            <a:off x="279400" y="127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8A6C00"/>
                </a:solidFill>
              </a:rPr>
              <a:t>COMPARABLE COMPANIES ANALYSIS</a:t>
            </a:r>
          </a:p>
        </p:txBody>
      </p:sp>
      <p:sp>
        <p:nvSpPr>
          <p:cNvPr id="105" name="SNum"/>
          <p:cNvSpPr/>
          <p:nvPr/>
        </p:nvSpPr>
        <p:spPr>
          <a:xfrm>
            <a:off x="11582400" y="127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106" name="Title"/>
          <p:cNvSpPr/>
          <p:nvPr/>
        </p:nvSpPr>
        <p:spPr>
          <a:xfrm>
            <a:off x="279400" y="381000"/>
            <a:ext cx="116332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500" dirty="0">
                <a:solidFill>
                  <a:srgbClr val="221F1F"/>
                </a:solidFill>
              </a:rPr>
              <a:t>AEM at 10x EV/EBITDA — 60% Premium to 6.25x Peer Median — Justified by AISC Leadership, Tier 1 Jurisdictions &amp; Reserve Quality</a:t>
            </a:r>
          </a:p>
        </p:txBody>
      </p:sp>
      <p:sp>
        <p:nvSpPr>
          <p:cNvPr id="107" name="Div1"/>
          <p:cNvSpPr/>
          <p:nvPr/>
        </p:nvSpPr>
        <p:spPr>
          <a:xfrm>
            <a:off x="279400" y="889000"/>
            <a:ext cx="11633200" cy="254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08" name="T1Hdr"/>
          <p:cNvSpPr/>
          <p:nvPr/>
        </p:nvSpPr>
        <p:spPr>
          <a:xfrm>
            <a:off x="279400" y="977900"/>
            <a:ext cx="1163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OPERATIONAL &amp; FINANCIAL METRICS</a:t>
            </a:r>
          </a:p>
        </p:txBody>
      </p:sp>
      <p:sp>
        <p:nvSpPr>
          <p:cNvPr id="200" name="H10"/>
          <p:cNvSpPr/>
          <p:nvPr/>
        </p:nvSpPr>
        <p:spPr>
          <a:xfrm>
            <a:off x="279400" y="1231900"/>
            <a:ext cx="23368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8A6C00"/>
                </a:solidFill>
              </a:rPr>
              <a:t>Company</a:t>
            </a:r>
          </a:p>
        </p:txBody>
      </p:sp>
      <p:sp>
        <p:nvSpPr>
          <p:cNvPr id="201" name="H11"/>
          <p:cNvSpPr/>
          <p:nvPr/>
        </p:nvSpPr>
        <p:spPr>
          <a:xfrm>
            <a:off x="2667000" y="1231900"/>
            <a:ext cx="11430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Mkt Cap</a:t>
            </a:r>
          </a:p>
        </p:txBody>
      </p:sp>
      <p:sp>
        <p:nvSpPr>
          <p:cNvPr id="202" name="H12"/>
          <p:cNvSpPr/>
          <p:nvPr/>
        </p:nvSpPr>
        <p:spPr>
          <a:xfrm>
            <a:off x="3873500" y="1231900"/>
            <a:ext cx="10160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Prod (Koz)</a:t>
            </a:r>
          </a:p>
        </p:txBody>
      </p:sp>
      <p:sp>
        <p:nvSpPr>
          <p:cNvPr id="203" name="H13"/>
          <p:cNvSpPr/>
          <p:nvPr/>
        </p:nvSpPr>
        <p:spPr>
          <a:xfrm>
            <a:off x="4953000" y="1231900"/>
            <a:ext cx="11430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AISC ($/oz)</a:t>
            </a:r>
          </a:p>
        </p:txBody>
      </p:sp>
      <p:sp>
        <p:nvSpPr>
          <p:cNvPr id="204" name="H14"/>
          <p:cNvSpPr/>
          <p:nvPr/>
        </p:nvSpPr>
        <p:spPr>
          <a:xfrm>
            <a:off x="6159500" y="1231900"/>
            <a:ext cx="11430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P&amp;P (Moz)</a:t>
            </a:r>
          </a:p>
        </p:txBody>
      </p:sp>
      <p:sp>
        <p:nvSpPr>
          <p:cNvPr id="205" name="H15"/>
          <p:cNvSpPr/>
          <p:nvPr/>
        </p:nvSpPr>
        <p:spPr>
          <a:xfrm>
            <a:off x="7366000" y="1231900"/>
            <a:ext cx="10160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Life (yr)</a:t>
            </a:r>
          </a:p>
        </p:txBody>
      </p:sp>
      <p:sp>
        <p:nvSpPr>
          <p:cNvPr id="206" name="H16"/>
          <p:cNvSpPr/>
          <p:nvPr/>
        </p:nvSpPr>
        <p:spPr>
          <a:xfrm>
            <a:off x="8445500" y="1231900"/>
            <a:ext cx="11430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ND/EBITDA</a:t>
            </a:r>
          </a:p>
        </p:txBody>
      </p:sp>
      <p:sp>
        <p:nvSpPr>
          <p:cNvPr id="207" name="H17"/>
          <p:cNvSpPr/>
          <p:nvPr/>
        </p:nvSpPr>
        <p:spPr>
          <a:xfrm>
            <a:off x="9652000" y="1231900"/>
            <a:ext cx="17780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Jurisdiction</a:t>
            </a:r>
          </a:p>
        </p:txBody>
      </p:sp>
      <p:sp>
        <p:nvSpPr>
          <p:cNvPr id="210" name="R10_0"/>
          <p:cNvSpPr/>
          <p:nvPr/>
        </p:nvSpPr>
        <p:spPr>
          <a:xfrm>
            <a:off x="279400" y="1562100"/>
            <a:ext cx="23368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Agnico Eagle (AEM)</a:t>
            </a:r>
          </a:p>
        </p:txBody>
      </p:sp>
      <p:sp>
        <p:nvSpPr>
          <p:cNvPr id="211" name="R10_1"/>
          <p:cNvSpPr/>
          <p:nvPr/>
        </p:nvSpPr>
        <p:spPr>
          <a:xfrm>
            <a:off x="2667000" y="1562100"/>
            <a:ext cx="11430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~$121B</a:t>
            </a:r>
          </a:p>
        </p:txBody>
      </p:sp>
      <p:sp>
        <p:nvSpPr>
          <p:cNvPr id="212" name="R10_2"/>
          <p:cNvSpPr/>
          <p:nvPr/>
        </p:nvSpPr>
        <p:spPr>
          <a:xfrm>
            <a:off x="3873500" y="1562100"/>
            <a:ext cx="10160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3,447</a:t>
            </a:r>
          </a:p>
        </p:txBody>
      </p:sp>
      <p:sp>
        <p:nvSpPr>
          <p:cNvPr id="213" name="R10_3"/>
          <p:cNvSpPr/>
          <p:nvPr/>
        </p:nvSpPr>
        <p:spPr>
          <a:xfrm>
            <a:off x="4953000" y="1562100"/>
            <a:ext cx="11430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$1,339</a:t>
            </a:r>
          </a:p>
        </p:txBody>
      </p:sp>
      <p:sp>
        <p:nvSpPr>
          <p:cNvPr id="214" name="R10_4"/>
          <p:cNvSpPr/>
          <p:nvPr/>
        </p:nvSpPr>
        <p:spPr>
          <a:xfrm>
            <a:off x="6159500" y="1562100"/>
            <a:ext cx="11430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55.4</a:t>
            </a:r>
          </a:p>
        </p:txBody>
      </p:sp>
      <p:sp>
        <p:nvSpPr>
          <p:cNvPr id="215" name="R10_5"/>
          <p:cNvSpPr/>
          <p:nvPr/>
        </p:nvSpPr>
        <p:spPr>
          <a:xfrm>
            <a:off x="7366000" y="1562100"/>
            <a:ext cx="10160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~15</a:t>
            </a:r>
          </a:p>
        </p:txBody>
      </p:sp>
      <p:sp>
        <p:nvSpPr>
          <p:cNvPr id="216" name="R10_6"/>
          <p:cNvSpPr/>
          <p:nvPr/>
        </p:nvSpPr>
        <p:spPr>
          <a:xfrm>
            <a:off x="8445500" y="1562100"/>
            <a:ext cx="11430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-0.32x</a:t>
            </a:r>
          </a:p>
        </p:txBody>
      </p:sp>
      <p:sp>
        <p:nvSpPr>
          <p:cNvPr id="217" name="R10_7"/>
          <p:cNvSpPr/>
          <p:nvPr/>
        </p:nvSpPr>
        <p:spPr>
          <a:xfrm>
            <a:off x="9652000" y="1562100"/>
            <a:ext cx="17780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CAN/AUS/FIN</a:t>
            </a:r>
          </a:p>
        </p:txBody>
      </p:sp>
      <p:sp>
        <p:nvSpPr>
          <p:cNvPr id="220" name="R11_0"/>
          <p:cNvSpPr/>
          <p:nvPr/>
        </p:nvSpPr>
        <p:spPr>
          <a:xfrm>
            <a:off x="279400" y="1930400"/>
            <a:ext cx="23368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Newmont Corp (NEM)</a:t>
            </a:r>
          </a:p>
        </p:txBody>
      </p:sp>
      <p:sp>
        <p:nvSpPr>
          <p:cNvPr id="221" name="R11_1"/>
          <p:cNvSpPr/>
          <p:nvPr/>
        </p:nvSpPr>
        <p:spPr>
          <a:xfrm>
            <a:off x="2667000" y="1930400"/>
            <a:ext cx="1143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~$58B</a:t>
            </a:r>
          </a:p>
        </p:txBody>
      </p:sp>
      <p:sp>
        <p:nvSpPr>
          <p:cNvPr id="222" name="R11_2"/>
          <p:cNvSpPr/>
          <p:nvPr/>
        </p:nvSpPr>
        <p:spPr>
          <a:xfrm>
            <a:off x="3873500" y="1930400"/>
            <a:ext cx="1016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6,800</a:t>
            </a:r>
          </a:p>
        </p:txBody>
      </p:sp>
      <p:sp>
        <p:nvSpPr>
          <p:cNvPr id="223" name="R11_3"/>
          <p:cNvSpPr/>
          <p:nvPr/>
        </p:nvSpPr>
        <p:spPr>
          <a:xfrm>
            <a:off x="4953000" y="1930400"/>
            <a:ext cx="1143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$1,575</a:t>
            </a:r>
          </a:p>
        </p:txBody>
      </p:sp>
      <p:sp>
        <p:nvSpPr>
          <p:cNvPr id="224" name="R11_4"/>
          <p:cNvSpPr/>
          <p:nvPr/>
        </p:nvSpPr>
        <p:spPr>
          <a:xfrm>
            <a:off x="6159500" y="1930400"/>
            <a:ext cx="1143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128.0</a:t>
            </a:r>
          </a:p>
        </p:txBody>
      </p:sp>
      <p:sp>
        <p:nvSpPr>
          <p:cNvPr id="225" name="R11_5"/>
          <p:cNvSpPr/>
          <p:nvPr/>
        </p:nvSpPr>
        <p:spPr>
          <a:xfrm>
            <a:off x="7366000" y="1930400"/>
            <a:ext cx="1016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~17</a:t>
            </a:r>
          </a:p>
        </p:txBody>
      </p:sp>
      <p:sp>
        <p:nvSpPr>
          <p:cNvPr id="226" name="R11_6"/>
          <p:cNvSpPr/>
          <p:nvPr/>
        </p:nvSpPr>
        <p:spPr>
          <a:xfrm>
            <a:off x="8445500" y="1930400"/>
            <a:ext cx="1143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0.6x</a:t>
            </a:r>
          </a:p>
        </p:txBody>
      </p:sp>
      <p:sp>
        <p:nvSpPr>
          <p:cNvPr id="227" name="R11_7"/>
          <p:cNvSpPr/>
          <p:nvPr/>
        </p:nvSpPr>
        <p:spPr>
          <a:xfrm>
            <a:off x="9652000" y="1930400"/>
            <a:ext cx="1778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Global</a:t>
            </a:r>
          </a:p>
        </p:txBody>
      </p:sp>
      <p:sp>
        <p:nvSpPr>
          <p:cNvPr id="230" name="R12_0"/>
          <p:cNvSpPr/>
          <p:nvPr/>
        </p:nvSpPr>
        <p:spPr>
          <a:xfrm>
            <a:off x="279400" y="2298700"/>
            <a:ext cx="23368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Barrick Gold (GOLD)</a:t>
            </a:r>
          </a:p>
        </p:txBody>
      </p:sp>
      <p:sp>
        <p:nvSpPr>
          <p:cNvPr id="231" name="R12_1"/>
          <p:cNvSpPr/>
          <p:nvPr/>
        </p:nvSpPr>
        <p:spPr>
          <a:xfrm>
            <a:off x="2667000" y="2298700"/>
            <a:ext cx="1143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~$36B</a:t>
            </a:r>
          </a:p>
        </p:txBody>
      </p:sp>
      <p:sp>
        <p:nvSpPr>
          <p:cNvPr id="232" name="R12_2"/>
          <p:cNvSpPr/>
          <p:nvPr/>
        </p:nvSpPr>
        <p:spPr>
          <a:xfrm>
            <a:off x="3873500" y="2298700"/>
            <a:ext cx="1016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3,720</a:t>
            </a:r>
          </a:p>
        </p:txBody>
      </p:sp>
      <p:sp>
        <p:nvSpPr>
          <p:cNvPr id="233" name="R12_3"/>
          <p:cNvSpPr/>
          <p:nvPr/>
        </p:nvSpPr>
        <p:spPr>
          <a:xfrm>
            <a:off x="4953000" y="2298700"/>
            <a:ext cx="1143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$1,450</a:t>
            </a:r>
          </a:p>
        </p:txBody>
      </p:sp>
      <p:sp>
        <p:nvSpPr>
          <p:cNvPr id="234" name="R12_4"/>
          <p:cNvSpPr/>
          <p:nvPr/>
        </p:nvSpPr>
        <p:spPr>
          <a:xfrm>
            <a:off x="6159500" y="2298700"/>
            <a:ext cx="1143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76.0</a:t>
            </a:r>
          </a:p>
        </p:txBody>
      </p:sp>
      <p:sp>
        <p:nvSpPr>
          <p:cNvPr id="235" name="R12_5"/>
          <p:cNvSpPr/>
          <p:nvPr/>
        </p:nvSpPr>
        <p:spPr>
          <a:xfrm>
            <a:off x="7366000" y="2298700"/>
            <a:ext cx="1016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~20</a:t>
            </a:r>
          </a:p>
        </p:txBody>
      </p:sp>
      <p:sp>
        <p:nvSpPr>
          <p:cNvPr id="236" name="R12_6"/>
          <p:cNvSpPr/>
          <p:nvPr/>
        </p:nvSpPr>
        <p:spPr>
          <a:xfrm>
            <a:off x="8445500" y="2298700"/>
            <a:ext cx="1143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0.2x</a:t>
            </a:r>
          </a:p>
        </p:txBody>
      </p:sp>
      <p:sp>
        <p:nvSpPr>
          <p:cNvPr id="237" name="R12_7"/>
          <p:cNvSpPr/>
          <p:nvPr/>
        </p:nvSpPr>
        <p:spPr>
          <a:xfrm>
            <a:off x="9652000" y="2298700"/>
            <a:ext cx="1778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Africa/LatAm</a:t>
            </a:r>
          </a:p>
        </p:txBody>
      </p:sp>
      <p:sp>
        <p:nvSpPr>
          <p:cNvPr id="240" name="R13_0"/>
          <p:cNvSpPr/>
          <p:nvPr/>
        </p:nvSpPr>
        <p:spPr>
          <a:xfrm>
            <a:off x="279400" y="2667000"/>
            <a:ext cx="23368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AngloGold Ashanti (AU)</a:t>
            </a:r>
          </a:p>
        </p:txBody>
      </p:sp>
      <p:sp>
        <p:nvSpPr>
          <p:cNvPr id="241" name="R13_1"/>
          <p:cNvSpPr/>
          <p:nvPr/>
        </p:nvSpPr>
        <p:spPr>
          <a:xfrm>
            <a:off x="2667000" y="2667000"/>
            <a:ext cx="1143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~$14B</a:t>
            </a:r>
          </a:p>
        </p:txBody>
      </p:sp>
      <p:sp>
        <p:nvSpPr>
          <p:cNvPr id="242" name="R13_2"/>
          <p:cNvSpPr/>
          <p:nvPr/>
        </p:nvSpPr>
        <p:spPr>
          <a:xfrm>
            <a:off x="3873500" y="2667000"/>
            <a:ext cx="1016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2,660</a:t>
            </a:r>
          </a:p>
        </p:txBody>
      </p:sp>
      <p:sp>
        <p:nvSpPr>
          <p:cNvPr id="243" name="R13_3"/>
          <p:cNvSpPr/>
          <p:nvPr/>
        </p:nvSpPr>
        <p:spPr>
          <a:xfrm>
            <a:off x="4953000" y="2667000"/>
            <a:ext cx="1143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$1,528</a:t>
            </a:r>
          </a:p>
        </p:txBody>
      </p:sp>
      <p:sp>
        <p:nvSpPr>
          <p:cNvPr id="244" name="R13_4"/>
          <p:cNvSpPr/>
          <p:nvPr/>
        </p:nvSpPr>
        <p:spPr>
          <a:xfrm>
            <a:off x="6159500" y="2667000"/>
            <a:ext cx="1143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30.8</a:t>
            </a:r>
          </a:p>
        </p:txBody>
      </p:sp>
      <p:sp>
        <p:nvSpPr>
          <p:cNvPr id="245" name="R13_5"/>
          <p:cNvSpPr/>
          <p:nvPr/>
        </p:nvSpPr>
        <p:spPr>
          <a:xfrm>
            <a:off x="7366000" y="2667000"/>
            <a:ext cx="1016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~13</a:t>
            </a:r>
          </a:p>
        </p:txBody>
      </p:sp>
      <p:sp>
        <p:nvSpPr>
          <p:cNvPr id="246" name="R13_6"/>
          <p:cNvSpPr/>
          <p:nvPr/>
        </p:nvSpPr>
        <p:spPr>
          <a:xfrm>
            <a:off x="8445500" y="2667000"/>
            <a:ext cx="1143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0.9x</a:t>
            </a:r>
          </a:p>
        </p:txBody>
      </p:sp>
      <p:sp>
        <p:nvSpPr>
          <p:cNvPr id="247" name="R13_7"/>
          <p:cNvSpPr/>
          <p:nvPr/>
        </p:nvSpPr>
        <p:spPr>
          <a:xfrm>
            <a:off x="9652000" y="2667000"/>
            <a:ext cx="1778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Africa/LatAm</a:t>
            </a:r>
          </a:p>
        </p:txBody>
      </p:sp>
      <p:sp>
        <p:nvSpPr>
          <p:cNvPr id="250" name="R14_0"/>
          <p:cNvSpPr/>
          <p:nvPr/>
        </p:nvSpPr>
        <p:spPr>
          <a:xfrm>
            <a:off x="279400" y="3035300"/>
            <a:ext cx="23368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Kinross Gold (KGC)</a:t>
            </a:r>
          </a:p>
        </p:txBody>
      </p:sp>
      <p:sp>
        <p:nvSpPr>
          <p:cNvPr id="251" name="R14_1"/>
          <p:cNvSpPr/>
          <p:nvPr/>
        </p:nvSpPr>
        <p:spPr>
          <a:xfrm>
            <a:off x="2667000" y="3035300"/>
            <a:ext cx="1143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~$17B</a:t>
            </a:r>
          </a:p>
        </p:txBody>
      </p:sp>
      <p:sp>
        <p:nvSpPr>
          <p:cNvPr id="252" name="R14_2"/>
          <p:cNvSpPr/>
          <p:nvPr/>
        </p:nvSpPr>
        <p:spPr>
          <a:xfrm>
            <a:off x="3873500" y="3035300"/>
            <a:ext cx="1016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2,100</a:t>
            </a:r>
          </a:p>
        </p:txBody>
      </p:sp>
      <p:sp>
        <p:nvSpPr>
          <p:cNvPr id="253" name="R14_3"/>
          <p:cNvSpPr/>
          <p:nvPr/>
        </p:nvSpPr>
        <p:spPr>
          <a:xfrm>
            <a:off x="4953000" y="3035300"/>
            <a:ext cx="1143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$1,340</a:t>
            </a:r>
          </a:p>
        </p:txBody>
      </p:sp>
      <p:sp>
        <p:nvSpPr>
          <p:cNvPr id="254" name="R14_4"/>
          <p:cNvSpPr/>
          <p:nvPr/>
        </p:nvSpPr>
        <p:spPr>
          <a:xfrm>
            <a:off x="6159500" y="3035300"/>
            <a:ext cx="1143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26.0</a:t>
            </a:r>
          </a:p>
        </p:txBody>
      </p:sp>
      <p:sp>
        <p:nvSpPr>
          <p:cNvPr id="255" name="R14_5"/>
          <p:cNvSpPr/>
          <p:nvPr/>
        </p:nvSpPr>
        <p:spPr>
          <a:xfrm>
            <a:off x="7366000" y="3035300"/>
            <a:ext cx="1016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~17</a:t>
            </a:r>
          </a:p>
        </p:txBody>
      </p:sp>
      <p:sp>
        <p:nvSpPr>
          <p:cNvPr id="256" name="R14_6"/>
          <p:cNvSpPr/>
          <p:nvPr/>
        </p:nvSpPr>
        <p:spPr>
          <a:xfrm>
            <a:off x="8445500" y="3035300"/>
            <a:ext cx="1143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0.4x</a:t>
            </a:r>
          </a:p>
        </p:txBody>
      </p:sp>
      <p:sp>
        <p:nvSpPr>
          <p:cNvPr id="257" name="R14_7"/>
          <p:cNvSpPr/>
          <p:nvPr/>
        </p:nvSpPr>
        <p:spPr>
          <a:xfrm>
            <a:off x="9652000" y="3035300"/>
            <a:ext cx="17780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Global</a:t>
            </a:r>
          </a:p>
        </p:txBody>
      </p:sp>
      <p:sp>
        <p:nvSpPr>
          <p:cNvPr id="260" name="R15_0"/>
          <p:cNvSpPr/>
          <p:nvPr/>
        </p:nvSpPr>
        <p:spPr>
          <a:xfrm>
            <a:off x="279400" y="3403600"/>
            <a:ext cx="23368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62666A"/>
                </a:solidFill>
              </a:rPr>
              <a:t>PEER MEDIAN</a:t>
            </a:r>
          </a:p>
        </p:txBody>
      </p:sp>
      <p:sp>
        <p:nvSpPr>
          <p:cNvPr id="261" name="R15_1"/>
          <p:cNvSpPr/>
          <p:nvPr/>
        </p:nvSpPr>
        <p:spPr>
          <a:xfrm>
            <a:off x="2667000" y="3403600"/>
            <a:ext cx="1143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endParaRPr/>
          </a:p>
        </p:txBody>
      </p:sp>
      <p:sp>
        <p:nvSpPr>
          <p:cNvPr id="262" name="R15_2"/>
          <p:cNvSpPr/>
          <p:nvPr/>
        </p:nvSpPr>
        <p:spPr>
          <a:xfrm>
            <a:off x="3873500" y="3403600"/>
            <a:ext cx="1016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62666A"/>
                </a:solidFill>
              </a:rPr>
              <a:t>~3,200</a:t>
            </a:r>
          </a:p>
        </p:txBody>
      </p:sp>
      <p:sp>
        <p:nvSpPr>
          <p:cNvPr id="263" name="R15_3"/>
          <p:cNvSpPr/>
          <p:nvPr/>
        </p:nvSpPr>
        <p:spPr>
          <a:xfrm>
            <a:off x="4953000" y="3403600"/>
            <a:ext cx="1143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62666A"/>
                </a:solidFill>
              </a:rPr>
              <a:t>~$1,530</a:t>
            </a:r>
          </a:p>
        </p:txBody>
      </p:sp>
      <p:sp>
        <p:nvSpPr>
          <p:cNvPr id="264" name="R15_4"/>
          <p:cNvSpPr/>
          <p:nvPr/>
        </p:nvSpPr>
        <p:spPr>
          <a:xfrm>
            <a:off x="6159500" y="3403600"/>
            <a:ext cx="1143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endParaRPr/>
          </a:p>
        </p:txBody>
      </p:sp>
      <p:sp>
        <p:nvSpPr>
          <p:cNvPr id="265" name="R15_5"/>
          <p:cNvSpPr/>
          <p:nvPr/>
        </p:nvSpPr>
        <p:spPr>
          <a:xfrm>
            <a:off x="7366000" y="3403600"/>
            <a:ext cx="1016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endParaRPr/>
          </a:p>
        </p:txBody>
      </p:sp>
      <p:sp>
        <p:nvSpPr>
          <p:cNvPr id="266" name="R15_6"/>
          <p:cNvSpPr/>
          <p:nvPr/>
        </p:nvSpPr>
        <p:spPr>
          <a:xfrm>
            <a:off x="8445500" y="3403600"/>
            <a:ext cx="1143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62666A"/>
                </a:solidFill>
              </a:rPr>
              <a:t>0.4x</a:t>
            </a:r>
          </a:p>
        </p:txBody>
      </p:sp>
      <p:sp>
        <p:nvSpPr>
          <p:cNvPr id="267" name="R15_7"/>
          <p:cNvSpPr/>
          <p:nvPr/>
        </p:nvSpPr>
        <p:spPr>
          <a:xfrm>
            <a:off x="9652000" y="3403600"/>
            <a:ext cx="1778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endParaRPr/>
          </a:p>
        </p:txBody>
      </p:sp>
      <p:sp>
        <p:nvSpPr>
          <p:cNvPr id="290" name="T2Sep"/>
          <p:cNvSpPr/>
          <p:nvPr/>
        </p:nvSpPr>
        <p:spPr>
          <a:xfrm>
            <a:off x="279400" y="3848100"/>
            <a:ext cx="11633200" cy="254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91" name="T2Hdr"/>
          <p:cNvSpPr/>
          <p:nvPr/>
        </p:nvSpPr>
        <p:spPr>
          <a:xfrm>
            <a:off x="279400" y="3949700"/>
            <a:ext cx="1163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VALUATION MULTIPLES</a:t>
            </a:r>
          </a:p>
        </p:txBody>
      </p:sp>
      <p:sp>
        <p:nvSpPr>
          <p:cNvPr id="300" name="H20"/>
          <p:cNvSpPr/>
          <p:nvPr/>
        </p:nvSpPr>
        <p:spPr>
          <a:xfrm>
            <a:off x="279400" y="4203700"/>
            <a:ext cx="23368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8A6C00"/>
                </a:solidFill>
              </a:rPr>
              <a:t>Company</a:t>
            </a:r>
          </a:p>
        </p:txBody>
      </p:sp>
      <p:sp>
        <p:nvSpPr>
          <p:cNvPr id="301" name="H21"/>
          <p:cNvSpPr/>
          <p:nvPr/>
        </p:nvSpPr>
        <p:spPr>
          <a:xfrm>
            <a:off x="2667000" y="4203700"/>
            <a:ext cx="12192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EV/EBITDA</a:t>
            </a:r>
          </a:p>
        </p:txBody>
      </p:sp>
      <p:sp>
        <p:nvSpPr>
          <p:cNvPr id="302" name="H22"/>
          <p:cNvSpPr/>
          <p:nvPr/>
        </p:nvSpPr>
        <p:spPr>
          <a:xfrm>
            <a:off x="3937000" y="4203700"/>
            <a:ext cx="12192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P/E (FY1)</a:t>
            </a:r>
          </a:p>
        </p:txBody>
      </p:sp>
      <p:sp>
        <p:nvSpPr>
          <p:cNvPr id="303" name="H23"/>
          <p:cNvSpPr/>
          <p:nvPr/>
        </p:nvSpPr>
        <p:spPr>
          <a:xfrm>
            <a:off x="5207000" y="4203700"/>
            <a:ext cx="12192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P/CF</a:t>
            </a:r>
          </a:p>
        </p:txBody>
      </p:sp>
      <p:sp>
        <p:nvSpPr>
          <p:cNvPr id="304" name="H24"/>
          <p:cNvSpPr/>
          <p:nvPr/>
        </p:nvSpPr>
        <p:spPr>
          <a:xfrm>
            <a:off x="6477000" y="4203700"/>
            <a:ext cx="12192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EV/Reserves</a:t>
            </a:r>
          </a:p>
        </p:txBody>
      </p:sp>
      <p:sp>
        <p:nvSpPr>
          <p:cNvPr id="305" name="H25"/>
          <p:cNvSpPr/>
          <p:nvPr/>
        </p:nvSpPr>
        <p:spPr>
          <a:xfrm>
            <a:off x="7747000" y="4203700"/>
            <a:ext cx="12192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Div Yield</a:t>
            </a:r>
          </a:p>
        </p:txBody>
      </p:sp>
      <p:sp>
        <p:nvSpPr>
          <p:cNvPr id="306" name="H26"/>
          <p:cNvSpPr/>
          <p:nvPr/>
        </p:nvSpPr>
        <p:spPr>
          <a:xfrm>
            <a:off x="9017000" y="4203700"/>
            <a:ext cx="12192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Premium to Med</a:t>
            </a:r>
          </a:p>
        </p:txBody>
      </p:sp>
      <p:sp>
        <p:nvSpPr>
          <p:cNvPr id="307" name="H27"/>
          <p:cNvSpPr/>
          <p:nvPr/>
        </p:nvSpPr>
        <p:spPr>
          <a:xfrm>
            <a:off x="10287000" y="4203700"/>
            <a:ext cx="1219200" cy="3048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Rating</a:t>
            </a:r>
          </a:p>
        </p:txBody>
      </p:sp>
      <p:sp>
        <p:nvSpPr>
          <p:cNvPr id="320" name="R20_0"/>
          <p:cNvSpPr/>
          <p:nvPr/>
        </p:nvSpPr>
        <p:spPr>
          <a:xfrm>
            <a:off x="279400" y="4533900"/>
            <a:ext cx="23368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Agnico Eagle (AEM)</a:t>
            </a:r>
          </a:p>
        </p:txBody>
      </p:sp>
      <p:sp>
        <p:nvSpPr>
          <p:cNvPr id="321" name="R20_1"/>
          <p:cNvSpPr/>
          <p:nvPr/>
        </p:nvSpPr>
        <p:spPr>
          <a:xfrm>
            <a:off x="2667000" y="4533900"/>
            <a:ext cx="12192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10.0x</a:t>
            </a:r>
          </a:p>
        </p:txBody>
      </p:sp>
      <p:sp>
        <p:nvSpPr>
          <p:cNvPr id="322" name="R20_2"/>
          <p:cNvSpPr/>
          <p:nvPr/>
        </p:nvSpPr>
        <p:spPr>
          <a:xfrm>
            <a:off x="3937000" y="4533900"/>
            <a:ext cx="12192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12.6x</a:t>
            </a:r>
          </a:p>
        </p:txBody>
      </p:sp>
      <p:sp>
        <p:nvSpPr>
          <p:cNvPr id="323" name="R20_3"/>
          <p:cNvSpPr/>
          <p:nvPr/>
        </p:nvSpPr>
        <p:spPr>
          <a:xfrm>
            <a:off x="5207000" y="4533900"/>
            <a:ext cx="12192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10.4x</a:t>
            </a:r>
          </a:p>
        </p:txBody>
      </p:sp>
      <p:sp>
        <p:nvSpPr>
          <p:cNvPr id="324" name="R20_4"/>
          <p:cNvSpPr/>
          <p:nvPr/>
        </p:nvSpPr>
        <p:spPr>
          <a:xfrm>
            <a:off x="6477000" y="4533900"/>
            <a:ext cx="12192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$2,187</a:t>
            </a:r>
          </a:p>
        </p:txBody>
      </p:sp>
      <p:sp>
        <p:nvSpPr>
          <p:cNvPr id="325" name="R20_5"/>
          <p:cNvSpPr/>
          <p:nvPr/>
        </p:nvSpPr>
        <p:spPr>
          <a:xfrm>
            <a:off x="7747000" y="4533900"/>
            <a:ext cx="12192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0.75%</a:t>
            </a:r>
          </a:p>
        </p:txBody>
      </p:sp>
      <p:sp>
        <p:nvSpPr>
          <p:cNvPr id="326" name="R20_6"/>
          <p:cNvSpPr/>
          <p:nvPr/>
        </p:nvSpPr>
        <p:spPr>
          <a:xfrm>
            <a:off x="9017000" y="4533900"/>
            <a:ext cx="12192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+60%</a:t>
            </a:r>
          </a:p>
        </p:txBody>
      </p:sp>
      <p:sp>
        <p:nvSpPr>
          <p:cNvPr id="327" name="R20_7"/>
          <p:cNvSpPr/>
          <p:nvPr/>
        </p:nvSpPr>
        <p:spPr>
          <a:xfrm>
            <a:off x="10287000" y="4533900"/>
            <a:ext cx="1219200" cy="3556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BUY</a:t>
            </a:r>
          </a:p>
        </p:txBody>
      </p:sp>
      <p:sp>
        <p:nvSpPr>
          <p:cNvPr id="330" name="R21_0"/>
          <p:cNvSpPr/>
          <p:nvPr/>
        </p:nvSpPr>
        <p:spPr>
          <a:xfrm>
            <a:off x="279400" y="4902200"/>
            <a:ext cx="23368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Newmont Corp (NEM)</a:t>
            </a:r>
          </a:p>
        </p:txBody>
      </p:sp>
      <p:sp>
        <p:nvSpPr>
          <p:cNvPr id="331" name="R21_1"/>
          <p:cNvSpPr/>
          <p:nvPr/>
        </p:nvSpPr>
        <p:spPr>
          <a:xfrm>
            <a:off x="2667000" y="49022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7.2x</a:t>
            </a:r>
          </a:p>
        </p:txBody>
      </p:sp>
      <p:sp>
        <p:nvSpPr>
          <p:cNvPr id="332" name="R21_2"/>
          <p:cNvSpPr/>
          <p:nvPr/>
        </p:nvSpPr>
        <p:spPr>
          <a:xfrm>
            <a:off x="3937000" y="49022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11.8x</a:t>
            </a:r>
          </a:p>
        </p:txBody>
      </p:sp>
      <p:sp>
        <p:nvSpPr>
          <p:cNvPr id="333" name="R21_3"/>
          <p:cNvSpPr/>
          <p:nvPr/>
        </p:nvSpPr>
        <p:spPr>
          <a:xfrm>
            <a:off x="5207000" y="49022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6.8x</a:t>
            </a:r>
          </a:p>
        </p:txBody>
      </p:sp>
      <p:sp>
        <p:nvSpPr>
          <p:cNvPr id="334" name="R21_4"/>
          <p:cNvSpPr/>
          <p:nvPr/>
        </p:nvSpPr>
        <p:spPr>
          <a:xfrm>
            <a:off x="6477000" y="49022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$454</a:t>
            </a:r>
          </a:p>
        </p:txBody>
      </p:sp>
      <p:sp>
        <p:nvSpPr>
          <p:cNvPr id="335" name="R21_5"/>
          <p:cNvSpPr/>
          <p:nvPr/>
        </p:nvSpPr>
        <p:spPr>
          <a:xfrm>
            <a:off x="7747000" y="49022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3.61%</a:t>
            </a:r>
          </a:p>
        </p:txBody>
      </p:sp>
      <p:sp>
        <p:nvSpPr>
          <p:cNvPr id="336" name="R21_6"/>
          <p:cNvSpPr/>
          <p:nvPr/>
        </p:nvSpPr>
        <p:spPr>
          <a:xfrm>
            <a:off x="9017000" y="49022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—</a:t>
            </a:r>
          </a:p>
        </p:txBody>
      </p:sp>
      <p:sp>
        <p:nvSpPr>
          <p:cNvPr id="337" name="R21_7"/>
          <p:cNvSpPr/>
          <p:nvPr/>
        </p:nvSpPr>
        <p:spPr>
          <a:xfrm>
            <a:off x="10287000" y="49022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endParaRPr/>
          </a:p>
        </p:txBody>
      </p:sp>
      <p:sp>
        <p:nvSpPr>
          <p:cNvPr id="340" name="R22_0"/>
          <p:cNvSpPr/>
          <p:nvPr/>
        </p:nvSpPr>
        <p:spPr>
          <a:xfrm>
            <a:off x="279400" y="5270500"/>
            <a:ext cx="23368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Barrick Gold (GOLD)</a:t>
            </a:r>
          </a:p>
        </p:txBody>
      </p:sp>
      <p:sp>
        <p:nvSpPr>
          <p:cNvPr id="341" name="R22_1"/>
          <p:cNvSpPr/>
          <p:nvPr/>
        </p:nvSpPr>
        <p:spPr>
          <a:xfrm>
            <a:off x="2667000" y="5270500"/>
            <a:ext cx="12192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5.1x</a:t>
            </a:r>
          </a:p>
        </p:txBody>
      </p:sp>
      <p:sp>
        <p:nvSpPr>
          <p:cNvPr id="342" name="R22_2"/>
          <p:cNvSpPr/>
          <p:nvPr/>
        </p:nvSpPr>
        <p:spPr>
          <a:xfrm>
            <a:off x="3937000" y="5270500"/>
            <a:ext cx="12192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9.1x</a:t>
            </a:r>
          </a:p>
        </p:txBody>
      </p:sp>
      <p:sp>
        <p:nvSpPr>
          <p:cNvPr id="343" name="R22_3"/>
          <p:cNvSpPr/>
          <p:nvPr/>
        </p:nvSpPr>
        <p:spPr>
          <a:xfrm>
            <a:off x="5207000" y="5270500"/>
            <a:ext cx="12192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5.0x</a:t>
            </a:r>
          </a:p>
        </p:txBody>
      </p:sp>
      <p:sp>
        <p:nvSpPr>
          <p:cNvPr id="344" name="R22_4"/>
          <p:cNvSpPr/>
          <p:nvPr/>
        </p:nvSpPr>
        <p:spPr>
          <a:xfrm>
            <a:off x="6477000" y="5270500"/>
            <a:ext cx="12192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$473</a:t>
            </a:r>
          </a:p>
        </p:txBody>
      </p:sp>
      <p:sp>
        <p:nvSpPr>
          <p:cNvPr id="345" name="R22_5"/>
          <p:cNvSpPr/>
          <p:nvPr/>
        </p:nvSpPr>
        <p:spPr>
          <a:xfrm>
            <a:off x="7747000" y="5270500"/>
            <a:ext cx="12192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2.39%</a:t>
            </a:r>
          </a:p>
        </p:txBody>
      </p:sp>
      <p:sp>
        <p:nvSpPr>
          <p:cNvPr id="346" name="R22_6"/>
          <p:cNvSpPr/>
          <p:nvPr/>
        </p:nvSpPr>
        <p:spPr>
          <a:xfrm>
            <a:off x="9017000" y="5270500"/>
            <a:ext cx="12192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—</a:t>
            </a:r>
          </a:p>
        </p:txBody>
      </p:sp>
      <p:sp>
        <p:nvSpPr>
          <p:cNvPr id="347" name="R22_7"/>
          <p:cNvSpPr/>
          <p:nvPr/>
        </p:nvSpPr>
        <p:spPr>
          <a:xfrm>
            <a:off x="10287000" y="5270500"/>
            <a:ext cx="12192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endParaRPr/>
          </a:p>
        </p:txBody>
      </p:sp>
      <p:sp>
        <p:nvSpPr>
          <p:cNvPr id="350" name="R23_0"/>
          <p:cNvSpPr/>
          <p:nvPr/>
        </p:nvSpPr>
        <p:spPr>
          <a:xfrm>
            <a:off x="279400" y="5638800"/>
            <a:ext cx="23368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AngloGold Ashanti (AU)</a:t>
            </a:r>
          </a:p>
        </p:txBody>
      </p:sp>
      <p:sp>
        <p:nvSpPr>
          <p:cNvPr id="351" name="R23_1"/>
          <p:cNvSpPr/>
          <p:nvPr/>
        </p:nvSpPr>
        <p:spPr>
          <a:xfrm>
            <a:off x="2667000" y="56388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6.1x</a:t>
            </a:r>
          </a:p>
        </p:txBody>
      </p:sp>
      <p:sp>
        <p:nvSpPr>
          <p:cNvPr id="352" name="R23_2"/>
          <p:cNvSpPr/>
          <p:nvPr/>
        </p:nvSpPr>
        <p:spPr>
          <a:xfrm>
            <a:off x="3937000" y="56388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10.2x</a:t>
            </a:r>
          </a:p>
        </p:txBody>
      </p:sp>
      <p:sp>
        <p:nvSpPr>
          <p:cNvPr id="353" name="R23_3"/>
          <p:cNvSpPr/>
          <p:nvPr/>
        </p:nvSpPr>
        <p:spPr>
          <a:xfrm>
            <a:off x="5207000" y="56388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5.8x</a:t>
            </a:r>
          </a:p>
        </p:txBody>
      </p:sp>
      <p:sp>
        <p:nvSpPr>
          <p:cNvPr id="354" name="R23_4"/>
          <p:cNvSpPr/>
          <p:nvPr/>
        </p:nvSpPr>
        <p:spPr>
          <a:xfrm>
            <a:off x="6477000" y="56388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$455</a:t>
            </a:r>
          </a:p>
        </p:txBody>
      </p:sp>
      <p:sp>
        <p:nvSpPr>
          <p:cNvPr id="355" name="R23_5"/>
          <p:cNvSpPr/>
          <p:nvPr/>
        </p:nvSpPr>
        <p:spPr>
          <a:xfrm>
            <a:off x="7747000" y="56388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1.20%</a:t>
            </a:r>
          </a:p>
        </p:txBody>
      </p:sp>
      <p:sp>
        <p:nvSpPr>
          <p:cNvPr id="356" name="R23_6"/>
          <p:cNvSpPr/>
          <p:nvPr/>
        </p:nvSpPr>
        <p:spPr>
          <a:xfrm>
            <a:off x="9017000" y="56388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—</a:t>
            </a:r>
          </a:p>
        </p:txBody>
      </p:sp>
      <p:sp>
        <p:nvSpPr>
          <p:cNvPr id="357" name="R23_7"/>
          <p:cNvSpPr/>
          <p:nvPr/>
        </p:nvSpPr>
        <p:spPr>
          <a:xfrm>
            <a:off x="10287000" y="56388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endParaRPr/>
          </a:p>
        </p:txBody>
      </p:sp>
      <p:sp>
        <p:nvSpPr>
          <p:cNvPr id="360" name="R24_0"/>
          <p:cNvSpPr/>
          <p:nvPr/>
        </p:nvSpPr>
        <p:spPr>
          <a:xfrm>
            <a:off x="279400" y="6007100"/>
            <a:ext cx="23368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Kinross Gold (KGC)</a:t>
            </a:r>
          </a:p>
        </p:txBody>
      </p:sp>
      <p:sp>
        <p:nvSpPr>
          <p:cNvPr id="361" name="R24_1"/>
          <p:cNvSpPr/>
          <p:nvPr/>
        </p:nvSpPr>
        <p:spPr>
          <a:xfrm>
            <a:off x="2667000" y="6007100"/>
            <a:ext cx="12192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6.0x</a:t>
            </a:r>
          </a:p>
        </p:txBody>
      </p:sp>
      <p:sp>
        <p:nvSpPr>
          <p:cNvPr id="362" name="R24_2"/>
          <p:cNvSpPr/>
          <p:nvPr/>
        </p:nvSpPr>
        <p:spPr>
          <a:xfrm>
            <a:off x="3937000" y="6007100"/>
            <a:ext cx="12192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9.8x</a:t>
            </a:r>
          </a:p>
        </p:txBody>
      </p:sp>
      <p:sp>
        <p:nvSpPr>
          <p:cNvPr id="363" name="R24_3"/>
          <p:cNvSpPr/>
          <p:nvPr/>
        </p:nvSpPr>
        <p:spPr>
          <a:xfrm>
            <a:off x="5207000" y="6007100"/>
            <a:ext cx="12192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5.5x</a:t>
            </a:r>
          </a:p>
        </p:txBody>
      </p:sp>
      <p:sp>
        <p:nvSpPr>
          <p:cNvPr id="364" name="R24_4"/>
          <p:cNvSpPr/>
          <p:nvPr/>
        </p:nvSpPr>
        <p:spPr>
          <a:xfrm>
            <a:off x="6477000" y="6007100"/>
            <a:ext cx="12192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$654</a:t>
            </a:r>
          </a:p>
        </p:txBody>
      </p:sp>
      <p:sp>
        <p:nvSpPr>
          <p:cNvPr id="365" name="R24_5"/>
          <p:cNvSpPr/>
          <p:nvPr/>
        </p:nvSpPr>
        <p:spPr>
          <a:xfrm>
            <a:off x="7747000" y="6007100"/>
            <a:ext cx="12192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1.88%</a:t>
            </a:r>
          </a:p>
        </p:txBody>
      </p:sp>
      <p:sp>
        <p:nvSpPr>
          <p:cNvPr id="366" name="R24_6"/>
          <p:cNvSpPr/>
          <p:nvPr/>
        </p:nvSpPr>
        <p:spPr>
          <a:xfrm>
            <a:off x="9017000" y="6007100"/>
            <a:ext cx="12192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—</a:t>
            </a:r>
          </a:p>
        </p:txBody>
      </p:sp>
      <p:sp>
        <p:nvSpPr>
          <p:cNvPr id="367" name="R24_7"/>
          <p:cNvSpPr/>
          <p:nvPr/>
        </p:nvSpPr>
        <p:spPr>
          <a:xfrm>
            <a:off x="10287000" y="6007100"/>
            <a:ext cx="1219200" cy="355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endParaRPr/>
          </a:p>
        </p:txBody>
      </p:sp>
      <p:sp>
        <p:nvSpPr>
          <p:cNvPr id="370" name="R25_0"/>
          <p:cNvSpPr/>
          <p:nvPr/>
        </p:nvSpPr>
        <p:spPr>
          <a:xfrm>
            <a:off x="279400" y="6375400"/>
            <a:ext cx="23368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62666A"/>
                </a:solidFill>
              </a:rPr>
              <a:t>PEER MEDIAN</a:t>
            </a:r>
          </a:p>
        </p:txBody>
      </p:sp>
      <p:sp>
        <p:nvSpPr>
          <p:cNvPr id="371" name="R25_1"/>
          <p:cNvSpPr/>
          <p:nvPr/>
        </p:nvSpPr>
        <p:spPr>
          <a:xfrm>
            <a:off x="2667000" y="63754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62666A"/>
                </a:solidFill>
              </a:rPr>
              <a:t>6.25x</a:t>
            </a:r>
          </a:p>
        </p:txBody>
      </p:sp>
      <p:sp>
        <p:nvSpPr>
          <p:cNvPr id="372" name="R25_2"/>
          <p:cNvSpPr/>
          <p:nvPr/>
        </p:nvSpPr>
        <p:spPr>
          <a:xfrm>
            <a:off x="3937000" y="63754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62666A"/>
                </a:solidFill>
              </a:rPr>
              <a:t>10.0x</a:t>
            </a:r>
          </a:p>
        </p:txBody>
      </p:sp>
      <p:sp>
        <p:nvSpPr>
          <p:cNvPr id="373" name="R25_3"/>
          <p:cNvSpPr/>
          <p:nvPr/>
        </p:nvSpPr>
        <p:spPr>
          <a:xfrm>
            <a:off x="5207000" y="63754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62666A"/>
                </a:solidFill>
              </a:rPr>
              <a:t>5.8x</a:t>
            </a:r>
          </a:p>
        </p:txBody>
      </p:sp>
      <p:sp>
        <p:nvSpPr>
          <p:cNvPr id="374" name="R25_4"/>
          <p:cNvSpPr/>
          <p:nvPr/>
        </p:nvSpPr>
        <p:spPr>
          <a:xfrm>
            <a:off x="6477000" y="63754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62666A"/>
                </a:solidFill>
              </a:rPr>
              <a:t>$473</a:t>
            </a:r>
          </a:p>
        </p:txBody>
      </p:sp>
      <p:sp>
        <p:nvSpPr>
          <p:cNvPr id="375" name="R25_5"/>
          <p:cNvSpPr/>
          <p:nvPr/>
        </p:nvSpPr>
        <p:spPr>
          <a:xfrm>
            <a:off x="7747000" y="63754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62666A"/>
                </a:solidFill>
              </a:rPr>
              <a:t>2.39%</a:t>
            </a:r>
          </a:p>
        </p:txBody>
      </p:sp>
      <p:sp>
        <p:nvSpPr>
          <p:cNvPr id="376" name="R25_6"/>
          <p:cNvSpPr/>
          <p:nvPr/>
        </p:nvSpPr>
        <p:spPr>
          <a:xfrm>
            <a:off x="9017000" y="63754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62666A"/>
                </a:solidFill>
              </a:rPr>
              <a:t>—</a:t>
            </a:r>
          </a:p>
        </p:txBody>
      </p:sp>
      <p:sp>
        <p:nvSpPr>
          <p:cNvPr id="377" name="R25_7"/>
          <p:cNvSpPr/>
          <p:nvPr/>
        </p:nvSpPr>
        <p:spPr>
          <a:xfrm>
            <a:off x="10287000" y="6375400"/>
            <a:ext cx="12192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endParaRPr/>
          </a:p>
        </p:txBody>
      </p:sp>
      <p:sp>
        <p:nvSpPr>
          <p:cNvPr id="400" name="KTBg"/>
          <p:cNvSpPr/>
          <p:nvPr/>
        </p:nvSpPr>
        <p:spPr>
          <a:xfrm>
            <a:off x="279400" y="6337300"/>
            <a:ext cx="11633200" cy="4953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401" name="KTBar"/>
          <p:cNvSpPr/>
          <p:nvPr/>
        </p:nvSpPr>
        <p:spPr>
          <a:xfrm>
            <a:off x="279400" y="6337300"/>
            <a:ext cx="50800" cy="495300"/>
          </a:xfrm>
          <a:prstGeom prst="rect">
            <a:avLst/>
          </a:prstGeom>
          <a:solidFill>
            <a:srgbClr val="8A6C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402" name="KTxt"/>
          <p:cNvSpPr/>
          <p:nvPr/>
        </p:nvSpPr>
        <p:spPr>
          <a:xfrm>
            <a:off x="355600" y="6388100"/>
            <a:ext cx="11480800" cy="444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151E24"/>
                </a:solidFill>
              </a:rPr>
              <a:t>COMPS-IMPLIED PRICE: $329 (20% wt.) | AEM's 60% EV/EBITDA premium justified: #1 AISC (-$191/oz vs. median), only Tier 1-only senior producer, record 55.4 Moz P&amp;P reserves, superior FCF conversion (43.4% margin) and net cash balance sheet vs. net debt peers.</a:t>
            </a:r>
          </a:p>
        </p:txBody>
      </p:sp>
    </p:spTree>
    <p:extLst>
      <p:ext uri="{BB962C8B-B14F-4D97-AF65-F5344CB8AC3E}">
        <p14:creationId xmlns:p14="http://schemas.microsoft.com/office/powerpoint/2010/main" val="3337493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ecLbl"/>
          <p:cNvSpPr/>
          <p:nvPr/>
        </p:nvSpPr>
        <p:spPr>
          <a:xfrm>
            <a:off x="279400" y="127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8A6C00"/>
                </a:solidFill>
              </a:rPr>
              <a:t>VALUATION FOOTBALL FIELD &amp; PRICE TARGET</a:t>
            </a:r>
          </a:p>
        </p:txBody>
      </p:sp>
      <p:sp>
        <p:nvSpPr>
          <p:cNvPr id="105" name="SNum"/>
          <p:cNvSpPr/>
          <p:nvPr/>
        </p:nvSpPr>
        <p:spPr>
          <a:xfrm>
            <a:off x="11582400" y="127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106" name="Title"/>
          <p:cNvSpPr/>
          <p:nvPr/>
        </p:nvSpPr>
        <p:spPr>
          <a:xfrm>
            <a:off x="279400" y="381000"/>
            <a:ext cx="116332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600" dirty="0">
                <a:solidFill>
                  <a:srgbClr val="221F1F"/>
                </a:solidFill>
              </a:rPr>
              <a:t>Blended $300 Price Target: 50% DCF ($371) + 30% NAV ($162) + 20% Comps ($329) | 24.7% Upside from $240.49</a:t>
            </a:r>
          </a:p>
        </p:txBody>
      </p:sp>
      <p:sp>
        <p:nvSpPr>
          <p:cNvPr id="107" name="Div1"/>
          <p:cNvSpPr/>
          <p:nvPr/>
        </p:nvSpPr>
        <p:spPr>
          <a:xfrm>
            <a:off x="279400" y="889000"/>
            <a:ext cx="11633200" cy="254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08" name="MHdr"/>
          <p:cNvSpPr/>
          <p:nvPr/>
        </p:nvSpPr>
        <p:spPr>
          <a:xfrm>
            <a:off x="279400" y="977900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VALUATION METHODOLOGY &amp; FOOTBALL FIELD</a:t>
            </a:r>
          </a:p>
        </p:txBody>
      </p:sp>
      <p:sp>
        <p:nvSpPr>
          <p:cNvPr id="200" name="MH0"/>
          <p:cNvSpPr/>
          <p:nvPr/>
        </p:nvSpPr>
        <p:spPr>
          <a:xfrm>
            <a:off x="279400" y="1231900"/>
            <a:ext cx="2565400" cy="3302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8A6C00"/>
                </a:solidFill>
              </a:rPr>
              <a:t>Methodology</a:t>
            </a:r>
          </a:p>
        </p:txBody>
      </p:sp>
      <p:sp>
        <p:nvSpPr>
          <p:cNvPr id="201" name="MH1"/>
          <p:cNvSpPr/>
          <p:nvPr/>
        </p:nvSpPr>
        <p:spPr>
          <a:xfrm>
            <a:off x="2895600" y="1231900"/>
            <a:ext cx="762000" cy="3302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Wt.</a:t>
            </a:r>
          </a:p>
        </p:txBody>
      </p:sp>
      <p:sp>
        <p:nvSpPr>
          <p:cNvPr id="202" name="MH2"/>
          <p:cNvSpPr/>
          <p:nvPr/>
        </p:nvSpPr>
        <p:spPr>
          <a:xfrm>
            <a:off x="3733800" y="1231900"/>
            <a:ext cx="1016000" cy="3302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Low</a:t>
            </a:r>
          </a:p>
        </p:txBody>
      </p:sp>
      <p:sp>
        <p:nvSpPr>
          <p:cNvPr id="203" name="MH3"/>
          <p:cNvSpPr/>
          <p:nvPr/>
        </p:nvSpPr>
        <p:spPr>
          <a:xfrm>
            <a:off x="4800600" y="1231900"/>
            <a:ext cx="1016000" cy="3302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Base PT</a:t>
            </a:r>
          </a:p>
        </p:txBody>
      </p:sp>
      <p:sp>
        <p:nvSpPr>
          <p:cNvPr id="204" name="MH4"/>
          <p:cNvSpPr/>
          <p:nvPr/>
        </p:nvSpPr>
        <p:spPr>
          <a:xfrm>
            <a:off x="5867400" y="1231900"/>
            <a:ext cx="1016000" cy="3302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High</a:t>
            </a:r>
          </a:p>
        </p:txBody>
      </p:sp>
      <p:sp>
        <p:nvSpPr>
          <p:cNvPr id="205" name="MH5"/>
          <p:cNvSpPr/>
          <p:nvPr/>
        </p:nvSpPr>
        <p:spPr>
          <a:xfrm>
            <a:off x="6934200" y="1231900"/>
            <a:ext cx="1270000" cy="3302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8A6C00"/>
                </a:solidFill>
              </a:rPr>
              <a:t>Wt. Contrib.</a:t>
            </a:r>
          </a:p>
        </p:txBody>
      </p:sp>
      <p:sp>
        <p:nvSpPr>
          <p:cNvPr id="210" name="MR0_0"/>
          <p:cNvSpPr/>
          <p:nvPr/>
        </p:nvSpPr>
        <p:spPr>
          <a:xfrm>
            <a:off x="279400" y="1587500"/>
            <a:ext cx="25654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dirty="0">
                <a:solidFill>
                  <a:srgbClr val="3D3D3D"/>
                </a:solidFill>
              </a:rPr>
              <a:t>Discounted Cash Flow (DCF)</a:t>
            </a:r>
          </a:p>
        </p:txBody>
      </p:sp>
      <p:sp>
        <p:nvSpPr>
          <p:cNvPr id="211" name="MR0_1"/>
          <p:cNvSpPr/>
          <p:nvPr/>
        </p:nvSpPr>
        <p:spPr>
          <a:xfrm>
            <a:off x="2895600" y="1587500"/>
            <a:ext cx="762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50%</a:t>
            </a:r>
          </a:p>
        </p:txBody>
      </p:sp>
      <p:sp>
        <p:nvSpPr>
          <p:cNvPr id="212" name="MR0_2"/>
          <p:cNvSpPr/>
          <p:nvPr/>
        </p:nvSpPr>
        <p:spPr>
          <a:xfrm>
            <a:off x="3733800" y="1587500"/>
            <a:ext cx="1016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$280</a:t>
            </a:r>
          </a:p>
        </p:txBody>
      </p:sp>
      <p:sp>
        <p:nvSpPr>
          <p:cNvPr id="213" name="MR0_3"/>
          <p:cNvSpPr/>
          <p:nvPr/>
        </p:nvSpPr>
        <p:spPr>
          <a:xfrm>
            <a:off x="4800600" y="1587500"/>
            <a:ext cx="1016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$371</a:t>
            </a:r>
          </a:p>
        </p:txBody>
      </p:sp>
      <p:sp>
        <p:nvSpPr>
          <p:cNvPr id="214" name="MR0_4"/>
          <p:cNvSpPr/>
          <p:nvPr/>
        </p:nvSpPr>
        <p:spPr>
          <a:xfrm>
            <a:off x="5867400" y="1587500"/>
            <a:ext cx="1016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$450</a:t>
            </a:r>
          </a:p>
        </p:txBody>
      </p:sp>
      <p:sp>
        <p:nvSpPr>
          <p:cNvPr id="215" name="MR0_5"/>
          <p:cNvSpPr/>
          <p:nvPr/>
        </p:nvSpPr>
        <p:spPr>
          <a:xfrm>
            <a:off x="6934200" y="1587500"/>
            <a:ext cx="1270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$185.50</a:t>
            </a:r>
          </a:p>
        </p:txBody>
      </p:sp>
      <p:sp>
        <p:nvSpPr>
          <p:cNvPr id="220" name="MR1_0"/>
          <p:cNvSpPr/>
          <p:nvPr/>
        </p:nvSpPr>
        <p:spPr>
          <a:xfrm>
            <a:off x="279400" y="1981200"/>
            <a:ext cx="2565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dirty="0">
                <a:solidFill>
                  <a:srgbClr val="3D3D3D"/>
                </a:solidFill>
              </a:rPr>
              <a:t>Comparable Companies (EV/EBITDA)</a:t>
            </a:r>
          </a:p>
        </p:txBody>
      </p:sp>
      <p:sp>
        <p:nvSpPr>
          <p:cNvPr id="221" name="MR1_1"/>
          <p:cNvSpPr/>
          <p:nvPr/>
        </p:nvSpPr>
        <p:spPr>
          <a:xfrm>
            <a:off x="2895600" y="1981200"/>
            <a:ext cx="762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20%</a:t>
            </a:r>
          </a:p>
        </p:txBody>
      </p:sp>
      <p:sp>
        <p:nvSpPr>
          <p:cNvPr id="222" name="MR1_2"/>
          <p:cNvSpPr/>
          <p:nvPr/>
        </p:nvSpPr>
        <p:spPr>
          <a:xfrm>
            <a:off x="3733800" y="1981200"/>
            <a:ext cx="1016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$180</a:t>
            </a:r>
          </a:p>
        </p:txBody>
      </p:sp>
      <p:sp>
        <p:nvSpPr>
          <p:cNvPr id="223" name="MR1_3"/>
          <p:cNvSpPr/>
          <p:nvPr/>
        </p:nvSpPr>
        <p:spPr>
          <a:xfrm>
            <a:off x="4800600" y="1981200"/>
            <a:ext cx="1016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$329</a:t>
            </a:r>
          </a:p>
        </p:txBody>
      </p:sp>
      <p:sp>
        <p:nvSpPr>
          <p:cNvPr id="224" name="MR1_4"/>
          <p:cNvSpPr/>
          <p:nvPr/>
        </p:nvSpPr>
        <p:spPr>
          <a:xfrm>
            <a:off x="5867400" y="1981200"/>
            <a:ext cx="1016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$420</a:t>
            </a:r>
          </a:p>
        </p:txBody>
      </p:sp>
      <p:sp>
        <p:nvSpPr>
          <p:cNvPr id="225" name="MR1_5"/>
          <p:cNvSpPr/>
          <p:nvPr/>
        </p:nvSpPr>
        <p:spPr>
          <a:xfrm>
            <a:off x="6934200" y="1981200"/>
            <a:ext cx="1270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$65.80</a:t>
            </a:r>
          </a:p>
        </p:txBody>
      </p:sp>
      <p:sp>
        <p:nvSpPr>
          <p:cNvPr id="230" name="MR2_0"/>
          <p:cNvSpPr/>
          <p:nvPr/>
        </p:nvSpPr>
        <p:spPr>
          <a:xfrm>
            <a:off x="279400" y="2374900"/>
            <a:ext cx="25654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dirty="0">
                <a:solidFill>
                  <a:srgbClr val="3D3D3D"/>
                </a:solidFill>
              </a:rPr>
              <a:t>Net Asset Value (NAV)</a:t>
            </a:r>
          </a:p>
        </p:txBody>
      </p:sp>
      <p:sp>
        <p:nvSpPr>
          <p:cNvPr id="231" name="MR2_1"/>
          <p:cNvSpPr/>
          <p:nvPr/>
        </p:nvSpPr>
        <p:spPr>
          <a:xfrm>
            <a:off x="2895600" y="2374900"/>
            <a:ext cx="762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30%</a:t>
            </a:r>
          </a:p>
        </p:txBody>
      </p:sp>
      <p:sp>
        <p:nvSpPr>
          <p:cNvPr id="232" name="MR2_2"/>
          <p:cNvSpPr/>
          <p:nvPr/>
        </p:nvSpPr>
        <p:spPr>
          <a:xfrm>
            <a:off x="3733800" y="2374900"/>
            <a:ext cx="1016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$120</a:t>
            </a:r>
          </a:p>
        </p:txBody>
      </p:sp>
      <p:sp>
        <p:nvSpPr>
          <p:cNvPr id="233" name="MR2_3"/>
          <p:cNvSpPr/>
          <p:nvPr/>
        </p:nvSpPr>
        <p:spPr>
          <a:xfrm>
            <a:off x="4800600" y="2374900"/>
            <a:ext cx="1016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$162</a:t>
            </a:r>
          </a:p>
        </p:txBody>
      </p:sp>
      <p:sp>
        <p:nvSpPr>
          <p:cNvPr id="234" name="MR2_4"/>
          <p:cNvSpPr/>
          <p:nvPr/>
        </p:nvSpPr>
        <p:spPr>
          <a:xfrm>
            <a:off x="5867400" y="2374900"/>
            <a:ext cx="1016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$200</a:t>
            </a:r>
          </a:p>
        </p:txBody>
      </p:sp>
      <p:sp>
        <p:nvSpPr>
          <p:cNvPr id="235" name="MR2_5"/>
          <p:cNvSpPr/>
          <p:nvPr/>
        </p:nvSpPr>
        <p:spPr>
          <a:xfrm>
            <a:off x="6934200" y="2374900"/>
            <a:ext cx="1270000" cy="381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$48.60</a:t>
            </a:r>
          </a:p>
        </p:txBody>
      </p:sp>
      <p:sp>
        <p:nvSpPr>
          <p:cNvPr id="240" name="MR3_0"/>
          <p:cNvSpPr/>
          <p:nvPr/>
        </p:nvSpPr>
        <p:spPr>
          <a:xfrm>
            <a:off x="279400" y="2768600"/>
            <a:ext cx="2565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200" dirty="0">
                <a:solidFill>
                  <a:srgbClr val="3D3D3D"/>
                </a:solidFill>
              </a:rPr>
              <a:t>52-Week Range</a:t>
            </a:r>
          </a:p>
        </p:txBody>
      </p:sp>
      <p:sp>
        <p:nvSpPr>
          <p:cNvPr id="241" name="MR3_1"/>
          <p:cNvSpPr/>
          <p:nvPr/>
        </p:nvSpPr>
        <p:spPr>
          <a:xfrm>
            <a:off x="2895600" y="2768600"/>
            <a:ext cx="762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—</a:t>
            </a:r>
          </a:p>
        </p:txBody>
      </p:sp>
      <p:sp>
        <p:nvSpPr>
          <p:cNvPr id="242" name="MR3_2"/>
          <p:cNvSpPr/>
          <p:nvPr/>
        </p:nvSpPr>
        <p:spPr>
          <a:xfrm>
            <a:off x="3733800" y="2768600"/>
            <a:ext cx="1016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$163</a:t>
            </a:r>
          </a:p>
        </p:txBody>
      </p:sp>
      <p:sp>
        <p:nvSpPr>
          <p:cNvPr id="243" name="MR3_3"/>
          <p:cNvSpPr/>
          <p:nvPr/>
        </p:nvSpPr>
        <p:spPr>
          <a:xfrm>
            <a:off x="4800600" y="2768600"/>
            <a:ext cx="1016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$240.49</a:t>
            </a:r>
          </a:p>
        </p:txBody>
      </p:sp>
      <p:sp>
        <p:nvSpPr>
          <p:cNvPr id="244" name="MR3_4"/>
          <p:cNvSpPr/>
          <p:nvPr/>
        </p:nvSpPr>
        <p:spPr>
          <a:xfrm>
            <a:off x="5867400" y="2768600"/>
            <a:ext cx="1016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$309</a:t>
            </a:r>
          </a:p>
        </p:txBody>
      </p:sp>
      <p:sp>
        <p:nvSpPr>
          <p:cNvPr id="245" name="MR3_5"/>
          <p:cNvSpPr/>
          <p:nvPr/>
        </p:nvSpPr>
        <p:spPr>
          <a:xfrm>
            <a:off x="6934200" y="2768600"/>
            <a:ext cx="1270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200" dirty="0">
                <a:solidFill>
                  <a:srgbClr val="3D3D3D"/>
                </a:solidFill>
              </a:rPr>
              <a:t>—</a:t>
            </a:r>
          </a:p>
        </p:txBody>
      </p:sp>
      <p:sp>
        <p:nvSpPr>
          <p:cNvPr id="250" name="MR4_0"/>
          <p:cNvSpPr/>
          <p:nvPr/>
        </p:nvSpPr>
        <p:spPr>
          <a:xfrm>
            <a:off x="279400" y="3162300"/>
            <a:ext cx="2565400" cy="381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300" b="1" dirty="0">
                <a:solidFill>
                  <a:srgbClr val="EFC400"/>
                </a:solidFill>
              </a:rPr>
              <a:t>BLENDED PRICE TARGET</a:t>
            </a:r>
          </a:p>
        </p:txBody>
      </p:sp>
      <p:sp>
        <p:nvSpPr>
          <p:cNvPr id="251" name="MR4_1"/>
          <p:cNvSpPr/>
          <p:nvPr/>
        </p:nvSpPr>
        <p:spPr>
          <a:xfrm>
            <a:off x="2895600" y="3162300"/>
            <a:ext cx="762000" cy="381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300" b="1" dirty="0">
                <a:solidFill>
                  <a:srgbClr val="EFC400"/>
                </a:solidFill>
              </a:rPr>
              <a:t>100%</a:t>
            </a:r>
          </a:p>
        </p:txBody>
      </p:sp>
      <p:sp>
        <p:nvSpPr>
          <p:cNvPr id="252" name="MR4_2"/>
          <p:cNvSpPr/>
          <p:nvPr/>
        </p:nvSpPr>
        <p:spPr>
          <a:xfrm>
            <a:off x="3733800" y="3162300"/>
            <a:ext cx="1016000" cy="381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endParaRPr/>
          </a:p>
        </p:txBody>
      </p:sp>
      <p:sp>
        <p:nvSpPr>
          <p:cNvPr id="253" name="MR4_3"/>
          <p:cNvSpPr/>
          <p:nvPr/>
        </p:nvSpPr>
        <p:spPr>
          <a:xfrm>
            <a:off x="4800600" y="3162300"/>
            <a:ext cx="1016000" cy="381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300" b="1" dirty="0">
                <a:solidFill>
                  <a:srgbClr val="EFC400"/>
                </a:solidFill>
              </a:rPr>
              <a:t>$300.00</a:t>
            </a:r>
          </a:p>
        </p:txBody>
      </p:sp>
      <p:sp>
        <p:nvSpPr>
          <p:cNvPr id="254" name="MR4_4"/>
          <p:cNvSpPr/>
          <p:nvPr/>
        </p:nvSpPr>
        <p:spPr>
          <a:xfrm>
            <a:off x="5867400" y="3162300"/>
            <a:ext cx="1016000" cy="381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endParaRPr/>
          </a:p>
        </p:txBody>
      </p:sp>
      <p:sp>
        <p:nvSpPr>
          <p:cNvPr id="255" name="MR4_5"/>
          <p:cNvSpPr/>
          <p:nvPr/>
        </p:nvSpPr>
        <p:spPr>
          <a:xfrm>
            <a:off x="6934200" y="3162300"/>
            <a:ext cx="1270000" cy="381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300" b="1" dirty="0">
                <a:solidFill>
                  <a:srgbClr val="EFC400"/>
                </a:solidFill>
              </a:rPr>
              <a:t>$300.00</a:t>
            </a:r>
          </a:p>
        </p:txBody>
      </p:sp>
      <p:sp>
        <p:nvSpPr>
          <p:cNvPr id="400" name="Src"/>
          <p:cNvSpPr/>
          <p:nvPr/>
        </p:nvSpPr>
        <p:spPr>
          <a:xfrm>
            <a:off x="431800" y="6076950"/>
            <a:ext cx="1163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900" i="1" dirty="0">
                <a:solidFill>
                  <a:srgbClr val="555555"/>
                </a:solidFill>
              </a:rPr>
              <a:t>Source: AEM-model.xlsx. Current price $240.49 (Feb 23, 2026). All estimates are author projections.</a:t>
            </a:r>
          </a:p>
        </p:txBody>
      </p:sp>
      <p:sp>
        <p:nvSpPr>
          <p:cNvPr id="270" name="BLbl0"/>
          <p:cNvSpPr/>
          <p:nvPr/>
        </p:nvSpPr>
        <p:spPr>
          <a:xfrm>
            <a:off x="292100" y="4178300"/>
            <a:ext cx="10668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dirty="0">
                <a:solidFill>
                  <a:srgbClr val="62666A"/>
                </a:solidFill>
              </a:rPr>
              <a:t>DCF Range</a:t>
            </a:r>
          </a:p>
        </p:txBody>
      </p:sp>
      <p:sp>
        <p:nvSpPr>
          <p:cNvPr id="274" name="BBar0"/>
          <p:cNvSpPr/>
          <p:nvPr/>
        </p:nvSpPr>
        <p:spPr>
          <a:xfrm>
            <a:off x="3898900" y="4305300"/>
            <a:ext cx="2311400" cy="1778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78" name="BMrk0"/>
          <p:cNvSpPr/>
          <p:nvPr/>
        </p:nvSpPr>
        <p:spPr>
          <a:xfrm>
            <a:off x="5118100" y="4254500"/>
            <a:ext cx="25400" cy="279400"/>
          </a:xfrm>
          <a:prstGeom prst="rect">
            <a:avLst/>
          </a:prstGeom>
          <a:solidFill>
            <a:srgbClr val="221F1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82" name="BLo0"/>
          <p:cNvSpPr/>
          <p:nvPr/>
        </p:nvSpPr>
        <p:spPr>
          <a:xfrm>
            <a:off x="3511550" y="4203931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EFC400"/>
                </a:solidFill>
              </a:rPr>
              <a:t>$280</a:t>
            </a:r>
          </a:p>
        </p:txBody>
      </p:sp>
      <p:sp>
        <p:nvSpPr>
          <p:cNvPr id="286" name="BHi0"/>
          <p:cNvSpPr/>
          <p:nvPr/>
        </p:nvSpPr>
        <p:spPr>
          <a:xfrm>
            <a:off x="6164695" y="4206471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900" dirty="0">
                <a:solidFill>
                  <a:srgbClr val="EFC400"/>
                </a:solidFill>
              </a:rPr>
              <a:t>$450</a:t>
            </a:r>
          </a:p>
        </p:txBody>
      </p:sp>
      <p:sp>
        <p:nvSpPr>
          <p:cNvPr id="271" name="BLbl1"/>
          <p:cNvSpPr/>
          <p:nvPr/>
        </p:nvSpPr>
        <p:spPr>
          <a:xfrm>
            <a:off x="292100" y="4559300"/>
            <a:ext cx="10668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dirty="0">
                <a:solidFill>
                  <a:srgbClr val="62666A"/>
                </a:solidFill>
              </a:rPr>
              <a:t>Comps Range</a:t>
            </a:r>
          </a:p>
        </p:txBody>
      </p:sp>
      <p:sp>
        <p:nvSpPr>
          <p:cNvPr id="275" name="BBar1"/>
          <p:cNvSpPr/>
          <p:nvPr/>
        </p:nvSpPr>
        <p:spPr>
          <a:xfrm>
            <a:off x="2527300" y="4686300"/>
            <a:ext cx="3276600" cy="1778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79" name="BMrk1"/>
          <p:cNvSpPr/>
          <p:nvPr/>
        </p:nvSpPr>
        <p:spPr>
          <a:xfrm>
            <a:off x="4546600" y="4635500"/>
            <a:ext cx="25400" cy="279400"/>
          </a:xfrm>
          <a:prstGeom prst="rect">
            <a:avLst/>
          </a:prstGeom>
          <a:solidFill>
            <a:srgbClr val="221F1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83" name="BLo1"/>
          <p:cNvSpPr/>
          <p:nvPr/>
        </p:nvSpPr>
        <p:spPr>
          <a:xfrm>
            <a:off x="2146300" y="455295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151E24"/>
                </a:solidFill>
              </a:rPr>
              <a:t>$180</a:t>
            </a:r>
          </a:p>
        </p:txBody>
      </p:sp>
      <p:sp>
        <p:nvSpPr>
          <p:cNvPr id="287" name="BHi1"/>
          <p:cNvSpPr/>
          <p:nvPr/>
        </p:nvSpPr>
        <p:spPr>
          <a:xfrm>
            <a:off x="5721350" y="4569229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900" dirty="0">
                <a:solidFill>
                  <a:srgbClr val="151E24"/>
                </a:solidFill>
              </a:rPr>
              <a:t>$420</a:t>
            </a:r>
          </a:p>
        </p:txBody>
      </p:sp>
      <p:sp>
        <p:nvSpPr>
          <p:cNvPr id="272" name="BLbl2"/>
          <p:cNvSpPr/>
          <p:nvPr/>
        </p:nvSpPr>
        <p:spPr>
          <a:xfrm>
            <a:off x="292100" y="4940300"/>
            <a:ext cx="10668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dirty="0">
                <a:solidFill>
                  <a:srgbClr val="62666A"/>
                </a:solidFill>
              </a:rPr>
              <a:t>NAV Range</a:t>
            </a:r>
          </a:p>
        </p:txBody>
      </p:sp>
      <p:sp>
        <p:nvSpPr>
          <p:cNvPr id="276" name="BBar2"/>
          <p:cNvSpPr/>
          <p:nvPr/>
        </p:nvSpPr>
        <p:spPr>
          <a:xfrm>
            <a:off x="1714500" y="5067300"/>
            <a:ext cx="1092200" cy="1778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80" name="BMrk2"/>
          <p:cNvSpPr/>
          <p:nvPr/>
        </p:nvSpPr>
        <p:spPr>
          <a:xfrm>
            <a:off x="2273300" y="5016500"/>
            <a:ext cx="25400" cy="279400"/>
          </a:xfrm>
          <a:prstGeom prst="rect">
            <a:avLst/>
          </a:prstGeom>
          <a:solidFill>
            <a:srgbClr val="221F1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84" name="BLo2"/>
          <p:cNvSpPr/>
          <p:nvPr/>
        </p:nvSpPr>
        <p:spPr>
          <a:xfrm>
            <a:off x="1365250" y="4917902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EFC400"/>
                </a:solidFill>
              </a:rPr>
              <a:t>$120</a:t>
            </a:r>
          </a:p>
        </p:txBody>
      </p:sp>
      <p:sp>
        <p:nvSpPr>
          <p:cNvPr id="288" name="BHi2"/>
          <p:cNvSpPr/>
          <p:nvPr/>
        </p:nvSpPr>
        <p:spPr>
          <a:xfrm>
            <a:off x="2750243" y="49276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900" dirty="0">
                <a:solidFill>
                  <a:srgbClr val="EFC400"/>
                </a:solidFill>
              </a:rPr>
              <a:t>$200</a:t>
            </a:r>
          </a:p>
        </p:txBody>
      </p:sp>
      <p:sp>
        <p:nvSpPr>
          <p:cNvPr id="273" name="BLbl3"/>
          <p:cNvSpPr/>
          <p:nvPr/>
        </p:nvSpPr>
        <p:spPr>
          <a:xfrm>
            <a:off x="292100" y="5321300"/>
            <a:ext cx="10668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dirty="0">
                <a:solidFill>
                  <a:srgbClr val="62666A"/>
                </a:solidFill>
              </a:rPr>
              <a:t>52-Wk Range</a:t>
            </a:r>
          </a:p>
        </p:txBody>
      </p:sp>
      <p:sp>
        <p:nvSpPr>
          <p:cNvPr id="277" name="BBar3"/>
          <p:cNvSpPr/>
          <p:nvPr/>
        </p:nvSpPr>
        <p:spPr>
          <a:xfrm>
            <a:off x="2298700" y="5448300"/>
            <a:ext cx="1993900" cy="1778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81" name="BMrk3"/>
          <p:cNvSpPr/>
          <p:nvPr/>
        </p:nvSpPr>
        <p:spPr>
          <a:xfrm>
            <a:off x="3352800" y="5397500"/>
            <a:ext cx="25400" cy="279400"/>
          </a:xfrm>
          <a:prstGeom prst="rect">
            <a:avLst/>
          </a:prstGeom>
          <a:solidFill>
            <a:srgbClr val="221F1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85" name="BLo3"/>
          <p:cNvSpPr/>
          <p:nvPr/>
        </p:nvSpPr>
        <p:spPr>
          <a:xfrm>
            <a:off x="1968500" y="5284816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62666A"/>
                </a:solidFill>
              </a:rPr>
              <a:t>$163</a:t>
            </a:r>
          </a:p>
        </p:txBody>
      </p:sp>
      <p:sp>
        <p:nvSpPr>
          <p:cNvPr id="289" name="BHi3"/>
          <p:cNvSpPr/>
          <p:nvPr/>
        </p:nvSpPr>
        <p:spPr>
          <a:xfrm>
            <a:off x="4191000" y="5291166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900" dirty="0">
                <a:solidFill>
                  <a:srgbClr val="62666A"/>
                </a:solidFill>
              </a:rPr>
              <a:t>$309</a:t>
            </a:r>
          </a:p>
        </p:txBody>
      </p:sp>
      <p:sp>
        <p:nvSpPr>
          <p:cNvPr id="290" name="CPLine"/>
          <p:cNvSpPr/>
          <p:nvPr/>
        </p:nvSpPr>
        <p:spPr>
          <a:xfrm>
            <a:off x="3352800" y="4178300"/>
            <a:ext cx="25400" cy="16256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91" name="CPLbl"/>
          <p:cNvSpPr/>
          <p:nvPr/>
        </p:nvSpPr>
        <p:spPr>
          <a:xfrm>
            <a:off x="3022600" y="3994150"/>
            <a:ext cx="711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CC2222"/>
                </a:solidFill>
              </a:rPr>
              <a:t>$240.49</a:t>
            </a:r>
          </a:p>
        </p:txBody>
      </p:sp>
      <p:sp>
        <p:nvSpPr>
          <p:cNvPr id="395" name="Ax100"/>
          <p:cNvSpPr/>
          <p:nvPr/>
        </p:nvSpPr>
        <p:spPr>
          <a:xfrm>
            <a:off x="1206500" y="58039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</a:rPr>
              <a:t>$100</a:t>
            </a:r>
          </a:p>
        </p:txBody>
      </p:sp>
      <p:sp>
        <p:nvSpPr>
          <p:cNvPr id="396" name="AxG100"/>
          <p:cNvSpPr/>
          <p:nvPr/>
        </p:nvSpPr>
        <p:spPr>
          <a:xfrm>
            <a:off x="1435100" y="4229100"/>
            <a:ext cx="12700" cy="1524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445" name="Ax150"/>
          <p:cNvSpPr/>
          <p:nvPr/>
        </p:nvSpPr>
        <p:spPr>
          <a:xfrm>
            <a:off x="1892300" y="58039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</a:rPr>
              <a:t>$150</a:t>
            </a:r>
          </a:p>
        </p:txBody>
      </p:sp>
      <p:sp>
        <p:nvSpPr>
          <p:cNvPr id="446" name="AxG150"/>
          <p:cNvSpPr/>
          <p:nvPr/>
        </p:nvSpPr>
        <p:spPr>
          <a:xfrm>
            <a:off x="2120900" y="4229100"/>
            <a:ext cx="12700" cy="1524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495" name="Ax200"/>
          <p:cNvSpPr/>
          <p:nvPr/>
        </p:nvSpPr>
        <p:spPr>
          <a:xfrm>
            <a:off x="2578100" y="58039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</a:rPr>
              <a:t>$200</a:t>
            </a:r>
          </a:p>
        </p:txBody>
      </p:sp>
      <p:sp>
        <p:nvSpPr>
          <p:cNvPr id="496" name="AxG200"/>
          <p:cNvSpPr/>
          <p:nvPr/>
        </p:nvSpPr>
        <p:spPr>
          <a:xfrm>
            <a:off x="2806700" y="4229100"/>
            <a:ext cx="12700" cy="1524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545" name="Ax250"/>
          <p:cNvSpPr/>
          <p:nvPr/>
        </p:nvSpPr>
        <p:spPr>
          <a:xfrm>
            <a:off x="3251200" y="58039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</a:rPr>
              <a:t>$250</a:t>
            </a:r>
          </a:p>
        </p:txBody>
      </p:sp>
      <p:sp>
        <p:nvSpPr>
          <p:cNvPr id="546" name="AxG250"/>
          <p:cNvSpPr/>
          <p:nvPr/>
        </p:nvSpPr>
        <p:spPr>
          <a:xfrm>
            <a:off x="3479800" y="4229100"/>
            <a:ext cx="12700" cy="1524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595" name="Ax300"/>
          <p:cNvSpPr/>
          <p:nvPr/>
        </p:nvSpPr>
        <p:spPr>
          <a:xfrm>
            <a:off x="3937000" y="58039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</a:rPr>
              <a:t>$300</a:t>
            </a:r>
          </a:p>
        </p:txBody>
      </p:sp>
      <p:sp>
        <p:nvSpPr>
          <p:cNvPr id="596" name="AxG300"/>
          <p:cNvSpPr/>
          <p:nvPr/>
        </p:nvSpPr>
        <p:spPr>
          <a:xfrm>
            <a:off x="4165600" y="4229100"/>
            <a:ext cx="12700" cy="1524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645" name="Ax350"/>
          <p:cNvSpPr/>
          <p:nvPr/>
        </p:nvSpPr>
        <p:spPr>
          <a:xfrm>
            <a:off x="4622800" y="58039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</a:rPr>
              <a:t>$350</a:t>
            </a:r>
          </a:p>
        </p:txBody>
      </p:sp>
      <p:sp>
        <p:nvSpPr>
          <p:cNvPr id="646" name="AxG350"/>
          <p:cNvSpPr/>
          <p:nvPr/>
        </p:nvSpPr>
        <p:spPr>
          <a:xfrm>
            <a:off x="4851400" y="4229100"/>
            <a:ext cx="12700" cy="1524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695" name="Ax400"/>
          <p:cNvSpPr/>
          <p:nvPr/>
        </p:nvSpPr>
        <p:spPr>
          <a:xfrm>
            <a:off x="5308600" y="58039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</a:rPr>
              <a:t>$400</a:t>
            </a:r>
          </a:p>
        </p:txBody>
      </p:sp>
      <p:sp>
        <p:nvSpPr>
          <p:cNvPr id="696" name="AxG400"/>
          <p:cNvSpPr/>
          <p:nvPr/>
        </p:nvSpPr>
        <p:spPr>
          <a:xfrm>
            <a:off x="5537200" y="4229100"/>
            <a:ext cx="12700" cy="1524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745" name="Ax450"/>
          <p:cNvSpPr/>
          <p:nvPr/>
        </p:nvSpPr>
        <p:spPr>
          <a:xfrm>
            <a:off x="5981700" y="58039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</a:rPr>
              <a:t>$450</a:t>
            </a:r>
          </a:p>
        </p:txBody>
      </p:sp>
      <p:sp>
        <p:nvSpPr>
          <p:cNvPr id="746" name="AxG450"/>
          <p:cNvSpPr/>
          <p:nvPr/>
        </p:nvSpPr>
        <p:spPr>
          <a:xfrm>
            <a:off x="6210300" y="4229100"/>
            <a:ext cx="12700" cy="1524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795" name="Ax500"/>
          <p:cNvSpPr/>
          <p:nvPr/>
        </p:nvSpPr>
        <p:spPr>
          <a:xfrm>
            <a:off x="6667500" y="58039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555555"/>
                </a:solidFill>
              </a:rPr>
              <a:t>$500</a:t>
            </a:r>
          </a:p>
        </p:txBody>
      </p:sp>
      <p:sp>
        <p:nvSpPr>
          <p:cNvPr id="796" name="AxG500"/>
          <p:cNvSpPr/>
          <p:nvPr/>
        </p:nvSpPr>
        <p:spPr>
          <a:xfrm>
            <a:off x="6896100" y="4229100"/>
            <a:ext cx="12700" cy="15240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399" name="XAxis"/>
          <p:cNvSpPr/>
          <p:nvPr/>
        </p:nvSpPr>
        <p:spPr>
          <a:xfrm>
            <a:off x="1435100" y="5753100"/>
            <a:ext cx="5461000" cy="127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00" name="PTSub"/>
          <p:cNvSpPr/>
          <p:nvPr/>
        </p:nvSpPr>
        <p:spPr>
          <a:xfrm>
            <a:off x="8483600" y="1918797"/>
            <a:ext cx="368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50" dirty="0">
                <a:solidFill>
                  <a:srgbClr val="62666A"/>
                </a:solidFill>
                <a:latin typeface="Arial"/>
              </a:rPr>
              <a:t>Current: $240.49  |  Rating: BUY  |  Upside: +24.7%</a:t>
            </a:r>
          </a:p>
        </p:txBody>
      </p:sp>
      <p:sp>
        <p:nvSpPr>
          <p:cNvPr id="2001" name="SensHdr"/>
          <p:cNvSpPr/>
          <p:nvPr/>
        </p:nvSpPr>
        <p:spPr>
          <a:xfrm>
            <a:off x="8483600" y="2223597"/>
            <a:ext cx="368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  <a:latin typeface="Arial"/>
              </a:rPr>
              <a:t>DCF SENSITIVITY — IMPLIED SHARE PRICE</a:t>
            </a:r>
          </a:p>
        </p:txBody>
      </p:sp>
      <p:sp>
        <p:nvSpPr>
          <p:cNvPr id="2002" name="SensHdrBg"/>
          <p:cNvSpPr>
            <a:spLocks noGrp="1"/>
          </p:cNvSpPr>
          <p:nvPr/>
        </p:nvSpPr>
        <p:spPr>
          <a:xfrm>
            <a:off x="8483600" y="2463800"/>
            <a:ext cx="3683000" cy="2794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3" name="SH_EC"/>
          <p:cNvSpPr/>
          <p:nvPr/>
        </p:nvSpPr>
        <p:spPr>
          <a:xfrm>
            <a:off x="8483600" y="24775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820" b="1" dirty="0">
                <a:solidFill>
                  <a:srgbClr val="FFFFFF"/>
                </a:solidFill>
                <a:latin typeface="Arial"/>
              </a:rPr>
              <a:t>Exit/DR</a:t>
            </a:r>
          </a:p>
        </p:txBody>
      </p:sp>
      <p:sp>
        <p:nvSpPr>
          <p:cNvPr id="2004" name="SH_D0"/>
          <p:cNvSpPr/>
          <p:nvPr/>
        </p:nvSpPr>
        <p:spPr>
          <a:xfrm>
            <a:off x="9093200" y="24775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8.0%</a:t>
            </a:r>
          </a:p>
        </p:txBody>
      </p:sp>
      <p:sp>
        <p:nvSpPr>
          <p:cNvPr id="2005" name="SH_D1"/>
          <p:cNvSpPr/>
          <p:nvPr/>
        </p:nvSpPr>
        <p:spPr>
          <a:xfrm>
            <a:off x="9702800" y="24775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9.0%</a:t>
            </a:r>
          </a:p>
        </p:txBody>
      </p:sp>
      <p:sp>
        <p:nvSpPr>
          <p:cNvPr id="2006" name="SH_D2"/>
          <p:cNvSpPr/>
          <p:nvPr/>
        </p:nvSpPr>
        <p:spPr>
          <a:xfrm>
            <a:off x="10312400" y="24775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10.0%</a:t>
            </a:r>
          </a:p>
        </p:txBody>
      </p:sp>
      <p:sp>
        <p:nvSpPr>
          <p:cNvPr id="2007" name="SH_D3"/>
          <p:cNvSpPr/>
          <p:nvPr/>
        </p:nvSpPr>
        <p:spPr>
          <a:xfrm>
            <a:off x="10922000" y="24775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11.0%</a:t>
            </a:r>
          </a:p>
        </p:txBody>
      </p:sp>
      <p:sp>
        <p:nvSpPr>
          <p:cNvPr id="2008" name="SH_D4"/>
          <p:cNvSpPr/>
          <p:nvPr/>
        </p:nvSpPr>
        <p:spPr>
          <a:xfrm>
            <a:off x="11531600" y="2463800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12.0%</a:t>
            </a:r>
          </a:p>
        </p:txBody>
      </p:sp>
      <p:sp>
        <p:nvSpPr>
          <p:cNvPr id="2010" name="SRBg0"/>
          <p:cNvSpPr>
            <a:spLocks noGrp="1"/>
          </p:cNvSpPr>
          <p:nvPr/>
        </p:nvSpPr>
        <p:spPr>
          <a:xfrm>
            <a:off x="8483600" y="2756997"/>
            <a:ext cx="36830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0" name="SEm0"/>
          <p:cNvSpPr/>
          <p:nvPr/>
        </p:nvSpPr>
        <p:spPr>
          <a:xfrm>
            <a:off x="8483600" y="2743200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dirty="0">
                <a:solidFill>
                  <a:srgbClr val="221F1F"/>
                </a:solidFill>
                <a:latin typeface="Arial"/>
              </a:rPr>
              <a:t>6x</a:t>
            </a:r>
          </a:p>
        </p:txBody>
      </p:sp>
      <p:sp>
        <p:nvSpPr>
          <p:cNvPr id="2030" name="SV0_0"/>
          <p:cNvSpPr/>
          <p:nvPr/>
        </p:nvSpPr>
        <p:spPr>
          <a:xfrm>
            <a:off x="9093200" y="27569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221F1F"/>
                </a:solidFill>
                <a:latin typeface="Arial"/>
              </a:rPr>
              <a:t>$245</a:t>
            </a:r>
          </a:p>
        </p:txBody>
      </p:sp>
      <p:sp>
        <p:nvSpPr>
          <p:cNvPr id="2031" name="SV0_1"/>
          <p:cNvSpPr/>
          <p:nvPr/>
        </p:nvSpPr>
        <p:spPr>
          <a:xfrm>
            <a:off x="9702800" y="27569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CC2222"/>
                </a:solidFill>
                <a:latin typeface="Arial"/>
              </a:rPr>
              <a:t>$222</a:t>
            </a:r>
          </a:p>
        </p:txBody>
      </p:sp>
      <p:sp>
        <p:nvSpPr>
          <p:cNvPr id="2032" name="SV0_2"/>
          <p:cNvSpPr/>
          <p:nvPr/>
        </p:nvSpPr>
        <p:spPr>
          <a:xfrm>
            <a:off x="10312400" y="27569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CC2222"/>
                </a:solidFill>
                <a:latin typeface="Arial"/>
              </a:rPr>
              <a:t>$200</a:t>
            </a:r>
          </a:p>
        </p:txBody>
      </p:sp>
      <p:sp>
        <p:nvSpPr>
          <p:cNvPr id="2033" name="SV0_3"/>
          <p:cNvSpPr/>
          <p:nvPr/>
        </p:nvSpPr>
        <p:spPr>
          <a:xfrm>
            <a:off x="10922000" y="27569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CC2222"/>
                </a:solidFill>
                <a:latin typeface="Arial"/>
              </a:rPr>
              <a:t>$180</a:t>
            </a:r>
          </a:p>
        </p:txBody>
      </p:sp>
      <p:sp>
        <p:nvSpPr>
          <p:cNvPr id="2034" name="SV0_4"/>
          <p:cNvSpPr/>
          <p:nvPr/>
        </p:nvSpPr>
        <p:spPr>
          <a:xfrm>
            <a:off x="11531600" y="2743200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CC2222"/>
                </a:solidFill>
                <a:latin typeface="Arial"/>
              </a:rPr>
              <a:t>$161</a:t>
            </a:r>
          </a:p>
        </p:txBody>
      </p:sp>
      <p:sp>
        <p:nvSpPr>
          <p:cNvPr id="2011" name="SRBg1"/>
          <p:cNvSpPr>
            <a:spLocks noGrp="1"/>
          </p:cNvSpPr>
          <p:nvPr/>
        </p:nvSpPr>
        <p:spPr>
          <a:xfrm>
            <a:off x="8483600" y="3022600"/>
            <a:ext cx="36830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1" name="SEm1"/>
          <p:cNvSpPr/>
          <p:nvPr/>
        </p:nvSpPr>
        <p:spPr>
          <a:xfrm>
            <a:off x="8483600" y="30363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dirty="0">
                <a:solidFill>
                  <a:srgbClr val="221F1F"/>
                </a:solidFill>
                <a:latin typeface="Arial"/>
              </a:rPr>
              <a:t>7x</a:t>
            </a:r>
          </a:p>
        </p:txBody>
      </p:sp>
      <p:sp>
        <p:nvSpPr>
          <p:cNvPr id="2035" name="SV1_0"/>
          <p:cNvSpPr/>
          <p:nvPr/>
        </p:nvSpPr>
        <p:spPr>
          <a:xfrm>
            <a:off x="9093200" y="30363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221F1F"/>
                </a:solidFill>
                <a:latin typeface="Arial"/>
              </a:rPr>
              <a:t>$272</a:t>
            </a:r>
          </a:p>
        </p:txBody>
      </p:sp>
      <p:sp>
        <p:nvSpPr>
          <p:cNvPr id="2036" name="SV1_1"/>
          <p:cNvSpPr/>
          <p:nvPr/>
        </p:nvSpPr>
        <p:spPr>
          <a:xfrm>
            <a:off x="9702800" y="30363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221F1F"/>
                </a:solidFill>
                <a:latin typeface="Arial"/>
              </a:rPr>
              <a:t>$248</a:t>
            </a:r>
          </a:p>
        </p:txBody>
      </p:sp>
      <p:sp>
        <p:nvSpPr>
          <p:cNvPr id="2037" name="SV1_2"/>
          <p:cNvSpPr/>
          <p:nvPr/>
        </p:nvSpPr>
        <p:spPr>
          <a:xfrm>
            <a:off x="10312400" y="30363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221F1F"/>
                </a:solidFill>
                <a:latin typeface="Arial"/>
              </a:rPr>
              <a:t>$224</a:t>
            </a:r>
          </a:p>
        </p:txBody>
      </p:sp>
      <p:sp>
        <p:nvSpPr>
          <p:cNvPr id="2038" name="SV1_3"/>
          <p:cNvSpPr/>
          <p:nvPr/>
        </p:nvSpPr>
        <p:spPr>
          <a:xfrm>
            <a:off x="10922000" y="30363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CC2222"/>
                </a:solidFill>
                <a:latin typeface="Arial"/>
              </a:rPr>
              <a:t>$201</a:t>
            </a:r>
          </a:p>
        </p:txBody>
      </p:sp>
      <p:sp>
        <p:nvSpPr>
          <p:cNvPr id="2039" name="SV1_4"/>
          <p:cNvSpPr/>
          <p:nvPr/>
        </p:nvSpPr>
        <p:spPr>
          <a:xfrm>
            <a:off x="11531600" y="3022600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CC2222"/>
                </a:solidFill>
                <a:latin typeface="Arial"/>
              </a:rPr>
              <a:t>$181</a:t>
            </a:r>
          </a:p>
        </p:txBody>
      </p:sp>
      <p:sp>
        <p:nvSpPr>
          <p:cNvPr id="2012" name="SRBg2"/>
          <p:cNvSpPr>
            <a:spLocks noGrp="1"/>
          </p:cNvSpPr>
          <p:nvPr/>
        </p:nvSpPr>
        <p:spPr>
          <a:xfrm>
            <a:off x="8483600" y="3315797"/>
            <a:ext cx="3683000" cy="2794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2" name="SEm2"/>
          <p:cNvSpPr/>
          <p:nvPr/>
        </p:nvSpPr>
        <p:spPr>
          <a:xfrm>
            <a:off x="8483600" y="3302000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8A6C00"/>
                </a:solidFill>
                <a:latin typeface="Arial"/>
              </a:rPr>
              <a:t>8x</a:t>
            </a:r>
          </a:p>
        </p:txBody>
      </p:sp>
      <p:sp>
        <p:nvSpPr>
          <p:cNvPr id="2040" name="SV2_0"/>
          <p:cNvSpPr/>
          <p:nvPr/>
        </p:nvSpPr>
        <p:spPr>
          <a:xfrm>
            <a:off x="9093200" y="33157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EFC400"/>
                </a:solidFill>
                <a:latin typeface="Arial"/>
              </a:rPr>
              <a:t>$300</a:t>
            </a:r>
          </a:p>
        </p:txBody>
      </p:sp>
      <p:sp>
        <p:nvSpPr>
          <p:cNvPr id="2041" name="SV2_1"/>
          <p:cNvSpPr/>
          <p:nvPr/>
        </p:nvSpPr>
        <p:spPr>
          <a:xfrm>
            <a:off x="9702800" y="33157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b="1" dirty="0">
                <a:solidFill>
                  <a:srgbClr val="221F1F"/>
                </a:solidFill>
                <a:latin typeface="Arial"/>
              </a:rPr>
              <a:t>$273</a:t>
            </a:r>
          </a:p>
        </p:txBody>
      </p:sp>
      <p:sp>
        <p:nvSpPr>
          <p:cNvPr id="2042" name="SV2_2"/>
          <p:cNvSpPr/>
          <p:nvPr/>
        </p:nvSpPr>
        <p:spPr>
          <a:xfrm>
            <a:off x="10312400" y="33157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221F1F"/>
                </a:solidFill>
                <a:latin typeface="Arial"/>
              </a:rPr>
              <a:t>$247</a:t>
            </a:r>
          </a:p>
        </p:txBody>
      </p:sp>
      <p:sp>
        <p:nvSpPr>
          <p:cNvPr id="2043" name="SV2_3"/>
          <p:cNvSpPr/>
          <p:nvPr/>
        </p:nvSpPr>
        <p:spPr>
          <a:xfrm>
            <a:off x="10922000" y="33157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CC2222"/>
                </a:solidFill>
                <a:latin typeface="Arial"/>
              </a:rPr>
              <a:t>$222</a:t>
            </a:r>
          </a:p>
        </p:txBody>
      </p:sp>
      <p:sp>
        <p:nvSpPr>
          <p:cNvPr id="2044" name="SV2_4"/>
          <p:cNvSpPr/>
          <p:nvPr/>
        </p:nvSpPr>
        <p:spPr>
          <a:xfrm>
            <a:off x="11531600" y="3302000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CC2222"/>
                </a:solidFill>
                <a:latin typeface="Arial"/>
              </a:rPr>
              <a:t>$200</a:t>
            </a:r>
          </a:p>
        </p:txBody>
      </p:sp>
      <p:sp>
        <p:nvSpPr>
          <p:cNvPr id="2013" name="SRBg3"/>
          <p:cNvSpPr>
            <a:spLocks noGrp="1"/>
          </p:cNvSpPr>
          <p:nvPr/>
        </p:nvSpPr>
        <p:spPr>
          <a:xfrm>
            <a:off x="8483600" y="3595197"/>
            <a:ext cx="36830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3" name="SEm3"/>
          <p:cNvSpPr/>
          <p:nvPr/>
        </p:nvSpPr>
        <p:spPr>
          <a:xfrm>
            <a:off x="8483600" y="3581400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dirty="0">
                <a:solidFill>
                  <a:srgbClr val="221F1F"/>
                </a:solidFill>
                <a:latin typeface="Arial"/>
              </a:rPr>
              <a:t>9x</a:t>
            </a:r>
          </a:p>
        </p:txBody>
      </p:sp>
      <p:sp>
        <p:nvSpPr>
          <p:cNvPr id="2045" name="SV3_0"/>
          <p:cNvSpPr/>
          <p:nvPr/>
        </p:nvSpPr>
        <p:spPr>
          <a:xfrm>
            <a:off x="9093200" y="35951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EFC400"/>
                </a:solidFill>
                <a:latin typeface="Arial"/>
              </a:rPr>
              <a:t>$327</a:t>
            </a:r>
          </a:p>
        </p:txBody>
      </p:sp>
      <p:sp>
        <p:nvSpPr>
          <p:cNvPr id="2046" name="SV3_1"/>
          <p:cNvSpPr/>
          <p:nvPr/>
        </p:nvSpPr>
        <p:spPr>
          <a:xfrm>
            <a:off x="9702800" y="35951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221F1F"/>
                </a:solidFill>
                <a:latin typeface="Arial"/>
              </a:rPr>
              <a:t>$297</a:t>
            </a:r>
          </a:p>
        </p:txBody>
      </p:sp>
      <p:sp>
        <p:nvSpPr>
          <p:cNvPr id="2047" name="SV3_2"/>
          <p:cNvSpPr/>
          <p:nvPr/>
        </p:nvSpPr>
        <p:spPr>
          <a:xfrm>
            <a:off x="10312400" y="35951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221F1F"/>
                </a:solidFill>
                <a:latin typeface="Arial"/>
              </a:rPr>
              <a:t>$269</a:t>
            </a:r>
          </a:p>
        </p:txBody>
      </p:sp>
      <p:sp>
        <p:nvSpPr>
          <p:cNvPr id="2048" name="SV3_3"/>
          <p:cNvSpPr/>
          <p:nvPr/>
        </p:nvSpPr>
        <p:spPr>
          <a:xfrm>
            <a:off x="10922000" y="35951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221F1F"/>
                </a:solidFill>
                <a:latin typeface="Arial"/>
              </a:rPr>
              <a:t>$243</a:t>
            </a:r>
          </a:p>
        </p:txBody>
      </p:sp>
      <p:sp>
        <p:nvSpPr>
          <p:cNvPr id="2049" name="SV3_4"/>
          <p:cNvSpPr/>
          <p:nvPr/>
        </p:nvSpPr>
        <p:spPr>
          <a:xfrm>
            <a:off x="11531600" y="3581400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CC2222"/>
                </a:solidFill>
                <a:latin typeface="Arial"/>
              </a:rPr>
              <a:t>$219</a:t>
            </a:r>
          </a:p>
        </p:txBody>
      </p:sp>
      <p:sp>
        <p:nvSpPr>
          <p:cNvPr id="2014" name="SRBg4"/>
          <p:cNvSpPr>
            <a:spLocks noGrp="1"/>
          </p:cNvSpPr>
          <p:nvPr/>
        </p:nvSpPr>
        <p:spPr>
          <a:xfrm>
            <a:off x="8483600" y="3874597"/>
            <a:ext cx="36830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4" name="SEm4"/>
          <p:cNvSpPr/>
          <p:nvPr/>
        </p:nvSpPr>
        <p:spPr>
          <a:xfrm>
            <a:off x="8483600" y="3860800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dirty="0">
                <a:solidFill>
                  <a:srgbClr val="221F1F"/>
                </a:solidFill>
                <a:latin typeface="Arial"/>
              </a:rPr>
              <a:t>10x</a:t>
            </a:r>
          </a:p>
        </p:txBody>
      </p:sp>
      <p:sp>
        <p:nvSpPr>
          <p:cNvPr id="2050" name="SV4_0"/>
          <p:cNvSpPr/>
          <p:nvPr/>
        </p:nvSpPr>
        <p:spPr>
          <a:xfrm>
            <a:off x="9093200" y="38745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EFC400"/>
                </a:solidFill>
                <a:latin typeface="Arial"/>
              </a:rPr>
              <a:t>$354</a:t>
            </a:r>
          </a:p>
        </p:txBody>
      </p:sp>
      <p:sp>
        <p:nvSpPr>
          <p:cNvPr id="2051" name="SV4_1"/>
          <p:cNvSpPr/>
          <p:nvPr/>
        </p:nvSpPr>
        <p:spPr>
          <a:xfrm>
            <a:off x="9702800" y="38745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EFC400"/>
                </a:solidFill>
                <a:latin typeface="Arial"/>
              </a:rPr>
              <a:t>$322</a:t>
            </a:r>
          </a:p>
        </p:txBody>
      </p:sp>
      <p:sp>
        <p:nvSpPr>
          <p:cNvPr id="2052" name="SV4_2"/>
          <p:cNvSpPr/>
          <p:nvPr/>
        </p:nvSpPr>
        <p:spPr>
          <a:xfrm>
            <a:off x="10312400" y="38745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221F1F"/>
                </a:solidFill>
                <a:latin typeface="Arial"/>
              </a:rPr>
              <a:t>$292</a:t>
            </a:r>
          </a:p>
        </p:txBody>
      </p:sp>
      <p:sp>
        <p:nvSpPr>
          <p:cNvPr id="2053" name="SV4_3"/>
          <p:cNvSpPr/>
          <p:nvPr/>
        </p:nvSpPr>
        <p:spPr>
          <a:xfrm>
            <a:off x="10922000" y="3874597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221F1F"/>
                </a:solidFill>
                <a:latin typeface="Arial"/>
              </a:rPr>
              <a:t>$263</a:t>
            </a:r>
          </a:p>
        </p:txBody>
      </p:sp>
      <p:sp>
        <p:nvSpPr>
          <p:cNvPr id="2054" name="SV4_4"/>
          <p:cNvSpPr/>
          <p:nvPr/>
        </p:nvSpPr>
        <p:spPr>
          <a:xfrm>
            <a:off x="11531600" y="3860800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221F1F"/>
                </a:solidFill>
                <a:latin typeface="Arial"/>
              </a:rPr>
              <a:t>$238</a:t>
            </a:r>
          </a:p>
        </p:txBody>
      </p:sp>
      <p:sp>
        <p:nvSpPr>
          <p:cNvPr id="2060" name="BaseNote"/>
          <p:cNvSpPr/>
          <p:nvPr/>
        </p:nvSpPr>
        <p:spPr>
          <a:xfrm>
            <a:off x="8483600" y="4204797"/>
            <a:ext cx="3683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850" dirty="0">
                <a:solidFill>
                  <a:srgbClr val="555555"/>
                </a:solidFill>
                <a:latin typeface="Arial"/>
              </a:rPr>
              <a:t>Base case: 8x exit × 9.0% WACC → $273 intrinsic</a:t>
            </a:r>
          </a:p>
        </p:txBody>
      </p:sp>
      <p:sp>
        <p:nvSpPr>
          <p:cNvPr id="2070" name="PTBox"/>
          <p:cNvSpPr>
            <a:spLocks noGrp="1"/>
          </p:cNvSpPr>
          <p:nvPr/>
        </p:nvSpPr>
        <p:spPr>
          <a:xfrm>
            <a:off x="8483600" y="4433397"/>
            <a:ext cx="3683000" cy="4826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1" name="PTLbl"/>
          <p:cNvSpPr/>
          <p:nvPr/>
        </p:nvSpPr>
        <p:spPr>
          <a:xfrm>
            <a:off x="8483600" y="4419600"/>
            <a:ext cx="368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dirty="0">
                <a:solidFill>
                  <a:srgbClr val="62666A"/>
                </a:solidFill>
                <a:latin typeface="Arial"/>
              </a:rPr>
              <a:t>BLENDED PRICE TARGET (60% DCF / 40% Comps)</a:t>
            </a:r>
          </a:p>
        </p:txBody>
      </p:sp>
      <p:sp>
        <p:nvSpPr>
          <p:cNvPr id="2072" name="PTVal"/>
          <p:cNvSpPr/>
          <p:nvPr/>
        </p:nvSpPr>
        <p:spPr>
          <a:xfrm>
            <a:off x="8483600" y="4648200"/>
            <a:ext cx="3683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EFC400"/>
                </a:solidFill>
                <a:latin typeface="Arial"/>
              </a:rPr>
              <a:t>$300.00 / share  (+24.7% Upside)</a:t>
            </a:r>
          </a:p>
        </p:txBody>
      </p:sp>
    </p:spTree>
    <p:extLst>
      <p:ext uri="{BB962C8B-B14F-4D97-AF65-F5344CB8AC3E}">
        <p14:creationId xmlns:p14="http://schemas.microsoft.com/office/powerpoint/2010/main" val="1453650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ecLbl"/>
          <p:cNvSpPr/>
          <p:nvPr/>
        </p:nvSpPr>
        <p:spPr>
          <a:xfrm>
            <a:off x="279400" y="101600"/>
            <a:ext cx="863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950" dirty="0">
                <a:solidFill>
                  <a:srgbClr val="8A6C00"/>
                </a:solidFill>
                <a:latin typeface="Arial"/>
              </a:rPr>
              <a:t>CATALYSTS &amp; TIMELINE</a:t>
            </a:r>
          </a:p>
        </p:txBody>
      </p:sp>
      <p:sp>
        <p:nvSpPr>
          <p:cNvPr id="105" name="SlideNum"/>
          <p:cNvSpPr/>
          <p:nvPr/>
        </p:nvSpPr>
        <p:spPr>
          <a:xfrm>
            <a:off x="11582400" y="1016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  <a:latin typeface="Arial"/>
              </a:rPr>
              <a:t>12</a:t>
            </a:r>
          </a:p>
        </p:txBody>
      </p:sp>
      <p:sp>
        <p:nvSpPr>
          <p:cNvPr id="106" name="Title"/>
          <p:cNvSpPr/>
          <p:nvPr/>
        </p:nvSpPr>
        <p:spPr>
          <a:xfrm>
            <a:off x="279400" y="279400"/>
            <a:ext cx="11633200" cy="482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800" b="1" dirty="0">
                <a:solidFill>
                  <a:srgbClr val="151E24"/>
                </a:solidFill>
                <a:latin typeface="Arial"/>
              </a:rPr>
              <a:t>Catalysts &amp; Re-Rating Timeline — 12-Month Investment Horizon</a:t>
            </a:r>
          </a:p>
        </p:txBody>
      </p:sp>
      <p:sp>
        <p:nvSpPr>
          <p:cNvPr id="107" name="GLD"/>
          <p:cNvSpPr>
            <a:spLocks noGrp="1"/>
          </p:cNvSpPr>
          <p:nvPr/>
        </p:nvSpPr>
        <p:spPr>
          <a:xfrm>
            <a:off x="279400" y="787400"/>
            <a:ext cx="11633200" cy="381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LHdr"/>
          <p:cNvSpPr/>
          <p:nvPr/>
        </p:nvSpPr>
        <p:spPr>
          <a:xfrm>
            <a:off x="279400" y="889000"/>
            <a:ext cx="5791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950" b="1" dirty="0">
                <a:solidFill>
                  <a:srgbClr val="151E24"/>
                </a:solidFill>
                <a:latin typeface="Arial"/>
              </a:rPr>
              <a:t>CATALYST MONITOR</a:t>
            </a:r>
          </a:p>
        </p:txBody>
      </p:sp>
      <p:sp>
        <p:nvSpPr>
          <p:cNvPr id="109" name="THbg"/>
          <p:cNvSpPr>
            <a:spLocks noGrp="1"/>
          </p:cNvSpPr>
          <p:nvPr/>
        </p:nvSpPr>
        <p:spPr>
          <a:xfrm>
            <a:off x="279400" y="1092200"/>
            <a:ext cx="5791200" cy="2794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H0"/>
          <p:cNvSpPr/>
          <p:nvPr/>
        </p:nvSpPr>
        <p:spPr>
          <a:xfrm>
            <a:off x="304800" y="1092200"/>
            <a:ext cx="2387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950" b="1" dirty="0">
                <a:solidFill>
                  <a:srgbClr val="FFFFFF"/>
                </a:solidFill>
                <a:latin typeface="Arial"/>
              </a:rPr>
              <a:t>Catalyst</a:t>
            </a:r>
          </a:p>
        </p:txBody>
      </p:sp>
      <p:sp>
        <p:nvSpPr>
          <p:cNvPr id="111" name="TH1"/>
          <p:cNvSpPr/>
          <p:nvPr/>
        </p:nvSpPr>
        <p:spPr>
          <a:xfrm>
            <a:off x="2743200" y="10922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/>
              </a:rPr>
              <a:t>Category</a:t>
            </a:r>
          </a:p>
        </p:txBody>
      </p:sp>
      <p:sp>
        <p:nvSpPr>
          <p:cNvPr id="112" name="TH2"/>
          <p:cNvSpPr/>
          <p:nvPr/>
        </p:nvSpPr>
        <p:spPr>
          <a:xfrm>
            <a:off x="3581400" y="10922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/>
              </a:rPr>
              <a:t>Date</a:t>
            </a:r>
          </a:p>
        </p:txBody>
      </p:sp>
      <p:sp>
        <p:nvSpPr>
          <p:cNvPr id="113" name="TH3"/>
          <p:cNvSpPr/>
          <p:nvPr/>
        </p:nvSpPr>
        <p:spPr>
          <a:xfrm>
            <a:off x="4419600" y="10922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114" name="TH4"/>
          <p:cNvSpPr/>
          <p:nvPr/>
        </p:nvSpPr>
        <p:spPr>
          <a:xfrm>
            <a:off x="5105400" y="10922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120" name="RBg0"/>
          <p:cNvSpPr>
            <a:spLocks noGrp="1"/>
          </p:cNvSpPr>
          <p:nvPr/>
        </p:nvSpPr>
        <p:spPr>
          <a:xfrm>
            <a:off x="279400" y="1397000"/>
            <a:ext cx="5791200" cy="3048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0" name="RL0"/>
          <p:cNvSpPr/>
          <p:nvPr/>
        </p:nvSpPr>
        <p:spPr>
          <a:xfrm>
            <a:off x="330200" y="1397000"/>
            <a:ext cx="2362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50" dirty="0">
                <a:solidFill>
                  <a:srgbClr val="221F1F"/>
                </a:solidFill>
                <a:latin typeface="Arial"/>
              </a:rPr>
              <a:t>Hope Bay Construction Decision</a:t>
            </a:r>
          </a:p>
        </p:txBody>
      </p:sp>
      <p:sp>
        <p:nvSpPr>
          <p:cNvPr id="131" name="RC0"/>
          <p:cNvSpPr/>
          <p:nvPr/>
        </p:nvSpPr>
        <p:spPr>
          <a:xfrm>
            <a:off x="2743200" y="13970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62666A"/>
                </a:solidFill>
                <a:latin typeface="Arial"/>
              </a:rPr>
              <a:t>Growth</a:t>
            </a:r>
          </a:p>
        </p:txBody>
      </p:sp>
      <p:sp>
        <p:nvSpPr>
          <p:cNvPr id="132" name="RD0"/>
          <p:cNvSpPr/>
          <p:nvPr/>
        </p:nvSpPr>
        <p:spPr>
          <a:xfrm>
            <a:off x="3581400" y="13970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62666A"/>
                </a:solidFill>
                <a:latin typeface="Arial"/>
              </a:rPr>
              <a:t>Q2 2026</a:t>
            </a:r>
          </a:p>
        </p:txBody>
      </p:sp>
      <p:sp>
        <p:nvSpPr>
          <p:cNvPr id="133" name="RI0"/>
          <p:cNvSpPr/>
          <p:nvPr/>
        </p:nvSpPr>
        <p:spPr>
          <a:xfrm>
            <a:off x="4419600" y="139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CC2222"/>
                </a:solidFill>
                <a:latin typeface="Arial"/>
              </a:rPr>
              <a:t>HIGH</a:t>
            </a:r>
          </a:p>
        </p:txBody>
      </p:sp>
      <p:sp>
        <p:nvSpPr>
          <p:cNvPr id="134" name="RS0"/>
          <p:cNvSpPr/>
          <p:nvPr/>
        </p:nvSpPr>
        <p:spPr>
          <a:xfrm>
            <a:off x="5105400" y="13970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62666A"/>
                </a:solidFill>
                <a:latin typeface="Arial"/>
              </a:rPr>
              <a:t>Pending</a:t>
            </a:r>
          </a:p>
        </p:txBody>
      </p:sp>
      <p:sp>
        <p:nvSpPr>
          <p:cNvPr id="121" name="RBg1"/>
          <p:cNvSpPr>
            <a:spLocks noGrp="1"/>
          </p:cNvSpPr>
          <p:nvPr/>
        </p:nvSpPr>
        <p:spPr>
          <a:xfrm>
            <a:off x="279400" y="1714500"/>
            <a:ext cx="57912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0" name="RL1"/>
          <p:cNvSpPr/>
          <p:nvPr/>
        </p:nvSpPr>
        <p:spPr>
          <a:xfrm>
            <a:off x="330200" y="1714500"/>
            <a:ext cx="2362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50" dirty="0">
                <a:solidFill>
                  <a:srgbClr val="221F1F"/>
                </a:solidFill>
                <a:latin typeface="Arial"/>
              </a:rPr>
              <a:t>East Gouldie Ramp (Odyssey)</a:t>
            </a:r>
          </a:p>
        </p:txBody>
      </p:sp>
      <p:sp>
        <p:nvSpPr>
          <p:cNvPr id="141" name="RC1"/>
          <p:cNvSpPr/>
          <p:nvPr/>
        </p:nvSpPr>
        <p:spPr>
          <a:xfrm>
            <a:off x="2743200" y="17145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62666A"/>
                </a:solidFill>
                <a:latin typeface="Arial"/>
              </a:rPr>
              <a:t>Operations</a:t>
            </a:r>
          </a:p>
        </p:txBody>
      </p:sp>
      <p:sp>
        <p:nvSpPr>
          <p:cNvPr id="142" name="RD1"/>
          <p:cNvSpPr/>
          <p:nvPr/>
        </p:nvSpPr>
        <p:spPr>
          <a:xfrm>
            <a:off x="3581400" y="17145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62666A"/>
                </a:solidFill>
                <a:latin typeface="Arial"/>
              </a:rPr>
              <a:t>Q1 2026</a:t>
            </a:r>
          </a:p>
        </p:txBody>
      </p:sp>
      <p:sp>
        <p:nvSpPr>
          <p:cNvPr id="143" name="RI1"/>
          <p:cNvSpPr/>
          <p:nvPr/>
        </p:nvSpPr>
        <p:spPr>
          <a:xfrm>
            <a:off x="4419600" y="17145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EFC400"/>
                </a:solidFill>
                <a:latin typeface="Arial"/>
              </a:rPr>
              <a:t>HIGH</a:t>
            </a:r>
          </a:p>
        </p:txBody>
      </p:sp>
      <p:sp>
        <p:nvSpPr>
          <p:cNvPr id="144" name="RS1"/>
          <p:cNvSpPr/>
          <p:nvPr/>
        </p:nvSpPr>
        <p:spPr>
          <a:xfrm>
            <a:off x="5105400" y="17145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62666A"/>
                </a:solidFill>
                <a:latin typeface="Arial"/>
              </a:rPr>
              <a:t>Active</a:t>
            </a:r>
          </a:p>
        </p:txBody>
      </p:sp>
      <p:sp>
        <p:nvSpPr>
          <p:cNvPr id="122" name="RBg2"/>
          <p:cNvSpPr>
            <a:spLocks noGrp="1"/>
          </p:cNvSpPr>
          <p:nvPr/>
        </p:nvSpPr>
        <p:spPr>
          <a:xfrm>
            <a:off x="279400" y="2032000"/>
            <a:ext cx="5791200" cy="3048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0" name="RL2"/>
          <p:cNvSpPr/>
          <p:nvPr/>
        </p:nvSpPr>
        <p:spPr>
          <a:xfrm>
            <a:off x="330200" y="2032000"/>
            <a:ext cx="2362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50" dirty="0">
                <a:solidFill>
                  <a:srgbClr val="221F1F"/>
                </a:solidFill>
                <a:latin typeface="Arial"/>
              </a:rPr>
              <a:t>Q1 2026 Earnings Release</a:t>
            </a:r>
          </a:p>
        </p:txBody>
      </p:sp>
      <p:sp>
        <p:nvSpPr>
          <p:cNvPr id="151" name="RC2"/>
          <p:cNvSpPr/>
          <p:nvPr/>
        </p:nvSpPr>
        <p:spPr>
          <a:xfrm>
            <a:off x="2743200" y="20320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62666A"/>
                </a:solidFill>
                <a:latin typeface="Arial"/>
              </a:rPr>
              <a:t>Financial</a:t>
            </a:r>
          </a:p>
        </p:txBody>
      </p:sp>
      <p:sp>
        <p:nvSpPr>
          <p:cNvPr id="152" name="RD2"/>
          <p:cNvSpPr/>
          <p:nvPr/>
        </p:nvSpPr>
        <p:spPr>
          <a:xfrm>
            <a:off x="3581400" y="20320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62666A"/>
                </a:solidFill>
                <a:latin typeface="Arial"/>
              </a:rPr>
              <a:t>May 2026</a:t>
            </a:r>
          </a:p>
        </p:txBody>
      </p:sp>
      <p:sp>
        <p:nvSpPr>
          <p:cNvPr id="153" name="RI2"/>
          <p:cNvSpPr/>
          <p:nvPr/>
        </p:nvSpPr>
        <p:spPr>
          <a:xfrm>
            <a:off x="4419600" y="2032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151E24"/>
                </a:solidFill>
                <a:latin typeface="Arial"/>
              </a:rPr>
              <a:t>MED</a:t>
            </a:r>
          </a:p>
        </p:txBody>
      </p:sp>
      <p:sp>
        <p:nvSpPr>
          <p:cNvPr id="154" name="RS2"/>
          <p:cNvSpPr/>
          <p:nvPr/>
        </p:nvSpPr>
        <p:spPr>
          <a:xfrm>
            <a:off x="5105400" y="20320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62666A"/>
                </a:solidFill>
                <a:latin typeface="Arial"/>
              </a:rPr>
              <a:t>Upcoming</a:t>
            </a:r>
          </a:p>
        </p:txBody>
      </p:sp>
      <p:sp>
        <p:nvSpPr>
          <p:cNvPr id="123" name="RBg3"/>
          <p:cNvSpPr>
            <a:spLocks noGrp="1"/>
          </p:cNvSpPr>
          <p:nvPr/>
        </p:nvSpPr>
        <p:spPr>
          <a:xfrm>
            <a:off x="279400" y="2349500"/>
            <a:ext cx="57912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0" name="RL3"/>
          <p:cNvSpPr/>
          <p:nvPr/>
        </p:nvSpPr>
        <p:spPr>
          <a:xfrm>
            <a:off x="330200" y="2349500"/>
            <a:ext cx="2362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50" dirty="0">
                <a:solidFill>
                  <a:srgbClr val="221F1F"/>
                </a:solidFill>
                <a:latin typeface="Arial"/>
              </a:rPr>
              <a:t>NCIB Renewal ($2B limit)</a:t>
            </a:r>
          </a:p>
        </p:txBody>
      </p:sp>
      <p:sp>
        <p:nvSpPr>
          <p:cNvPr id="161" name="RC3"/>
          <p:cNvSpPr/>
          <p:nvPr/>
        </p:nvSpPr>
        <p:spPr>
          <a:xfrm>
            <a:off x="2743200" y="23495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62666A"/>
                </a:solidFill>
                <a:latin typeface="Arial"/>
              </a:rPr>
              <a:t>Cap. Returns</a:t>
            </a:r>
          </a:p>
        </p:txBody>
      </p:sp>
      <p:sp>
        <p:nvSpPr>
          <p:cNvPr id="162" name="RD3"/>
          <p:cNvSpPr/>
          <p:nvPr/>
        </p:nvSpPr>
        <p:spPr>
          <a:xfrm>
            <a:off x="3581400" y="23495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62666A"/>
                </a:solidFill>
                <a:latin typeface="Arial"/>
              </a:rPr>
              <a:t>Q2 2026</a:t>
            </a:r>
          </a:p>
        </p:txBody>
      </p:sp>
      <p:sp>
        <p:nvSpPr>
          <p:cNvPr id="163" name="RI3"/>
          <p:cNvSpPr/>
          <p:nvPr/>
        </p:nvSpPr>
        <p:spPr>
          <a:xfrm>
            <a:off x="4419600" y="23495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151E24"/>
                </a:solidFill>
                <a:latin typeface="Arial"/>
              </a:rPr>
              <a:t>MED</a:t>
            </a:r>
          </a:p>
        </p:txBody>
      </p:sp>
      <p:sp>
        <p:nvSpPr>
          <p:cNvPr id="164" name="RS3"/>
          <p:cNvSpPr/>
          <p:nvPr/>
        </p:nvSpPr>
        <p:spPr>
          <a:xfrm>
            <a:off x="5105400" y="23495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62666A"/>
                </a:solidFill>
                <a:latin typeface="Arial"/>
              </a:rPr>
              <a:t>Planned</a:t>
            </a:r>
          </a:p>
        </p:txBody>
      </p:sp>
      <p:sp>
        <p:nvSpPr>
          <p:cNvPr id="124" name="RBg4"/>
          <p:cNvSpPr>
            <a:spLocks noGrp="1"/>
          </p:cNvSpPr>
          <p:nvPr/>
        </p:nvSpPr>
        <p:spPr>
          <a:xfrm>
            <a:off x="279400" y="2667000"/>
            <a:ext cx="5791200" cy="3048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" name="RL4"/>
          <p:cNvSpPr/>
          <p:nvPr/>
        </p:nvSpPr>
        <p:spPr>
          <a:xfrm>
            <a:off x="330200" y="2667000"/>
            <a:ext cx="2362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50" dirty="0">
                <a:solidFill>
                  <a:srgbClr val="221F1F"/>
                </a:solidFill>
                <a:latin typeface="Arial"/>
              </a:rPr>
              <a:t>Detour UG Feasibility Study</a:t>
            </a:r>
          </a:p>
        </p:txBody>
      </p:sp>
      <p:sp>
        <p:nvSpPr>
          <p:cNvPr id="171" name="RC4"/>
          <p:cNvSpPr/>
          <p:nvPr/>
        </p:nvSpPr>
        <p:spPr>
          <a:xfrm>
            <a:off x="2743200" y="26670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62666A"/>
                </a:solidFill>
                <a:latin typeface="Arial"/>
              </a:rPr>
              <a:t>Growth</a:t>
            </a:r>
          </a:p>
        </p:txBody>
      </p:sp>
      <p:sp>
        <p:nvSpPr>
          <p:cNvPr id="172" name="RD4"/>
          <p:cNvSpPr/>
          <p:nvPr/>
        </p:nvSpPr>
        <p:spPr>
          <a:xfrm>
            <a:off x="3581400" y="26670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62666A"/>
                </a:solidFill>
                <a:latin typeface="Arial"/>
              </a:rPr>
              <a:t>H2 2026</a:t>
            </a:r>
          </a:p>
        </p:txBody>
      </p:sp>
      <p:sp>
        <p:nvSpPr>
          <p:cNvPr id="173" name="RI4"/>
          <p:cNvSpPr/>
          <p:nvPr/>
        </p:nvSpPr>
        <p:spPr>
          <a:xfrm>
            <a:off x="4419600" y="2667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151E24"/>
                </a:solidFill>
                <a:latin typeface="Arial"/>
              </a:rPr>
              <a:t>MED</a:t>
            </a:r>
          </a:p>
        </p:txBody>
      </p:sp>
      <p:sp>
        <p:nvSpPr>
          <p:cNvPr id="174" name="RS4"/>
          <p:cNvSpPr/>
          <p:nvPr/>
        </p:nvSpPr>
        <p:spPr>
          <a:xfrm>
            <a:off x="5105400" y="26670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62666A"/>
                </a:solidFill>
                <a:latin typeface="Arial"/>
              </a:rPr>
              <a:t>In Study</a:t>
            </a:r>
          </a:p>
        </p:txBody>
      </p:sp>
      <p:sp>
        <p:nvSpPr>
          <p:cNvPr id="125" name="RBg5"/>
          <p:cNvSpPr>
            <a:spLocks noGrp="1"/>
          </p:cNvSpPr>
          <p:nvPr/>
        </p:nvSpPr>
        <p:spPr>
          <a:xfrm>
            <a:off x="279400" y="2984500"/>
            <a:ext cx="57912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0" name="RL5"/>
          <p:cNvSpPr/>
          <p:nvPr/>
        </p:nvSpPr>
        <p:spPr>
          <a:xfrm>
            <a:off x="330200" y="2984500"/>
            <a:ext cx="2362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50" dirty="0">
                <a:solidFill>
                  <a:srgbClr val="221F1F"/>
                </a:solidFill>
                <a:latin typeface="Arial"/>
              </a:rPr>
              <a:t>Upper Beaver Development</a:t>
            </a:r>
          </a:p>
        </p:txBody>
      </p:sp>
      <p:sp>
        <p:nvSpPr>
          <p:cNvPr id="181" name="RC5"/>
          <p:cNvSpPr/>
          <p:nvPr/>
        </p:nvSpPr>
        <p:spPr>
          <a:xfrm>
            <a:off x="2743200" y="29845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62666A"/>
                </a:solidFill>
                <a:latin typeface="Arial"/>
              </a:rPr>
              <a:t>Growth</a:t>
            </a:r>
          </a:p>
        </p:txBody>
      </p:sp>
      <p:sp>
        <p:nvSpPr>
          <p:cNvPr id="182" name="RD5"/>
          <p:cNvSpPr/>
          <p:nvPr/>
        </p:nvSpPr>
        <p:spPr>
          <a:xfrm>
            <a:off x="3581400" y="29845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62666A"/>
                </a:solidFill>
                <a:latin typeface="Arial"/>
              </a:rPr>
              <a:t>2027+</a:t>
            </a:r>
          </a:p>
        </p:txBody>
      </p:sp>
      <p:sp>
        <p:nvSpPr>
          <p:cNvPr id="183" name="RI5"/>
          <p:cNvSpPr/>
          <p:nvPr/>
        </p:nvSpPr>
        <p:spPr>
          <a:xfrm>
            <a:off x="4419600" y="29845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555555"/>
                </a:solidFill>
                <a:latin typeface="Arial"/>
              </a:rPr>
              <a:t>LOW</a:t>
            </a:r>
          </a:p>
        </p:txBody>
      </p:sp>
      <p:sp>
        <p:nvSpPr>
          <p:cNvPr id="184" name="RS5"/>
          <p:cNvSpPr/>
          <p:nvPr/>
        </p:nvSpPr>
        <p:spPr>
          <a:xfrm>
            <a:off x="5105400" y="29845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50" dirty="0">
                <a:solidFill>
                  <a:srgbClr val="62666A"/>
                </a:solidFill>
                <a:latin typeface="Arial"/>
              </a:rPr>
              <a:t>Planning</a:t>
            </a:r>
          </a:p>
        </p:txBody>
      </p:sp>
      <p:sp>
        <p:nvSpPr>
          <p:cNvPr id="190" name="ConvBg"/>
          <p:cNvSpPr>
            <a:spLocks noGrp="1"/>
          </p:cNvSpPr>
          <p:nvPr/>
        </p:nvSpPr>
        <p:spPr>
          <a:xfrm>
            <a:off x="279400" y="3403600"/>
            <a:ext cx="5791200" cy="11176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1" name="ConvBar"/>
          <p:cNvSpPr>
            <a:spLocks noGrp="1"/>
          </p:cNvSpPr>
          <p:nvPr/>
        </p:nvSpPr>
        <p:spPr>
          <a:xfrm>
            <a:off x="279400" y="3403600"/>
            <a:ext cx="63500" cy="11176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2" name="ConvH"/>
          <p:cNvSpPr/>
          <p:nvPr/>
        </p:nvSpPr>
        <p:spPr>
          <a:xfrm>
            <a:off x="381000" y="3454400"/>
            <a:ext cx="56134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EFC400"/>
                </a:solidFill>
                <a:latin typeface="Arial"/>
              </a:rPr>
              <a:t>HIGHEST CONVICTION: Hope Bay Construction Decision (Q2 2026)</a:t>
            </a:r>
          </a:p>
        </p:txBody>
      </p:sp>
      <p:sp>
        <p:nvSpPr>
          <p:cNvPr id="193" name="ConvB1"/>
          <p:cNvSpPr/>
          <p:nvPr/>
        </p:nvSpPr>
        <p:spPr>
          <a:xfrm>
            <a:off x="381000" y="3657600"/>
            <a:ext cx="56134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50" dirty="0">
                <a:solidFill>
                  <a:srgbClr val="3D3D3D"/>
                </a:solidFill>
                <a:latin typeface="Arial"/>
              </a:rPr>
              <a:t>400-425 Koz/yr production from ~2030  |  3.4 Moz P&amp;P at 6.53 g/t high-grade</a:t>
            </a:r>
          </a:p>
        </p:txBody>
      </p:sp>
      <p:sp>
        <p:nvSpPr>
          <p:cNvPr id="194" name="ConvB2"/>
          <p:cNvSpPr/>
          <p:nvPr/>
        </p:nvSpPr>
        <p:spPr>
          <a:xfrm>
            <a:off x="381000" y="3860800"/>
            <a:ext cx="56134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50" dirty="0">
                <a:solidFill>
                  <a:srgbClr val="3D3D3D"/>
                </a:solidFill>
                <a:latin typeface="Arial"/>
              </a:rPr>
              <a:t>Surface infrastructure complete. Management decision expected H1 2026.</a:t>
            </a:r>
          </a:p>
        </p:txBody>
      </p:sp>
      <p:sp>
        <p:nvSpPr>
          <p:cNvPr id="195" name="ConvB3"/>
          <p:cNvSpPr/>
          <p:nvPr/>
        </p:nvSpPr>
        <p:spPr>
          <a:xfrm>
            <a:off x="381000" y="4064000"/>
            <a:ext cx="56134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50" dirty="0">
                <a:solidFill>
                  <a:srgbClr val="3D3D3D"/>
                </a:solidFill>
                <a:latin typeface="Arial"/>
              </a:rPr>
              <a:t>Value add: +$15-25/share at 8x FCF exit (DCF sensitivity analysis)</a:t>
            </a:r>
          </a:p>
        </p:txBody>
      </p:sp>
      <p:sp>
        <p:nvSpPr>
          <p:cNvPr id="196" name="ConvB4"/>
          <p:cNvSpPr/>
          <p:nvPr/>
        </p:nvSpPr>
        <p:spPr>
          <a:xfrm>
            <a:off x="381000" y="4267200"/>
            <a:ext cx="56134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  <a:latin typeface="Arial"/>
              </a:rPr>
              <a:t>Expected 6-10% share price reaction on announcement day</a:t>
            </a:r>
          </a:p>
        </p:txBody>
      </p:sp>
      <p:sp>
        <p:nvSpPr>
          <p:cNvPr id="197" name="Src"/>
          <p:cNvSpPr/>
          <p:nvPr/>
        </p:nvSpPr>
        <p:spPr>
          <a:xfrm>
            <a:off x="279400" y="4622800"/>
            <a:ext cx="5791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880" dirty="0">
                <a:solidFill>
                  <a:srgbClr val="555555"/>
                </a:solidFill>
                <a:latin typeface="Arial"/>
              </a:rPr>
              <a:t>Source: AEM Q4 2025 News Release. Analyst estimates.</a:t>
            </a:r>
          </a:p>
        </p:txBody>
      </p:sp>
      <p:sp>
        <p:nvSpPr>
          <p:cNvPr id="200" name="VD"/>
          <p:cNvSpPr>
            <a:spLocks noGrp="1"/>
          </p:cNvSpPr>
          <p:nvPr/>
        </p:nvSpPr>
        <p:spPr>
          <a:xfrm>
            <a:off x="6223000" y="889000"/>
            <a:ext cx="12700" cy="57150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TLHdr"/>
          <p:cNvSpPr/>
          <p:nvPr/>
        </p:nvSpPr>
        <p:spPr>
          <a:xfrm>
            <a:off x="6324600" y="889000"/>
            <a:ext cx="56134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950" b="1" dirty="0">
                <a:solidFill>
                  <a:srgbClr val="151E24"/>
                </a:solidFill>
                <a:latin typeface="Arial"/>
              </a:rPr>
              <a:t>EVENT TIMELINE — Q1 2026 TO Q4 2027</a:t>
            </a:r>
          </a:p>
        </p:txBody>
      </p:sp>
      <p:sp>
        <p:nvSpPr>
          <p:cNvPr id="210" name="QB0"/>
          <p:cNvSpPr>
            <a:spLocks noGrp="1"/>
          </p:cNvSpPr>
          <p:nvPr/>
        </p:nvSpPr>
        <p:spPr>
          <a:xfrm>
            <a:off x="8356600" y="1092200"/>
            <a:ext cx="428625" cy="3708400"/>
          </a:xfrm>
          <a:prstGeom prst="rect">
            <a:avLst/>
          </a:prstGeom>
          <a:solidFill>
            <a:srgbClr val="F0F1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QL0"/>
          <p:cNvSpPr/>
          <p:nvPr/>
        </p:nvSpPr>
        <p:spPr>
          <a:xfrm>
            <a:off x="8356600" y="1092200"/>
            <a:ext cx="428625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51E24"/>
                </a:solidFill>
                <a:latin typeface="Arial"/>
              </a:rPr>
              <a:t>Q1’26</a:t>
            </a:r>
          </a:p>
        </p:txBody>
      </p:sp>
      <p:sp>
        <p:nvSpPr>
          <p:cNvPr id="211" name="QB1"/>
          <p:cNvSpPr>
            <a:spLocks noGrp="1"/>
          </p:cNvSpPr>
          <p:nvPr/>
        </p:nvSpPr>
        <p:spPr>
          <a:xfrm>
            <a:off x="8785225" y="1092200"/>
            <a:ext cx="428625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QL1"/>
          <p:cNvSpPr/>
          <p:nvPr/>
        </p:nvSpPr>
        <p:spPr>
          <a:xfrm>
            <a:off x="8785225" y="1092200"/>
            <a:ext cx="428625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51E24"/>
                </a:solidFill>
                <a:latin typeface="Arial"/>
              </a:rPr>
              <a:t>Q2'26</a:t>
            </a:r>
            <a:endParaRPr lang="en-US" sz="750" b="1" dirty="0">
              <a:solidFill>
                <a:srgbClr val="151E24"/>
              </a:solidFill>
              <a:latin typeface="Arial"/>
            </a:endParaRPr>
          </a:p>
        </p:txBody>
      </p:sp>
      <p:sp>
        <p:nvSpPr>
          <p:cNvPr id="212" name="QB2"/>
          <p:cNvSpPr>
            <a:spLocks noGrp="1"/>
          </p:cNvSpPr>
          <p:nvPr/>
        </p:nvSpPr>
        <p:spPr>
          <a:xfrm>
            <a:off x="9213850" y="1092200"/>
            <a:ext cx="428625" cy="3708400"/>
          </a:xfrm>
          <a:prstGeom prst="rect">
            <a:avLst/>
          </a:prstGeom>
          <a:solidFill>
            <a:srgbClr val="F0F1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QL2"/>
          <p:cNvSpPr/>
          <p:nvPr/>
        </p:nvSpPr>
        <p:spPr>
          <a:xfrm>
            <a:off x="9213850" y="1092200"/>
            <a:ext cx="428625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51E24"/>
                </a:solidFill>
                <a:latin typeface="Arial"/>
              </a:rPr>
              <a:t>Q3'26</a:t>
            </a:r>
          </a:p>
        </p:txBody>
      </p:sp>
      <p:sp>
        <p:nvSpPr>
          <p:cNvPr id="213" name="QB3"/>
          <p:cNvSpPr>
            <a:spLocks noGrp="1"/>
          </p:cNvSpPr>
          <p:nvPr/>
        </p:nvSpPr>
        <p:spPr>
          <a:xfrm>
            <a:off x="9642475" y="1092200"/>
            <a:ext cx="428625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QL3"/>
          <p:cNvSpPr/>
          <p:nvPr/>
        </p:nvSpPr>
        <p:spPr>
          <a:xfrm>
            <a:off x="9642475" y="1092200"/>
            <a:ext cx="428625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51E24"/>
                </a:solidFill>
                <a:latin typeface="Arial"/>
              </a:rPr>
              <a:t>Q4'26</a:t>
            </a:r>
            <a:endParaRPr lang="en-US" sz="750" b="1" dirty="0">
              <a:solidFill>
                <a:srgbClr val="151E24"/>
              </a:solidFill>
              <a:latin typeface="Arial"/>
            </a:endParaRPr>
          </a:p>
        </p:txBody>
      </p:sp>
      <p:sp>
        <p:nvSpPr>
          <p:cNvPr id="214" name="QB4"/>
          <p:cNvSpPr>
            <a:spLocks noGrp="1"/>
          </p:cNvSpPr>
          <p:nvPr/>
        </p:nvSpPr>
        <p:spPr>
          <a:xfrm>
            <a:off x="10071100" y="1092200"/>
            <a:ext cx="428625" cy="3708400"/>
          </a:xfrm>
          <a:prstGeom prst="rect">
            <a:avLst/>
          </a:prstGeom>
          <a:solidFill>
            <a:srgbClr val="F0F1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4" name="QL4"/>
          <p:cNvSpPr/>
          <p:nvPr/>
        </p:nvSpPr>
        <p:spPr>
          <a:xfrm>
            <a:off x="10071100" y="1092200"/>
            <a:ext cx="428625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51E24"/>
                </a:solidFill>
                <a:latin typeface="Arial"/>
              </a:rPr>
              <a:t>Q1'27</a:t>
            </a:r>
            <a:endParaRPr lang="en-US" sz="750" b="1" dirty="0">
              <a:solidFill>
                <a:srgbClr val="151E24"/>
              </a:solidFill>
              <a:latin typeface="Arial"/>
            </a:endParaRPr>
          </a:p>
        </p:txBody>
      </p:sp>
      <p:sp>
        <p:nvSpPr>
          <p:cNvPr id="215" name="QB5"/>
          <p:cNvSpPr>
            <a:spLocks noGrp="1"/>
          </p:cNvSpPr>
          <p:nvPr/>
        </p:nvSpPr>
        <p:spPr>
          <a:xfrm>
            <a:off x="10499725" y="1092200"/>
            <a:ext cx="428625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5" name="QL5"/>
          <p:cNvSpPr/>
          <p:nvPr/>
        </p:nvSpPr>
        <p:spPr>
          <a:xfrm>
            <a:off x="10499725" y="1092200"/>
            <a:ext cx="428625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51E24"/>
                </a:solidFill>
                <a:latin typeface="Arial"/>
              </a:rPr>
              <a:t>Q2'27</a:t>
            </a:r>
            <a:endParaRPr lang="en-US" sz="750" b="1" dirty="0">
              <a:solidFill>
                <a:srgbClr val="151E24"/>
              </a:solidFill>
              <a:latin typeface="Arial"/>
            </a:endParaRPr>
          </a:p>
        </p:txBody>
      </p:sp>
      <p:sp>
        <p:nvSpPr>
          <p:cNvPr id="216" name="QB6"/>
          <p:cNvSpPr>
            <a:spLocks noGrp="1"/>
          </p:cNvSpPr>
          <p:nvPr/>
        </p:nvSpPr>
        <p:spPr>
          <a:xfrm>
            <a:off x="10928350" y="1092200"/>
            <a:ext cx="428625" cy="3708400"/>
          </a:xfrm>
          <a:prstGeom prst="rect">
            <a:avLst/>
          </a:prstGeom>
          <a:solidFill>
            <a:srgbClr val="F0F1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6" name="QL6"/>
          <p:cNvSpPr/>
          <p:nvPr/>
        </p:nvSpPr>
        <p:spPr>
          <a:xfrm>
            <a:off x="10928350" y="1092200"/>
            <a:ext cx="428625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51E24"/>
                </a:solidFill>
                <a:latin typeface="Arial"/>
              </a:rPr>
              <a:t>Q3'27</a:t>
            </a:r>
            <a:endParaRPr lang="en-US" sz="750" b="1" dirty="0">
              <a:solidFill>
                <a:srgbClr val="151E24"/>
              </a:solidFill>
              <a:latin typeface="Arial"/>
            </a:endParaRPr>
          </a:p>
        </p:txBody>
      </p:sp>
      <p:sp>
        <p:nvSpPr>
          <p:cNvPr id="217" name="QB7"/>
          <p:cNvSpPr>
            <a:spLocks noGrp="1"/>
          </p:cNvSpPr>
          <p:nvPr/>
        </p:nvSpPr>
        <p:spPr>
          <a:xfrm>
            <a:off x="11356975" y="1092200"/>
            <a:ext cx="428625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7" name="QL7"/>
          <p:cNvSpPr/>
          <p:nvPr/>
        </p:nvSpPr>
        <p:spPr>
          <a:xfrm>
            <a:off x="11356975" y="1092200"/>
            <a:ext cx="428625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51E24"/>
                </a:solidFill>
                <a:latin typeface="Arial"/>
              </a:rPr>
              <a:t>Q4'27</a:t>
            </a:r>
            <a:endParaRPr lang="en-US" sz="750" b="1" dirty="0">
              <a:solidFill>
                <a:srgbClr val="151E24"/>
              </a:solidFill>
              <a:latin typeface="Arial"/>
            </a:endParaRPr>
          </a:p>
        </p:txBody>
      </p:sp>
      <p:sp>
        <p:nvSpPr>
          <p:cNvPr id="228" name="QLS"/>
          <p:cNvSpPr>
            <a:spLocks noGrp="1"/>
          </p:cNvSpPr>
          <p:nvPr/>
        </p:nvSpPr>
        <p:spPr>
          <a:xfrm>
            <a:off x="8356600" y="1346200"/>
            <a:ext cx="3429000" cy="254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9" name="LLHdr"/>
          <p:cNvSpPr/>
          <p:nvPr/>
        </p:nvSpPr>
        <p:spPr>
          <a:xfrm>
            <a:off x="6324600" y="1092200"/>
            <a:ext cx="20066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850" b="1" dirty="0">
                <a:solidFill>
                  <a:srgbClr val="151E24"/>
                </a:solidFill>
                <a:latin typeface="Arial"/>
              </a:rPr>
              <a:t>Catalyst Event</a:t>
            </a:r>
          </a:p>
        </p:txBody>
      </p:sp>
      <p:sp>
        <p:nvSpPr>
          <p:cNvPr id="230" name="LLLine"/>
          <p:cNvSpPr>
            <a:spLocks noGrp="1"/>
          </p:cNvSpPr>
          <p:nvPr/>
        </p:nvSpPr>
        <p:spPr>
          <a:xfrm>
            <a:off x="6324600" y="1346200"/>
            <a:ext cx="2006600" cy="254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0" name="RBg0"/>
          <p:cNvSpPr>
            <a:spLocks noGrp="1"/>
          </p:cNvSpPr>
          <p:nvPr/>
        </p:nvSpPr>
        <p:spPr>
          <a:xfrm>
            <a:off x="8356600" y="1397000"/>
            <a:ext cx="3429000" cy="482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6" name="LBg0"/>
          <p:cNvSpPr>
            <a:spLocks noGrp="1"/>
          </p:cNvSpPr>
          <p:nvPr/>
        </p:nvSpPr>
        <p:spPr>
          <a:xfrm>
            <a:off x="6324600" y="1397000"/>
            <a:ext cx="2006600" cy="482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0" name="EL0"/>
          <p:cNvSpPr/>
          <p:nvPr/>
        </p:nvSpPr>
        <p:spPr>
          <a:xfrm>
            <a:off x="6350000" y="1397000"/>
            <a:ext cx="1955800" cy="482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CC2222"/>
                </a:solidFill>
                <a:latin typeface="Arial"/>
              </a:rPr>
              <a:t>Hope Bay Decision</a:t>
            </a:r>
          </a:p>
        </p:txBody>
      </p:sp>
      <p:sp>
        <p:nvSpPr>
          <p:cNvPr id="260" name="Bar0"/>
          <p:cNvSpPr/>
          <p:nvPr/>
        </p:nvSpPr>
        <p:spPr>
          <a:xfrm>
            <a:off x="8785225" y="1524000"/>
            <a:ext cx="101600" cy="228600"/>
          </a:xfrm>
          <a:prstGeom prst="roundRect">
            <a:avLst>
              <a:gd name="adj" fmla="val 25000"/>
            </a:avLst>
          </a:prstGeom>
          <a:solidFill>
            <a:srgbClr val="CC22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0" name="HS0"/>
          <p:cNvSpPr>
            <a:spLocks noGrp="1"/>
          </p:cNvSpPr>
          <p:nvPr/>
        </p:nvSpPr>
        <p:spPr>
          <a:xfrm>
            <a:off x="6324600" y="1879600"/>
            <a:ext cx="54356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1" name="RBg1"/>
          <p:cNvSpPr>
            <a:spLocks noGrp="1"/>
          </p:cNvSpPr>
          <p:nvPr/>
        </p:nvSpPr>
        <p:spPr>
          <a:xfrm>
            <a:off x="8356600" y="1879600"/>
            <a:ext cx="3429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7" name="LBg1"/>
          <p:cNvSpPr>
            <a:spLocks noGrp="1"/>
          </p:cNvSpPr>
          <p:nvPr/>
        </p:nvSpPr>
        <p:spPr>
          <a:xfrm>
            <a:off x="6324600" y="1879600"/>
            <a:ext cx="20066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1" name="EL1"/>
          <p:cNvSpPr/>
          <p:nvPr/>
        </p:nvSpPr>
        <p:spPr>
          <a:xfrm>
            <a:off x="6350000" y="1879600"/>
            <a:ext cx="1955800" cy="482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EFC400"/>
                </a:solidFill>
                <a:latin typeface="Arial"/>
              </a:rPr>
              <a:t>E. Gouldie Ramp</a:t>
            </a:r>
          </a:p>
        </p:txBody>
      </p:sp>
      <p:sp>
        <p:nvSpPr>
          <p:cNvPr id="261" name="Bar1"/>
          <p:cNvSpPr/>
          <p:nvPr/>
        </p:nvSpPr>
        <p:spPr>
          <a:xfrm>
            <a:off x="8356600" y="2006600"/>
            <a:ext cx="557213" cy="228600"/>
          </a:xfrm>
          <a:prstGeom prst="roundRect">
            <a:avLst>
              <a:gd name="adj" fmla="val 25000"/>
            </a:avLst>
          </a:prstGeom>
          <a:solidFill>
            <a:srgbClr val="EFC4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1" name="HS1"/>
          <p:cNvSpPr>
            <a:spLocks noGrp="1"/>
          </p:cNvSpPr>
          <p:nvPr/>
        </p:nvSpPr>
        <p:spPr>
          <a:xfrm>
            <a:off x="6324600" y="2362200"/>
            <a:ext cx="54356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2" name="RBg2"/>
          <p:cNvSpPr>
            <a:spLocks noGrp="1"/>
          </p:cNvSpPr>
          <p:nvPr/>
        </p:nvSpPr>
        <p:spPr>
          <a:xfrm>
            <a:off x="8356600" y="2362200"/>
            <a:ext cx="3429000" cy="482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8" name="LBg2"/>
          <p:cNvSpPr>
            <a:spLocks noGrp="1"/>
          </p:cNvSpPr>
          <p:nvPr/>
        </p:nvSpPr>
        <p:spPr>
          <a:xfrm>
            <a:off x="6324600" y="2362200"/>
            <a:ext cx="2006600" cy="482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2" name="EL2"/>
          <p:cNvSpPr/>
          <p:nvPr/>
        </p:nvSpPr>
        <p:spPr>
          <a:xfrm>
            <a:off x="6350000" y="2362200"/>
            <a:ext cx="1955800" cy="482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151E24"/>
                </a:solidFill>
                <a:latin typeface="Arial"/>
              </a:rPr>
              <a:t>Q1 2026 Earnings</a:t>
            </a:r>
          </a:p>
        </p:txBody>
      </p:sp>
      <p:sp>
        <p:nvSpPr>
          <p:cNvPr id="262" name="Bar2"/>
          <p:cNvSpPr/>
          <p:nvPr/>
        </p:nvSpPr>
        <p:spPr>
          <a:xfrm>
            <a:off x="8913813" y="2489200"/>
            <a:ext cx="101600" cy="228600"/>
          </a:xfrm>
          <a:prstGeom prst="roundRect">
            <a:avLst>
              <a:gd name="adj" fmla="val 25000"/>
            </a:avLst>
          </a:prstGeom>
          <a:solidFill>
            <a:srgbClr val="151E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2" name="HS2"/>
          <p:cNvSpPr>
            <a:spLocks noGrp="1"/>
          </p:cNvSpPr>
          <p:nvPr/>
        </p:nvSpPr>
        <p:spPr>
          <a:xfrm>
            <a:off x="6324600" y="2844800"/>
            <a:ext cx="54356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3" name="RBg3"/>
          <p:cNvSpPr>
            <a:spLocks noGrp="1"/>
          </p:cNvSpPr>
          <p:nvPr/>
        </p:nvSpPr>
        <p:spPr>
          <a:xfrm>
            <a:off x="8356600" y="2844800"/>
            <a:ext cx="3429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9" name="LBg3"/>
          <p:cNvSpPr>
            <a:spLocks noGrp="1"/>
          </p:cNvSpPr>
          <p:nvPr/>
        </p:nvSpPr>
        <p:spPr>
          <a:xfrm>
            <a:off x="6324600" y="2844800"/>
            <a:ext cx="20066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3" name="EL3"/>
          <p:cNvSpPr/>
          <p:nvPr/>
        </p:nvSpPr>
        <p:spPr>
          <a:xfrm>
            <a:off x="6350000" y="2844800"/>
            <a:ext cx="1955800" cy="482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151E24"/>
                </a:solidFill>
                <a:latin typeface="Arial"/>
              </a:rPr>
              <a:t>NCIB Buybacks</a:t>
            </a:r>
          </a:p>
        </p:txBody>
      </p:sp>
      <p:sp>
        <p:nvSpPr>
          <p:cNvPr id="263" name="Bar3"/>
          <p:cNvSpPr/>
          <p:nvPr/>
        </p:nvSpPr>
        <p:spPr>
          <a:xfrm>
            <a:off x="8913813" y="2971800"/>
            <a:ext cx="1157288" cy="228600"/>
          </a:xfrm>
          <a:prstGeom prst="roundRect">
            <a:avLst>
              <a:gd name="adj" fmla="val 25000"/>
            </a:avLst>
          </a:prstGeom>
          <a:solidFill>
            <a:srgbClr val="151E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3" name="HS3"/>
          <p:cNvSpPr>
            <a:spLocks noGrp="1"/>
          </p:cNvSpPr>
          <p:nvPr/>
        </p:nvSpPr>
        <p:spPr>
          <a:xfrm>
            <a:off x="6324600" y="3327400"/>
            <a:ext cx="54356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4" name="RBg4"/>
          <p:cNvSpPr>
            <a:spLocks noGrp="1"/>
          </p:cNvSpPr>
          <p:nvPr/>
        </p:nvSpPr>
        <p:spPr>
          <a:xfrm>
            <a:off x="8356600" y="3327400"/>
            <a:ext cx="3429000" cy="482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LBg4"/>
          <p:cNvSpPr>
            <a:spLocks noGrp="1"/>
          </p:cNvSpPr>
          <p:nvPr/>
        </p:nvSpPr>
        <p:spPr>
          <a:xfrm>
            <a:off x="6324600" y="3327400"/>
            <a:ext cx="2006600" cy="482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4" name="EL4"/>
          <p:cNvSpPr/>
          <p:nvPr/>
        </p:nvSpPr>
        <p:spPr>
          <a:xfrm>
            <a:off x="6350000" y="3327400"/>
            <a:ext cx="1955800" cy="482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EFC400"/>
                </a:solidFill>
                <a:latin typeface="Arial"/>
              </a:rPr>
              <a:t>Detour UG Study</a:t>
            </a:r>
          </a:p>
        </p:txBody>
      </p:sp>
      <p:sp>
        <p:nvSpPr>
          <p:cNvPr id="264" name="Bar4"/>
          <p:cNvSpPr/>
          <p:nvPr/>
        </p:nvSpPr>
        <p:spPr>
          <a:xfrm>
            <a:off x="9213850" y="3454400"/>
            <a:ext cx="342900" cy="228600"/>
          </a:xfrm>
          <a:prstGeom prst="roundRect">
            <a:avLst>
              <a:gd name="adj" fmla="val 25000"/>
            </a:avLst>
          </a:prstGeom>
          <a:solidFill>
            <a:srgbClr val="EFC4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4" name="HS4"/>
          <p:cNvSpPr>
            <a:spLocks noGrp="1"/>
          </p:cNvSpPr>
          <p:nvPr/>
        </p:nvSpPr>
        <p:spPr>
          <a:xfrm>
            <a:off x="6324600" y="3810000"/>
            <a:ext cx="54356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5" name="RBg5"/>
          <p:cNvSpPr>
            <a:spLocks noGrp="1"/>
          </p:cNvSpPr>
          <p:nvPr/>
        </p:nvSpPr>
        <p:spPr>
          <a:xfrm>
            <a:off x="8356600" y="3810000"/>
            <a:ext cx="3429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LBg5"/>
          <p:cNvSpPr>
            <a:spLocks noGrp="1"/>
          </p:cNvSpPr>
          <p:nvPr/>
        </p:nvSpPr>
        <p:spPr>
          <a:xfrm>
            <a:off x="6324600" y="3810000"/>
            <a:ext cx="20066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5" name="EL5"/>
          <p:cNvSpPr/>
          <p:nvPr/>
        </p:nvSpPr>
        <p:spPr>
          <a:xfrm>
            <a:off x="6350000" y="3810000"/>
            <a:ext cx="1955800" cy="482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151E24"/>
                </a:solidFill>
                <a:latin typeface="Arial"/>
              </a:rPr>
              <a:t>Odyssey Shaft Ramp</a:t>
            </a:r>
          </a:p>
        </p:txBody>
      </p:sp>
      <p:sp>
        <p:nvSpPr>
          <p:cNvPr id="265" name="Bar5"/>
          <p:cNvSpPr/>
          <p:nvPr/>
        </p:nvSpPr>
        <p:spPr>
          <a:xfrm>
            <a:off x="10071100" y="3937000"/>
            <a:ext cx="642938" cy="228600"/>
          </a:xfrm>
          <a:prstGeom prst="roundRect">
            <a:avLst>
              <a:gd name="adj" fmla="val 25000"/>
            </a:avLst>
          </a:prstGeom>
          <a:solidFill>
            <a:srgbClr val="151E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5" name="HS5"/>
          <p:cNvSpPr>
            <a:spLocks noGrp="1"/>
          </p:cNvSpPr>
          <p:nvPr/>
        </p:nvSpPr>
        <p:spPr>
          <a:xfrm>
            <a:off x="6324600" y="4292600"/>
            <a:ext cx="54356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Bg6"/>
          <p:cNvSpPr>
            <a:spLocks noGrp="1"/>
          </p:cNvSpPr>
          <p:nvPr/>
        </p:nvSpPr>
        <p:spPr>
          <a:xfrm>
            <a:off x="8356600" y="4292600"/>
            <a:ext cx="3429000" cy="482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LBg6"/>
          <p:cNvSpPr>
            <a:spLocks noGrp="1"/>
          </p:cNvSpPr>
          <p:nvPr/>
        </p:nvSpPr>
        <p:spPr>
          <a:xfrm>
            <a:off x="6324600" y="4292600"/>
            <a:ext cx="2006600" cy="482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6" name="EL6"/>
          <p:cNvSpPr/>
          <p:nvPr/>
        </p:nvSpPr>
        <p:spPr>
          <a:xfrm>
            <a:off x="6350000" y="4292600"/>
            <a:ext cx="1955800" cy="482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EFC400"/>
                </a:solidFill>
                <a:latin typeface="Arial"/>
              </a:rPr>
              <a:t>Upper Beaver Dev.</a:t>
            </a:r>
          </a:p>
        </p:txBody>
      </p:sp>
      <p:sp>
        <p:nvSpPr>
          <p:cNvPr id="266" name="Bar6"/>
          <p:cNvSpPr/>
          <p:nvPr/>
        </p:nvSpPr>
        <p:spPr>
          <a:xfrm>
            <a:off x="9856788" y="4419600"/>
            <a:ext cx="1800225" cy="228600"/>
          </a:xfrm>
          <a:prstGeom prst="roundRect">
            <a:avLst>
              <a:gd name="adj" fmla="val 25000"/>
            </a:avLst>
          </a:prstGeom>
          <a:solidFill>
            <a:srgbClr val="EFC4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6" name="HS6"/>
          <p:cNvSpPr>
            <a:spLocks noGrp="1"/>
          </p:cNvSpPr>
          <p:nvPr/>
        </p:nvSpPr>
        <p:spPr>
          <a:xfrm>
            <a:off x="6324600" y="4775200"/>
            <a:ext cx="5435600" cy="127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0" name="TDline"/>
          <p:cNvSpPr>
            <a:spLocks noGrp="1"/>
          </p:cNvSpPr>
          <p:nvPr/>
        </p:nvSpPr>
        <p:spPr>
          <a:xfrm>
            <a:off x="8382318" y="1371600"/>
            <a:ext cx="25400" cy="34036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1" name="TDlbl"/>
          <p:cNvSpPr/>
          <p:nvPr/>
        </p:nvSpPr>
        <p:spPr>
          <a:xfrm>
            <a:off x="8179118" y="48006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850" b="1" dirty="0">
                <a:solidFill>
                  <a:srgbClr val="CC2222"/>
                </a:solidFill>
                <a:latin typeface="Arial"/>
              </a:rPr>
              <a:t>TODAY</a:t>
            </a:r>
          </a:p>
        </p:txBody>
      </p:sp>
    </p:spTree>
    <p:extLst>
      <p:ext uri="{BB962C8B-B14F-4D97-AF65-F5344CB8AC3E}">
        <p14:creationId xmlns:p14="http://schemas.microsoft.com/office/powerpoint/2010/main" val="2882456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ecLbl"/>
          <p:cNvSpPr/>
          <p:nvPr/>
        </p:nvSpPr>
        <p:spPr>
          <a:xfrm>
            <a:off x="279400" y="127000"/>
            <a:ext cx="4445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8A6C00"/>
                </a:solidFill>
              </a:rPr>
              <a:t>BEAR CASE / SCENARIO ANALYSIS</a:t>
            </a:r>
          </a:p>
        </p:txBody>
      </p:sp>
      <p:sp>
        <p:nvSpPr>
          <p:cNvPr id="105" name="SNum"/>
          <p:cNvSpPr/>
          <p:nvPr/>
        </p:nvSpPr>
        <p:spPr>
          <a:xfrm>
            <a:off x="11582400" y="127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106" name="Title"/>
          <p:cNvSpPr/>
          <p:nvPr/>
        </p:nvSpPr>
        <p:spPr>
          <a:xfrm>
            <a:off x="279400" y="381000"/>
            <a:ext cx="116332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600" dirty="0">
                <a:solidFill>
                  <a:srgbClr val="221F1F"/>
                </a:solidFill>
              </a:rPr>
              <a:t>Bear Case ($5,000/oz Gold, 35% Tax, No Hope Bay): DCF $268 | Risk/Reward Asymmetric — BUY Maintained</a:t>
            </a:r>
          </a:p>
        </p:txBody>
      </p:sp>
      <p:sp>
        <p:nvSpPr>
          <p:cNvPr id="107" name="Div1"/>
          <p:cNvSpPr/>
          <p:nvPr/>
        </p:nvSpPr>
        <p:spPr>
          <a:xfrm>
            <a:off x="279400" y="889000"/>
            <a:ext cx="11633200" cy="254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0" name="CBg0"/>
          <p:cNvSpPr/>
          <p:nvPr/>
        </p:nvSpPr>
        <p:spPr>
          <a:xfrm>
            <a:off x="279400" y="990600"/>
            <a:ext cx="3683000" cy="469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3" name="CBar0"/>
          <p:cNvSpPr/>
          <p:nvPr/>
        </p:nvSpPr>
        <p:spPr>
          <a:xfrm>
            <a:off x="279400" y="990600"/>
            <a:ext cx="3683000" cy="508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6" name="CHdr0"/>
          <p:cNvSpPr/>
          <p:nvPr/>
        </p:nvSpPr>
        <p:spPr>
          <a:xfrm>
            <a:off x="381000" y="1117600"/>
            <a:ext cx="35052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200" b="1" dirty="0">
                <a:solidFill>
                  <a:srgbClr val="CC2222"/>
                </a:solidFill>
              </a:rPr>
              <a:t>BEAR CASE — $5,000/oz Gold</a:t>
            </a:r>
          </a:p>
        </p:txBody>
      </p:sp>
      <p:sp>
        <p:nvSpPr>
          <p:cNvPr id="209" name="CSep0"/>
          <p:cNvSpPr/>
          <p:nvPr/>
        </p:nvSpPr>
        <p:spPr>
          <a:xfrm>
            <a:off x="381000" y="1435100"/>
            <a:ext cx="3505200" cy="127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0" name="CLbl0_0"/>
          <p:cNvSpPr/>
          <p:nvPr/>
        </p:nvSpPr>
        <p:spPr>
          <a:xfrm>
            <a:off x="381000" y="15240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Assumption:</a:t>
            </a:r>
          </a:p>
        </p:txBody>
      </p:sp>
      <p:sp>
        <p:nvSpPr>
          <p:cNvPr id="211" name="CVal0_0"/>
          <p:cNvSpPr/>
          <p:nvPr/>
        </p:nvSpPr>
        <p:spPr>
          <a:xfrm>
            <a:off x="381000" y="17272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Gold $5,000/oz | 35% Tax | No Hope Bay</a:t>
            </a:r>
          </a:p>
        </p:txBody>
      </p:sp>
      <p:sp>
        <p:nvSpPr>
          <p:cNvPr id="212" name="CLbl0_1"/>
          <p:cNvSpPr/>
          <p:nvPr/>
        </p:nvSpPr>
        <p:spPr>
          <a:xfrm>
            <a:off x="381000" y="20066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Revenue FY2026E:</a:t>
            </a:r>
          </a:p>
        </p:txBody>
      </p:sp>
      <p:sp>
        <p:nvSpPr>
          <p:cNvPr id="213" name="CVal0_1"/>
          <p:cNvSpPr/>
          <p:nvPr/>
        </p:nvSpPr>
        <p:spPr>
          <a:xfrm>
            <a:off x="381000" y="22098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$17,000M (vs. $20,400M base)</a:t>
            </a:r>
          </a:p>
        </p:txBody>
      </p:sp>
      <p:sp>
        <p:nvSpPr>
          <p:cNvPr id="214" name="CLbl0_2"/>
          <p:cNvSpPr/>
          <p:nvPr/>
        </p:nvSpPr>
        <p:spPr>
          <a:xfrm>
            <a:off x="381000" y="24892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EBITDA FY2026E:</a:t>
            </a:r>
          </a:p>
        </p:txBody>
      </p:sp>
      <p:sp>
        <p:nvSpPr>
          <p:cNvPr id="215" name="CVal0_2"/>
          <p:cNvSpPr/>
          <p:nvPr/>
        </p:nvSpPr>
        <p:spPr>
          <a:xfrm>
            <a:off x="381000" y="26924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$12,882M (vs. $16,169M base)</a:t>
            </a:r>
          </a:p>
        </p:txBody>
      </p:sp>
      <p:sp>
        <p:nvSpPr>
          <p:cNvPr id="216" name="CLbl0_3"/>
          <p:cNvSpPr/>
          <p:nvPr/>
        </p:nvSpPr>
        <p:spPr>
          <a:xfrm>
            <a:off x="381000" y="29718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Net Income FY2026E:</a:t>
            </a:r>
          </a:p>
        </p:txBody>
      </p:sp>
      <p:sp>
        <p:nvSpPr>
          <p:cNvPr id="217" name="CVal0_3"/>
          <p:cNvSpPr/>
          <p:nvPr/>
        </p:nvSpPr>
        <p:spPr>
          <a:xfrm>
            <a:off x="381000" y="31750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$7,228M (vs. $9,438M base)</a:t>
            </a:r>
          </a:p>
        </p:txBody>
      </p:sp>
      <p:sp>
        <p:nvSpPr>
          <p:cNvPr id="218" name="CLbl0_4"/>
          <p:cNvSpPr/>
          <p:nvPr/>
        </p:nvSpPr>
        <p:spPr>
          <a:xfrm>
            <a:off x="381000" y="34544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EPS FY2026E:</a:t>
            </a:r>
          </a:p>
        </p:txBody>
      </p:sp>
      <p:sp>
        <p:nvSpPr>
          <p:cNvPr id="219" name="CVal0_4"/>
          <p:cNvSpPr/>
          <p:nvPr/>
        </p:nvSpPr>
        <p:spPr>
          <a:xfrm>
            <a:off x="381000" y="36576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$14.66 (vs. $19.15 base)</a:t>
            </a:r>
          </a:p>
        </p:txBody>
      </p:sp>
      <p:sp>
        <p:nvSpPr>
          <p:cNvPr id="220" name="CLbl0_5"/>
          <p:cNvSpPr/>
          <p:nvPr/>
        </p:nvSpPr>
        <p:spPr>
          <a:xfrm>
            <a:off x="381000" y="39370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DCF Implied Price:</a:t>
            </a:r>
          </a:p>
        </p:txBody>
      </p:sp>
      <p:sp>
        <p:nvSpPr>
          <p:cNvPr id="221" name="CVal0_5"/>
          <p:cNvSpPr/>
          <p:nvPr/>
        </p:nvSpPr>
        <p:spPr>
          <a:xfrm>
            <a:off x="381000" y="41402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~$268 (+11.4% upside from $240.49)</a:t>
            </a:r>
          </a:p>
        </p:txBody>
      </p:sp>
      <p:sp>
        <p:nvSpPr>
          <p:cNvPr id="222" name="CLbl0_6"/>
          <p:cNvSpPr/>
          <p:nvPr/>
        </p:nvSpPr>
        <p:spPr>
          <a:xfrm>
            <a:off x="381000" y="44196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NAV Implied Price:</a:t>
            </a:r>
          </a:p>
        </p:txBody>
      </p:sp>
      <p:sp>
        <p:nvSpPr>
          <p:cNvPr id="223" name="CVal0_6"/>
          <p:cNvSpPr/>
          <p:nvPr/>
        </p:nvSpPr>
        <p:spPr>
          <a:xfrm>
            <a:off x="381000" y="46228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$162 (reserve-based floor)</a:t>
            </a:r>
          </a:p>
        </p:txBody>
      </p:sp>
      <p:sp>
        <p:nvSpPr>
          <p:cNvPr id="224" name="CLbl0_7"/>
          <p:cNvSpPr/>
          <p:nvPr/>
        </p:nvSpPr>
        <p:spPr>
          <a:xfrm>
            <a:off x="381000" y="49022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Blended Bear PT:</a:t>
            </a:r>
          </a:p>
        </p:txBody>
      </p:sp>
      <p:sp>
        <p:nvSpPr>
          <p:cNvPr id="225" name="CVal0_7"/>
          <p:cNvSpPr/>
          <p:nvPr/>
        </p:nvSpPr>
        <p:spPr>
          <a:xfrm>
            <a:off x="381000" y="51054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~$245 — still ABOVE current price</a:t>
            </a:r>
          </a:p>
        </p:txBody>
      </p:sp>
      <p:sp>
        <p:nvSpPr>
          <p:cNvPr id="201" name="CBg1"/>
          <p:cNvSpPr/>
          <p:nvPr/>
        </p:nvSpPr>
        <p:spPr>
          <a:xfrm>
            <a:off x="4267200" y="990600"/>
            <a:ext cx="3683000" cy="469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4" name="CBar1"/>
          <p:cNvSpPr/>
          <p:nvPr/>
        </p:nvSpPr>
        <p:spPr>
          <a:xfrm>
            <a:off x="4267200" y="990600"/>
            <a:ext cx="3683000" cy="50800"/>
          </a:xfrm>
          <a:prstGeom prst="rect">
            <a:avLst/>
          </a:prstGeom>
          <a:solidFill>
            <a:srgbClr val="8A6C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7" name="CHdr1"/>
          <p:cNvSpPr/>
          <p:nvPr/>
        </p:nvSpPr>
        <p:spPr>
          <a:xfrm>
            <a:off x="4368800" y="1117600"/>
            <a:ext cx="35052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200" b="1" dirty="0">
                <a:solidFill>
                  <a:srgbClr val="8A6C00"/>
                </a:solidFill>
              </a:rPr>
              <a:t>BASE CASE — $6,000/oz Gold</a:t>
            </a:r>
          </a:p>
        </p:txBody>
      </p:sp>
      <p:sp>
        <p:nvSpPr>
          <p:cNvPr id="2" name="CSep1"/>
          <p:cNvSpPr/>
          <p:nvPr/>
        </p:nvSpPr>
        <p:spPr>
          <a:xfrm>
            <a:off x="4368800" y="1435100"/>
            <a:ext cx="3505200" cy="12700"/>
          </a:xfrm>
          <a:prstGeom prst="rect">
            <a:avLst/>
          </a:prstGeom>
          <a:solidFill>
            <a:srgbClr val="8A6C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40" name="CLbl1_0"/>
          <p:cNvSpPr/>
          <p:nvPr/>
        </p:nvSpPr>
        <p:spPr>
          <a:xfrm>
            <a:off x="4368800" y="15240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Assumption:</a:t>
            </a:r>
          </a:p>
        </p:txBody>
      </p:sp>
      <p:sp>
        <p:nvSpPr>
          <p:cNvPr id="241" name="CVal1_0"/>
          <p:cNvSpPr/>
          <p:nvPr/>
        </p:nvSpPr>
        <p:spPr>
          <a:xfrm>
            <a:off x="4368800" y="17272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Gold $6,000/oz | 28% Tax | All Projects</a:t>
            </a:r>
          </a:p>
        </p:txBody>
      </p:sp>
      <p:sp>
        <p:nvSpPr>
          <p:cNvPr id="242" name="CLbl1_1"/>
          <p:cNvSpPr/>
          <p:nvPr/>
        </p:nvSpPr>
        <p:spPr>
          <a:xfrm>
            <a:off x="4368800" y="20066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Revenue FY2026E:</a:t>
            </a:r>
          </a:p>
        </p:txBody>
      </p:sp>
      <p:sp>
        <p:nvSpPr>
          <p:cNvPr id="243" name="CVal1_1"/>
          <p:cNvSpPr/>
          <p:nvPr/>
        </p:nvSpPr>
        <p:spPr>
          <a:xfrm>
            <a:off x="4368800" y="22098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$20,400M</a:t>
            </a:r>
          </a:p>
        </p:txBody>
      </p:sp>
      <p:sp>
        <p:nvSpPr>
          <p:cNvPr id="244" name="CLbl1_2"/>
          <p:cNvSpPr/>
          <p:nvPr/>
        </p:nvSpPr>
        <p:spPr>
          <a:xfrm>
            <a:off x="4368800" y="24892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EBITDA FY2026E:</a:t>
            </a:r>
          </a:p>
        </p:txBody>
      </p:sp>
      <p:sp>
        <p:nvSpPr>
          <p:cNvPr id="245" name="CVal1_2"/>
          <p:cNvSpPr/>
          <p:nvPr/>
        </p:nvSpPr>
        <p:spPr>
          <a:xfrm>
            <a:off x="4368800" y="26924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$16,169M (79.3% margin)</a:t>
            </a:r>
          </a:p>
        </p:txBody>
      </p:sp>
      <p:sp>
        <p:nvSpPr>
          <p:cNvPr id="246" name="CLbl1_3"/>
          <p:cNvSpPr/>
          <p:nvPr/>
        </p:nvSpPr>
        <p:spPr>
          <a:xfrm>
            <a:off x="4368800" y="29718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Net Income FY2026E:</a:t>
            </a:r>
          </a:p>
        </p:txBody>
      </p:sp>
      <p:sp>
        <p:nvSpPr>
          <p:cNvPr id="247" name="CVal1_3"/>
          <p:cNvSpPr/>
          <p:nvPr/>
        </p:nvSpPr>
        <p:spPr>
          <a:xfrm>
            <a:off x="4368800" y="31750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$9,438M (46.3% margin)</a:t>
            </a:r>
          </a:p>
        </p:txBody>
      </p:sp>
      <p:sp>
        <p:nvSpPr>
          <p:cNvPr id="248" name="CLbl1_4"/>
          <p:cNvSpPr/>
          <p:nvPr/>
        </p:nvSpPr>
        <p:spPr>
          <a:xfrm>
            <a:off x="4368800" y="34544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EPS FY2026E:</a:t>
            </a:r>
          </a:p>
        </p:txBody>
      </p:sp>
      <p:sp>
        <p:nvSpPr>
          <p:cNvPr id="249" name="CVal1_4"/>
          <p:cNvSpPr/>
          <p:nvPr/>
        </p:nvSpPr>
        <p:spPr>
          <a:xfrm>
            <a:off x="4368800" y="36576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$19.15 (+147% vs. FY2024A)</a:t>
            </a:r>
          </a:p>
        </p:txBody>
      </p:sp>
      <p:sp>
        <p:nvSpPr>
          <p:cNvPr id="250" name="CLbl1_5"/>
          <p:cNvSpPr/>
          <p:nvPr/>
        </p:nvSpPr>
        <p:spPr>
          <a:xfrm>
            <a:off x="4368800" y="39370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DCF Implied Price:</a:t>
            </a:r>
          </a:p>
        </p:txBody>
      </p:sp>
      <p:sp>
        <p:nvSpPr>
          <p:cNvPr id="251" name="CVal1_5"/>
          <p:cNvSpPr/>
          <p:nvPr/>
        </p:nvSpPr>
        <p:spPr>
          <a:xfrm>
            <a:off x="4368800" y="41402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$371 (+54.3% from $240.49)</a:t>
            </a:r>
          </a:p>
        </p:txBody>
      </p:sp>
      <p:sp>
        <p:nvSpPr>
          <p:cNvPr id="252" name="CLbl1_6"/>
          <p:cNvSpPr/>
          <p:nvPr/>
        </p:nvSpPr>
        <p:spPr>
          <a:xfrm>
            <a:off x="4368800" y="44196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Blended Price Target:</a:t>
            </a:r>
          </a:p>
        </p:txBody>
      </p:sp>
      <p:sp>
        <p:nvSpPr>
          <p:cNvPr id="253" name="CVal1_6"/>
          <p:cNvSpPr/>
          <p:nvPr/>
        </p:nvSpPr>
        <p:spPr>
          <a:xfrm>
            <a:off x="4368800" y="46228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$300 (50% DCF + 30% NAV + 20% Comps)</a:t>
            </a:r>
          </a:p>
        </p:txBody>
      </p:sp>
      <p:sp>
        <p:nvSpPr>
          <p:cNvPr id="254" name="CLbl1_7"/>
          <p:cNvSpPr/>
          <p:nvPr/>
        </p:nvSpPr>
        <p:spPr>
          <a:xfrm>
            <a:off x="4368800" y="49022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Upside to PT:</a:t>
            </a:r>
          </a:p>
        </p:txBody>
      </p:sp>
      <p:sp>
        <p:nvSpPr>
          <p:cNvPr id="255" name="CVal1_7"/>
          <p:cNvSpPr/>
          <p:nvPr/>
        </p:nvSpPr>
        <p:spPr>
          <a:xfrm>
            <a:off x="4368800" y="51054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24.7%</a:t>
            </a:r>
          </a:p>
        </p:txBody>
      </p:sp>
      <p:sp>
        <p:nvSpPr>
          <p:cNvPr id="202" name="CBg2"/>
          <p:cNvSpPr/>
          <p:nvPr/>
        </p:nvSpPr>
        <p:spPr>
          <a:xfrm>
            <a:off x="8255000" y="990600"/>
            <a:ext cx="3683000" cy="469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5" name="CBar2"/>
          <p:cNvSpPr/>
          <p:nvPr/>
        </p:nvSpPr>
        <p:spPr>
          <a:xfrm>
            <a:off x="8255000" y="990600"/>
            <a:ext cx="3683000" cy="5080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8" name="CHdr2"/>
          <p:cNvSpPr/>
          <p:nvPr/>
        </p:nvSpPr>
        <p:spPr>
          <a:xfrm>
            <a:off x="8356600" y="1117600"/>
            <a:ext cx="35052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200" b="1" dirty="0">
                <a:solidFill>
                  <a:srgbClr val="1A8A4A"/>
                </a:solidFill>
              </a:rPr>
              <a:t>BULL CASE — $7,000/oz Gold</a:t>
            </a:r>
          </a:p>
        </p:txBody>
      </p:sp>
      <p:sp>
        <p:nvSpPr>
          <p:cNvPr id="3" name="CSep2"/>
          <p:cNvSpPr/>
          <p:nvPr/>
        </p:nvSpPr>
        <p:spPr>
          <a:xfrm>
            <a:off x="8356600" y="1435100"/>
            <a:ext cx="3505200" cy="1270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70" name="CLbl2_0"/>
          <p:cNvSpPr/>
          <p:nvPr/>
        </p:nvSpPr>
        <p:spPr>
          <a:xfrm>
            <a:off x="8356600" y="15240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Assumption:</a:t>
            </a:r>
          </a:p>
        </p:txBody>
      </p:sp>
      <p:sp>
        <p:nvSpPr>
          <p:cNvPr id="271" name="CVal2_0"/>
          <p:cNvSpPr/>
          <p:nvPr/>
        </p:nvSpPr>
        <p:spPr>
          <a:xfrm>
            <a:off x="8356600" y="17272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Gold $7,000/oz | Hope Bay Approved</a:t>
            </a:r>
          </a:p>
        </p:txBody>
      </p:sp>
      <p:sp>
        <p:nvSpPr>
          <p:cNvPr id="272" name="CLbl2_1"/>
          <p:cNvSpPr/>
          <p:nvPr/>
        </p:nvSpPr>
        <p:spPr>
          <a:xfrm>
            <a:off x="8356600" y="20066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Revenue FY2026E:</a:t>
            </a:r>
          </a:p>
        </p:txBody>
      </p:sp>
      <p:sp>
        <p:nvSpPr>
          <p:cNvPr id="273" name="CVal2_1"/>
          <p:cNvSpPr/>
          <p:nvPr/>
        </p:nvSpPr>
        <p:spPr>
          <a:xfrm>
            <a:off x="8356600" y="22098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~$23,800M</a:t>
            </a:r>
          </a:p>
        </p:txBody>
      </p:sp>
      <p:sp>
        <p:nvSpPr>
          <p:cNvPr id="274" name="CLbl2_2"/>
          <p:cNvSpPr/>
          <p:nvPr/>
        </p:nvSpPr>
        <p:spPr>
          <a:xfrm>
            <a:off x="8356600" y="24892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EBITDA FY2026E:</a:t>
            </a:r>
          </a:p>
        </p:txBody>
      </p:sp>
      <p:sp>
        <p:nvSpPr>
          <p:cNvPr id="275" name="CVal2_2"/>
          <p:cNvSpPr/>
          <p:nvPr/>
        </p:nvSpPr>
        <p:spPr>
          <a:xfrm>
            <a:off x="8356600" y="26924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~$19,500M (~82% margin)</a:t>
            </a:r>
          </a:p>
        </p:txBody>
      </p:sp>
      <p:sp>
        <p:nvSpPr>
          <p:cNvPr id="276" name="CLbl2_3"/>
          <p:cNvSpPr/>
          <p:nvPr/>
        </p:nvSpPr>
        <p:spPr>
          <a:xfrm>
            <a:off x="8356600" y="29718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EPS FY2026E:</a:t>
            </a:r>
          </a:p>
        </p:txBody>
      </p:sp>
      <p:sp>
        <p:nvSpPr>
          <p:cNvPr id="277" name="CVal2_3"/>
          <p:cNvSpPr/>
          <p:nvPr/>
        </p:nvSpPr>
        <p:spPr>
          <a:xfrm>
            <a:off x="8356600" y="31750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~$24-26/share</a:t>
            </a:r>
          </a:p>
        </p:txBody>
      </p:sp>
      <p:sp>
        <p:nvSpPr>
          <p:cNvPr id="278" name="CLbl2_4"/>
          <p:cNvSpPr/>
          <p:nvPr/>
        </p:nvSpPr>
        <p:spPr>
          <a:xfrm>
            <a:off x="8356600" y="34544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DCF Implied Price:</a:t>
            </a:r>
          </a:p>
        </p:txBody>
      </p:sp>
      <p:sp>
        <p:nvSpPr>
          <p:cNvPr id="279" name="CVal2_4"/>
          <p:cNvSpPr/>
          <p:nvPr/>
        </p:nvSpPr>
        <p:spPr>
          <a:xfrm>
            <a:off x="8356600" y="36576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~$450+ (8x exit multiple)</a:t>
            </a:r>
          </a:p>
        </p:txBody>
      </p:sp>
      <p:sp>
        <p:nvSpPr>
          <p:cNvPr id="280" name="CLbl2_5"/>
          <p:cNvSpPr/>
          <p:nvPr/>
        </p:nvSpPr>
        <p:spPr>
          <a:xfrm>
            <a:off x="8356600" y="39370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Bull Price Target:</a:t>
            </a:r>
          </a:p>
        </p:txBody>
      </p:sp>
      <p:sp>
        <p:nvSpPr>
          <p:cNvPr id="281" name="CVal2_5"/>
          <p:cNvSpPr/>
          <p:nvPr/>
        </p:nvSpPr>
        <p:spPr>
          <a:xfrm>
            <a:off x="8356600" y="41402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$371–$450 range</a:t>
            </a:r>
          </a:p>
        </p:txBody>
      </p:sp>
      <p:sp>
        <p:nvSpPr>
          <p:cNvPr id="282" name="CLbl2_6"/>
          <p:cNvSpPr/>
          <p:nvPr/>
        </p:nvSpPr>
        <p:spPr>
          <a:xfrm>
            <a:off x="8356600" y="44196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Upside to Bull DCF:</a:t>
            </a:r>
          </a:p>
        </p:txBody>
      </p:sp>
      <p:sp>
        <p:nvSpPr>
          <p:cNvPr id="283" name="CVal2_6"/>
          <p:cNvSpPr/>
          <p:nvPr/>
        </p:nvSpPr>
        <p:spPr>
          <a:xfrm>
            <a:off x="8356600" y="46228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~87% from $240.49</a:t>
            </a:r>
          </a:p>
        </p:txBody>
      </p:sp>
      <p:sp>
        <p:nvSpPr>
          <p:cNvPr id="284" name="CLbl2_7"/>
          <p:cNvSpPr/>
          <p:nvPr/>
        </p:nvSpPr>
        <p:spPr>
          <a:xfrm>
            <a:off x="8356600" y="49022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Cost Floor:</a:t>
            </a:r>
          </a:p>
        </p:txBody>
      </p:sp>
      <p:sp>
        <p:nvSpPr>
          <p:cNvPr id="285" name="CVal2_7"/>
          <p:cNvSpPr/>
          <p:nvPr/>
        </p:nvSpPr>
        <p:spPr>
          <a:xfrm>
            <a:off x="8356600" y="51054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FCF positive &gt;$1,482/oz gold</a:t>
            </a:r>
          </a:p>
        </p:txBody>
      </p:sp>
      <p:sp>
        <p:nvSpPr>
          <p:cNvPr id="400" name="RRBg"/>
          <p:cNvSpPr/>
          <p:nvPr/>
        </p:nvSpPr>
        <p:spPr>
          <a:xfrm>
            <a:off x="279400" y="5816600"/>
            <a:ext cx="11633200" cy="685800"/>
          </a:xfrm>
          <a:prstGeom prst="rect">
            <a:avLst/>
          </a:prstGeom>
          <a:solidFill>
            <a:srgbClr val="FFF8E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401" name="RRBar"/>
          <p:cNvSpPr/>
          <p:nvPr/>
        </p:nvSpPr>
        <p:spPr>
          <a:xfrm>
            <a:off x="279400" y="5816600"/>
            <a:ext cx="50800" cy="6858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402" name="RRHdr"/>
          <p:cNvSpPr/>
          <p:nvPr/>
        </p:nvSpPr>
        <p:spPr>
          <a:xfrm>
            <a:off x="355600" y="5867400"/>
            <a:ext cx="11480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RISK/REWARD SUMMARY: ASYMMETRIC — MAINTAIN BUY</a:t>
            </a:r>
          </a:p>
        </p:txBody>
      </p:sp>
      <p:sp>
        <p:nvSpPr>
          <p:cNvPr id="403" name="RRTxt"/>
          <p:cNvSpPr/>
          <p:nvPr/>
        </p:nvSpPr>
        <p:spPr>
          <a:xfrm>
            <a:off x="355600" y="6121400"/>
            <a:ext cx="114808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8A6C00"/>
                </a:solidFill>
              </a:rPr>
              <a:t>Bull ($371, +55%) vs. Bear ($245, -2%) vs. Stress ($175, -27%) | Cost structure floors: FCF positive &gt;$1,482/oz gold | AEM generates FCF even in severe downside.</a:t>
            </a:r>
          </a:p>
        </p:txBody>
      </p:sp>
    </p:spTree>
    <p:extLst>
      <p:ext uri="{BB962C8B-B14F-4D97-AF65-F5344CB8AC3E}">
        <p14:creationId xmlns:p14="http://schemas.microsoft.com/office/powerpoint/2010/main" val="1379358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ecLbl"/>
          <p:cNvSpPr/>
          <p:nvPr/>
        </p:nvSpPr>
        <p:spPr>
          <a:xfrm>
            <a:off x="279400" y="1270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8A6C00"/>
                </a:solidFill>
              </a:rPr>
              <a:t>KEY RISKS</a:t>
            </a:r>
          </a:p>
        </p:txBody>
      </p:sp>
      <p:sp>
        <p:nvSpPr>
          <p:cNvPr id="105" name="SNum"/>
          <p:cNvSpPr/>
          <p:nvPr/>
        </p:nvSpPr>
        <p:spPr>
          <a:xfrm>
            <a:off x="11582400" y="127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106" name="Title"/>
          <p:cNvSpPr/>
          <p:nvPr/>
        </p:nvSpPr>
        <p:spPr>
          <a:xfrm>
            <a:off x="279400" y="381000"/>
            <a:ext cx="116332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600" dirty="0">
                <a:solidFill>
                  <a:srgbClr val="221F1F"/>
                </a:solidFill>
              </a:rPr>
              <a:t>Key Risk Factors: Gold Price Sensitivity, Premium Valuation Exposure, and Operational Execution</a:t>
            </a:r>
          </a:p>
        </p:txBody>
      </p:sp>
      <p:sp>
        <p:nvSpPr>
          <p:cNvPr id="107" name="Div1"/>
          <p:cNvSpPr/>
          <p:nvPr/>
        </p:nvSpPr>
        <p:spPr>
          <a:xfrm>
            <a:off x="279400" y="889000"/>
            <a:ext cx="11633200" cy="254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0" name="CBg0"/>
          <p:cNvSpPr/>
          <p:nvPr/>
        </p:nvSpPr>
        <p:spPr>
          <a:xfrm>
            <a:off x="279400" y="990600"/>
            <a:ext cx="3759200" cy="469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3" name="CTopBar0"/>
          <p:cNvSpPr/>
          <p:nvPr/>
        </p:nvSpPr>
        <p:spPr>
          <a:xfrm>
            <a:off x="279400" y="990600"/>
            <a:ext cx="3759200" cy="508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6" name="CBadge0"/>
          <p:cNvSpPr/>
          <p:nvPr/>
        </p:nvSpPr>
        <p:spPr>
          <a:xfrm>
            <a:off x="381000" y="1117600"/>
            <a:ext cx="762000" cy="2794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221F1F"/>
                </a:solidFill>
              </a:rPr>
              <a:t>HIGH</a:t>
            </a:r>
          </a:p>
        </p:txBody>
      </p:sp>
      <p:sp>
        <p:nvSpPr>
          <p:cNvPr id="209" name="CLvl0"/>
          <p:cNvSpPr/>
          <p:nvPr/>
        </p:nvSpPr>
        <p:spPr>
          <a:xfrm>
            <a:off x="1219200" y="1117600"/>
            <a:ext cx="27432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Category 1 — Largest Risk</a:t>
            </a:r>
          </a:p>
        </p:txBody>
      </p:sp>
      <p:sp>
        <p:nvSpPr>
          <p:cNvPr id="212" name="CHdr0"/>
          <p:cNvSpPr/>
          <p:nvPr/>
        </p:nvSpPr>
        <p:spPr>
          <a:xfrm>
            <a:off x="381000" y="1447800"/>
            <a:ext cx="3581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300" b="1" dirty="0">
                <a:solidFill>
                  <a:srgbClr val="CC2222"/>
                </a:solidFill>
              </a:rPr>
              <a:t>COMMODITY PRICE RISK</a:t>
            </a:r>
          </a:p>
        </p:txBody>
      </p:sp>
      <p:sp>
        <p:nvSpPr>
          <p:cNvPr id="215" name="CSep0"/>
          <p:cNvSpPr/>
          <p:nvPr/>
        </p:nvSpPr>
        <p:spPr>
          <a:xfrm>
            <a:off x="381000" y="1765300"/>
            <a:ext cx="3581400" cy="127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8" name="CBody0"/>
          <p:cNvSpPr/>
          <p:nvPr/>
        </p:nvSpPr>
        <p:spPr>
          <a:xfrm>
            <a:off x="381000" y="1841500"/>
            <a:ext cx="3581400" cy="2921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Every -$100/oz decline reduces FY2026E EBITDA by ~$340M and FCF by ~$214M.
A retrace to $3,500/oz: Revenue ~$11.9B | EBITDA ~$7.9B | FCF still positive
A retrace to $3,000/oz: FCF ~$4.5B (still fully funded)
A retrace to $1,600/oz: FCF near breakeven (AISC floor)
FCF generates positive returns above $1,482/oz gold (current spot 250%+ above floor).</a:t>
            </a:r>
          </a:p>
        </p:txBody>
      </p:sp>
      <p:sp>
        <p:nvSpPr>
          <p:cNvPr id="221" name="CMon0"/>
          <p:cNvSpPr/>
          <p:nvPr/>
        </p:nvSpPr>
        <p:spPr>
          <a:xfrm>
            <a:off x="381000" y="4851400"/>
            <a:ext cx="35814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i="1" dirty="0">
                <a:solidFill>
                  <a:srgbClr val="62666A"/>
                </a:solidFill>
              </a:rPr>
              <a:t>Monitor: Gold price trend, real rates (TIPS), USD index, CB buying data.</a:t>
            </a:r>
          </a:p>
        </p:txBody>
      </p:sp>
      <p:sp>
        <p:nvSpPr>
          <p:cNvPr id="201" name="CBg1"/>
          <p:cNvSpPr/>
          <p:nvPr/>
        </p:nvSpPr>
        <p:spPr>
          <a:xfrm>
            <a:off x="4267200" y="990600"/>
            <a:ext cx="3759200" cy="469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4" name="CTopBar1"/>
          <p:cNvSpPr/>
          <p:nvPr/>
        </p:nvSpPr>
        <p:spPr>
          <a:xfrm>
            <a:off x="4267200" y="990600"/>
            <a:ext cx="3759200" cy="50800"/>
          </a:xfrm>
          <a:prstGeom prst="rect">
            <a:avLst/>
          </a:prstGeom>
          <a:solidFill>
            <a:srgbClr val="8A6C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7" name="CBadge1"/>
          <p:cNvSpPr/>
          <p:nvPr/>
        </p:nvSpPr>
        <p:spPr>
          <a:xfrm>
            <a:off x="4368800" y="1117600"/>
            <a:ext cx="762000" cy="279400"/>
          </a:xfrm>
          <a:prstGeom prst="rect">
            <a:avLst/>
          </a:prstGeom>
          <a:solidFill>
            <a:srgbClr val="8A6C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221F1F"/>
                </a:solidFill>
              </a:rPr>
              <a:t>MED</a:t>
            </a:r>
          </a:p>
        </p:txBody>
      </p:sp>
      <p:sp>
        <p:nvSpPr>
          <p:cNvPr id="210" name="CLvl1"/>
          <p:cNvSpPr/>
          <p:nvPr/>
        </p:nvSpPr>
        <p:spPr>
          <a:xfrm>
            <a:off x="5207000" y="1117600"/>
            <a:ext cx="27432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Category 2 — Moderate Risk</a:t>
            </a:r>
          </a:p>
        </p:txBody>
      </p:sp>
      <p:sp>
        <p:nvSpPr>
          <p:cNvPr id="213" name="CHdr1"/>
          <p:cNvSpPr/>
          <p:nvPr/>
        </p:nvSpPr>
        <p:spPr>
          <a:xfrm>
            <a:off x="4368800" y="1447800"/>
            <a:ext cx="3581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300" b="1" dirty="0">
                <a:solidFill>
                  <a:srgbClr val="8A6C00"/>
                </a:solidFill>
              </a:rPr>
              <a:t>OPERATIONAL &amp; EXECUTION RISK</a:t>
            </a:r>
          </a:p>
        </p:txBody>
      </p:sp>
      <p:sp>
        <p:nvSpPr>
          <p:cNvPr id="216" name="CSep1"/>
          <p:cNvSpPr/>
          <p:nvPr/>
        </p:nvSpPr>
        <p:spPr>
          <a:xfrm>
            <a:off x="4368800" y="1765300"/>
            <a:ext cx="3581400" cy="12700"/>
          </a:xfrm>
          <a:prstGeom prst="rect">
            <a:avLst/>
          </a:prstGeom>
          <a:solidFill>
            <a:srgbClr val="8A6C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9" name="CBody1"/>
          <p:cNvSpPr/>
          <p:nvPr/>
        </p:nvSpPr>
        <p:spPr>
          <a:xfrm>
            <a:off x="4368800" y="1841500"/>
            <a:ext cx="3581400" cy="2921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Key risks:
• Odyssey UG ramp: East Gouldie at 600 tpd ore — delays push reserve conversion
• Hope Bay: If construction deferred, removes $15-25/share optionality
• Detour Lake UG: Complex underground development; cost overrun risk
• AISC creep: Guidance $1,400-$1,550/oz — risk of exceeding top end
Mitigants: 55.4 Moz reserves (15yr avg life), 5 projects diversify execution risk, experienced management team.</a:t>
            </a:r>
          </a:p>
        </p:txBody>
      </p:sp>
      <p:sp>
        <p:nvSpPr>
          <p:cNvPr id="222" name="CMon1"/>
          <p:cNvSpPr/>
          <p:nvPr/>
        </p:nvSpPr>
        <p:spPr>
          <a:xfrm>
            <a:off x="4368800" y="4851400"/>
            <a:ext cx="35814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i="1" dirty="0">
                <a:solidFill>
                  <a:srgbClr val="62666A"/>
                </a:solidFill>
              </a:rPr>
              <a:t>Monitor: Quarterly production vs. guidance; AISC vs. $1,400–$1,550/oz guidance.</a:t>
            </a:r>
          </a:p>
        </p:txBody>
      </p:sp>
      <p:sp>
        <p:nvSpPr>
          <p:cNvPr id="202" name="CBg2"/>
          <p:cNvSpPr/>
          <p:nvPr/>
        </p:nvSpPr>
        <p:spPr>
          <a:xfrm>
            <a:off x="8255000" y="990600"/>
            <a:ext cx="3759200" cy="469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5" name="CTopBar2"/>
          <p:cNvSpPr/>
          <p:nvPr/>
        </p:nvSpPr>
        <p:spPr>
          <a:xfrm>
            <a:off x="8255000" y="990600"/>
            <a:ext cx="3759200" cy="50800"/>
          </a:xfrm>
          <a:prstGeom prst="rect">
            <a:avLst/>
          </a:prstGeom>
          <a:solidFill>
            <a:srgbClr val="8A6C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08" name="CBadge2"/>
          <p:cNvSpPr/>
          <p:nvPr/>
        </p:nvSpPr>
        <p:spPr>
          <a:xfrm>
            <a:off x="8356600" y="1117600"/>
            <a:ext cx="762000" cy="330200"/>
          </a:xfrm>
          <a:prstGeom prst="rect">
            <a:avLst/>
          </a:prstGeom>
          <a:solidFill>
            <a:srgbClr val="8A6C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221F1F"/>
                </a:solidFill>
              </a:rPr>
              <a:t>MED-HIGH</a:t>
            </a:r>
          </a:p>
        </p:txBody>
      </p:sp>
      <p:sp>
        <p:nvSpPr>
          <p:cNvPr id="211" name="CLvl2"/>
          <p:cNvSpPr/>
          <p:nvPr/>
        </p:nvSpPr>
        <p:spPr>
          <a:xfrm>
            <a:off x="9194800" y="1117600"/>
            <a:ext cx="27432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Category 3 — KEY RISK</a:t>
            </a:r>
          </a:p>
        </p:txBody>
      </p:sp>
      <p:sp>
        <p:nvSpPr>
          <p:cNvPr id="214" name="CHdr2"/>
          <p:cNvSpPr/>
          <p:nvPr/>
        </p:nvSpPr>
        <p:spPr>
          <a:xfrm>
            <a:off x="8356600" y="1447800"/>
            <a:ext cx="3581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300" b="1" dirty="0">
                <a:solidFill>
                  <a:srgbClr val="8A6C00"/>
                </a:solidFill>
              </a:rPr>
              <a:t>VALUATION PREMIUM COMPRESSION</a:t>
            </a:r>
          </a:p>
        </p:txBody>
      </p:sp>
      <p:sp>
        <p:nvSpPr>
          <p:cNvPr id="217" name="CSep2"/>
          <p:cNvSpPr/>
          <p:nvPr/>
        </p:nvSpPr>
        <p:spPr>
          <a:xfrm>
            <a:off x="8356600" y="1765300"/>
            <a:ext cx="3581400" cy="12700"/>
          </a:xfrm>
          <a:prstGeom prst="rect">
            <a:avLst/>
          </a:prstGeom>
          <a:solidFill>
            <a:srgbClr val="8A6C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20" name="CBody2"/>
          <p:cNvSpPr/>
          <p:nvPr/>
        </p:nvSpPr>
        <p:spPr>
          <a:xfrm>
            <a:off x="8356600" y="1841500"/>
            <a:ext cx="3581400" cy="2921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AEM trades at 10x EV/EBITDA — 60% premium to peer median 6.25x.
If re-rated to peer median (6.25x): Implied ~$180-200 (17-25% downside)
If re-rated to 7x: Implied ~$200 (17% downside)
If re-rated to 8x: Implied ~$240 (near current price)
Premium justified by: #1 AISC, Tier 1-only jurisdictions, record reserves, net cash balance sheet vs. peers with net debt.</a:t>
            </a:r>
          </a:p>
        </p:txBody>
      </p:sp>
      <p:sp>
        <p:nvSpPr>
          <p:cNvPr id="223" name="CMon2"/>
          <p:cNvSpPr/>
          <p:nvPr/>
        </p:nvSpPr>
        <p:spPr>
          <a:xfrm>
            <a:off x="8356600" y="4851400"/>
            <a:ext cx="35814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i="1" dirty="0">
                <a:solidFill>
                  <a:srgbClr val="62666A"/>
                </a:solidFill>
              </a:rPr>
              <a:t>Stress test: De-rating to 7x EV/EBITDA from 10x implies ~$200 — 17% downside.</a:t>
            </a:r>
          </a:p>
        </p:txBody>
      </p:sp>
      <p:sp>
        <p:nvSpPr>
          <p:cNvPr id="400" name="RSBg"/>
          <p:cNvSpPr/>
          <p:nvPr/>
        </p:nvSpPr>
        <p:spPr>
          <a:xfrm>
            <a:off x="279400" y="5816600"/>
            <a:ext cx="11633200" cy="685800"/>
          </a:xfrm>
          <a:prstGeom prst="rect">
            <a:avLst/>
          </a:prstGeom>
          <a:solidFill>
            <a:srgbClr val="FFF8E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401" name="RSBar"/>
          <p:cNvSpPr/>
          <p:nvPr/>
        </p:nvSpPr>
        <p:spPr>
          <a:xfrm>
            <a:off x="279400" y="5816600"/>
            <a:ext cx="50800" cy="6858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402" name="RSHdr"/>
          <p:cNvSpPr/>
          <p:nvPr/>
        </p:nvSpPr>
        <p:spPr>
          <a:xfrm>
            <a:off x="355600" y="5867400"/>
            <a:ext cx="11480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RISK SUMMARY: MAINTAIN BUY DESPITE RISKS</a:t>
            </a:r>
          </a:p>
        </p:txBody>
      </p:sp>
      <p:sp>
        <p:nvSpPr>
          <p:cNvPr id="403" name="RSTxt"/>
          <p:cNvSpPr/>
          <p:nvPr/>
        </p:nvSpPr>
        <p:spPr>
          <a:xfrm>
            <a:off x="355600" y="6121400"/>
            <a:ext cx="114808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8A6C00"/>
                </a:solidFill>
              </a:rPr>
              <a:t>Bull thesis intact: Gold structural tailwinds + AEM cost moat + Tier 1 jurisdictions + organic pipeline = asymmetric risk/reward. Price targets: Bear $165-175 | Base $300 | Bull $371.</a:t>
            </a:r>
          </a:p>
        </p:txBody>
      </p:sp>
    </p:spTree>
    <p:extLst>
      <p:ext uri="{BB962C8B-B14F-4D97-AF65-F5344CB8AC3E}">
        <p14:creationId xmlns:p14="http://schemas.microsoft.com/office/powerpoint/2010/main" val="2853468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ecLbl"/>
          <p:cNvSpPr/>
          <p:nvPr/>
        </p:nvSpPr>
        <p:spPr>
          <a:xfrm>
            <a:off x="279400" y="127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8A6C00"/>
                </a:solidFill>
              </a:rPr>
              <a:t>INVESTMENT CONCLUSION</a:t>
            </a:r>
          </a:p>
        </p:txBody>
      </p:sp>
      <p:sp>
        <p:nvSpPr>
          <p:cNvPr id="105" name="SNum"/>
          <p:cNvSpPr/>
          <p:nvPr/>
        </p:nvSpPr>
        <p:spPr>
          <a:xfrm>
            <a:off x="11582400" y="127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15</a:t>
            </a:r>
          </a:p>
        </p:txBody>
      </p:sp>
      <p:sp>
        <p:nvSpPr>
          <p:cNvPr id="106" name="Title"/>
          <p:cNvSpPr/>
          <p:nvPr/>
        </p:nvSpPr>
        <p:spPr>
          <a:xfrm>
            <a:off x="279400" y="381000"/>
            <a:ext cx="116332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700" b="1" dirty="0">
                <a:solidFill>
                  <a:srgbClr val="EFC400"/>
                </a:solidFill>
              </a:rPr>
              <a:t>BUY | $300.00 Price Target | 24.7% Upside — Initiating Coverage of Agnico Eagle Mines</a:t>
            </a:r>
          </a:p>
        </p:txBody>
      </p:sp>
      <p:sp>
        <p:nvSpPr>
          <p:cNvPr id="107" name="Div1"/>
          <p:cNvSpPr/>
          <p:nvPr/>
        </p:nvSpPr>
        <p:spPr>
          <a:xfrm>
            <a:off x="279400" y="889000"/>
            <a:ext cx="11633200" cy="254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08" name="RatBg"/>
          <p:cNvSpPr/>
          <p:nvPr/>
        </p:nvSpPr>
        <p:spPr>
          <a:xfrm>
            <a:off x="279400" y="990600"/>
            <a:ext cx="11633200" cy="8128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09" name="RatBar"/>
          <p:cNvSpPr/>
          <p:nvPr/>
        </p:nvSpPr>
        <p:spPr>
          <a:xfrm>
            <a:off x="279400" y="990600"/>
            <a:ext cx="50800" cy="8128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10" name="RatLbl"/>
          <p:cNvSpPr/>
          <p:nvPr/>
        </p:nvSpPr>
        <p:spPr>
          <a:xfrm>
            <a:off x="355600" y="10414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b="1" dirty="0">
                <a:solidFill>
                  <a:srgbClr val="EFC400"/>
                </a:solidFill>
              </a:rPr>
              <a:t>RATING</a:t>
            </a:r>
          </a:p>
        </p:txBody>
      </p:sp>
      <p:sp>
        <p:nvSpPr>
          <p:cNvPr id="111" name="RatVal"/>
          <p:cNvSpPr/>
          <p:nvPr/>
        </p:nvSpPr>
        <p:spPr>
          <a:xfrm>
            <a:off x="355600" y="12954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800" b="1" dirty="0">
                <a:solidFill>
                  <a:srgbClr val="221F1F"/>
                </a:solidFill>
              </a:rPr>
              <a:t>BUY — INITIATION</a:t>
            </a:r>
          </a:p>
        </p:txBody>
      </p:sp>
      <p:sp>
        <p:nvSpPr>
          <p:cNvPr id="112" name="RatPT"/>
          <p:cNvSpPr/>
          <p:nvPr/>
        </p:nvSpPr>
        <p:spPr>
          <a:xfrm>
            <a:off x="3302000" y="1041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b="1" dirty="0">
                <a:solidFill>
                  <a:srgbClr val="EFC400"/>
                </a:solidFill>
              </a:rPr>
              <a:t>PRICE TARGET</a:t>
            </a:r>
          </a:p>
        </p:txBody>
      </p:sp>
      <p:sp>
        <p:nvSpPr>
          <p:cNvPr id="113" name="RatPTVal"/>
          <p:cNvSpPr/>
          <p:nvPr/>
        </p:nvSpPr>
        <p:spPr>
          <a:xfrm>
            <a:off x="3302000" y="1295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800" b="1" dirty="0">
                <a:solidFill>
                  <a:srgbClr val="EFC400"/>
                </a:solidFill>
              </a:rPr>
              <a:t>$300.00 (+24.7%)</a:t>
            </a:r>
          </a:p>
        </p:txBody>
      </p:sp>
      <p:sp>
        <p:nvSpPr>
          <p:cNvPr id="114" name="RatDesc"/>
          <p:cNvSpPr/>
          <p:nvPr/>
        </p:nvSpPr>
        <p:spPr>
          <a:xfrm>
            <a:off x="6096000" y="104140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8A6C00"/>
                </a:solidFill>
              </a:rPr>
              <a:t>50% DCF ($371, 8x exit EBITDA) + 30% NAV ($162) + 20% Comps ($329) = $300.00 blended PT. Current price $240.49 (Feb 23, 2026). AEM combines best-in-class cost structure, strongest balance sheet, and deepest organic pipeline in the sector.</a:t>
            </a:r>
          </a:p>
        </p:txBody>
      </p:sp>
      <p:sp>
        <p:nvSpPr>
          <p:cNvPr id="200" name="CBg"/>
          <p:cNvSpPr/>
          <p:nvPr/>
        </p:nvSpPr>
        <p:spPr>
          <a:xfrm>
            <a:off x="279400" y="1955800"/>
            <a:ext cx="56896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0" name="CBar"/>
          <p:cNvSpPr/>
          <p:nvPr/>
        </p:nvSpPr>
        <p:spPr>
          <a:xfrm>
            <a:off x="279400" y="1955800"/>
            <a:ext cx="50800" cy="12700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20" name="CTag"/>
          <p:cNvSpPr/>
          <p:nvPr/>
        </p:nvSpPr>
        <p:spPr>
          <a:xfrm>
            <a:off x="381000" y="2032000"/>
            <a:ext cx="762000" cy="3048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COST MOAT</a:t>
            </a:r>
          </a:p>
        </p:txBody>
      </p:sp>
      <p:sp>
        <p:nvSpPr>
          <p:cNvPr id="230" name="CHdr"/>
          <p:cNvSpPr/>
          <p:nvPr/>
        </p:nvSpPr>
        <p:spPr>
          <a:xfrm>
            <a:off x="1219200" y="2032000"/>
            <a:ext cx="4673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STRUCTURAL AISC ADVANTAGE</a:t>
            </a:r>
          </a:p>
        </p:txBody>
      </p:sp>
      <p:sp>
        <p:nvSpPr>
          <p:cNvPr id="240" name="CBody"/>
          <p:cNvSpPr/>
          <p:nvPr/>
        </p:nvSpPr>
        <p:spPr>
          <a:xfrm>
            <a:off x="381000" y="2311400"/>
            <a:ext cx="551180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FY2025A AISC $1,339/oz vs. peer median ~$1,530/oz. At $5,200+/oz spot gold, AISC margin exceeds $3,860/oz. Cost advantage is structural and durable — Tier 1 high-grade underground assets prevent peers from closing the gap.</a:t>
            </a:r>
          </a:p>
        </p:txBody>
      </p:sp>
      <p:sp>
        <p:nvSpPr>
          <p:cNvPr id="203" name="CBg"/>
          <p:cNvSpPr/>
          <p:nvPr/>
        </p:nvSpPr>
        <p:spPr>
          <a:xfrm>
            <a:off x="6146800" y="1955800"/>
            <a:ext cx="56896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3" name="CBar"/>
          <p:cNvSpPr/>
          <p:nvPr/>
        </p:nvSpPr>
        <p:spPr>
          <a:xfrm>
            <a:off x="6146800" y="1955800"/>
            <a:ext cx="50800" cy="12700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23" name="CTag"/>
          <p:cNvSpPr/>
          <p:nvPr/>
        </p:nvSpPr>
        <p:spPr>
          <a:xfrm>
            <a:off x="6248400" y="2032000"/>
            <a:ext cx="762000" cy="2286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PIPELINE</a:t>
            </a:r>
          </a:p>
        </p:txBody>
      </p:sp>
      <p:sp>
        <p:nvSpPr>
          <p:cNvPr id="233" name="CHdr"/>
          <p:cNvSpPr/>
          <p:nvPr/>
        </p:nvSpPr>
        <p:spPr>
          <a:xfrm>
            <a:off x="7086600" y="2032000"/>
            <a:ext cx="4673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151E24"/>
                </a:solidFill>
              </a:rPr>
              <a:t>1.3–1.5M oz ORGANIC GROWTH BY 2030s</a:t>
            </a:r>
          </a:p>
        </p:txBody>
      </p:sp>
      <p:sp>
        <p:nvSpPr>
          <p:cNvPr id="243" name="CBody"/>
          <p:cNvSpPr/>
          <p:nvPr/>
        </p:nvSpPr>
        <p:spPr>
          <a:xfrm>
            <a:off x="6248400" y="2311400"/>
            <a:ext cx="551180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Five projects (Odyssey UG, Detour Lake UG, Hope Bay, Upper Beaver, San Nicolas) add 1.3–1.5M oz organically by early 2030s. 20–30% production growth without acquisition risk. No dilutive M&amp;A required.</a:t>
            </a:r>
          </a:p>
        </p:txBody>
      </p:sp>
      <p:sp>
        <p:nvSpPr>
          <p:cNvPr id="201" name="CBg"/>
          <p:cNvSpPr/>
          <p:nvPr/>
        </p:nvSpPr>
        <p:spPr>
          <a:xfrm>
            <a:off x="279400" y="3352800"/>
            <a:ext cx="56896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1" name="CBar"/>
          <p:cNvSpPr/>
          <p:nvPr/>
        </p:nvSpPr>
        <p:spPr>
          <a:xfrm>
            <a:off x="279400" y="3352800"/>
            <a:ext cx="50800" cy="12700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21" name="CTag"/>
          <p:cNvSpPr/>
          <p:nvPr/>
        </p:nvSpPr>
        <p:spPr>
          <a:xfrm>
            <a:off x="381000" y="3429000"/>
            <a:ext cx="762000" cy="2286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B/S</a:t>
            </a:r>
          </a:p>
        </p:txBody>
      </p:sp>
      <p:sp>
        <p:nvSpPr>
          <p:cNvPr id="231" name="CHdr"/>
          <p:cNvSpPr/>
          <p:nvPr/>
        </p:nvSpPr>
        <p:spPr>
          <a:xfrm>
            <a:off x="1219200" y="3429000"/>
            <a:ext cx="4673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NET CASH $2.67B | RECORD FCF $4.4B</a:t>
            </a:r>
          </a:p>
        </p:txBody>
      </p:sp>
      <p:sp>
        <p:nvSpPr>
          <p:cNvPr id="241" name="CBody"/>
          <p:cNvSpPr/>
          <p:nvPr/>
        </p:nvSpPr>
        <p:spPr>
          <a:xfrm>
            <a:off x="381000" y="3708400"/>
            <a:ext cx="551180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FY2026E FCF of $8.9B (+101% YoY) at $6,000/oz gold. EBITDA margin expanding to 79.3% in FY2026E. Net cash growing $5B+ per year. $1.80/share dividend paid every year since 1983.</a:t>
            </a:r>
          </a:p>
        </p:txBody>
      </p:sp>
      <p:sp>
        <p:nvSpPr>
          <p:cNvPr id="204" name="CBg"/>
          <p:cNvSpPr/>
          <p:nvPr/>
        </p:nvSpPr>
        <p:spPr>
          <a:xfrm>
            <a:off x="6146800" y="3352800"/>
            <a:ext cx="56896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4" name="CBar"/>
          <p:cNvSpPr/>
          <p:nvPr/>
        </p:nvSpPr>
        <p:spPr>
          <a:xfrm>
            <a:off x="6146800" y="3352800"/>
            <a:ext cx="50800" cy="1270000"/>
          </a:xfrm>
          <a:prstGeom prst="rect">
            <a:avLst/>
          </a:prstGeom>
          <a:solidFill>
            <a:srgbClr val="151E24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24" name="CTag"/>
          <p:cNvSpPr/>
          <p:nvPr/>
        </p:nvSpPr>
        <p:spPr>
          <a:xfrm>
            <a:off x="6248400" y="3429000"/>
            <a:ext cx="762000" cy="2286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JURIS.</a:t>
            </a:r>
          </a:p>
        </p:txBody>
      </p:sp>
      <p:sp>
        <p:nvSpPr>
          <p:cNvPr id="234" name="CHdr"/>
          <p:cNvSpPr/>
          <p:nvPr/>
        </p:nvSpPr>
        <p:spPr>
          <a:xfrm>
            <a:off x="7086600" y="3429000"/>
            <a:ext cx="4673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151E24"/>
                </a:solidFill>
              </a:rPr>
              <a:t>TIER 1 ONLY — ZERO POLITICAL RISK</a:t>
            </a:r>
          </a:p>
        </p:txBody>
      </p:sp>
      <p:sp>
        <p:nvSpPr>
          <p:cNvPr id="244" name="CBody"/>
          <p:cNvSpPr/>
          <p:nvPr/>
        </p:nvSpPr>
        <p:spPr>
          <a:xfrm>
            <a:off x="6248400" y="3708400"/>
            <a:ext cx="551180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Canada (Quebec, Ontario, Nunavut), Australia, Finland, Mexico — zero exposure to Africa, Central Asia, or politically unstable LatAm. ESG-aligned portfolio commands durable P/NAV and EV/EBITDA premium vs. peers.</a:t>
            </a:r>
          </a:p>
        </p:txBody>
      </p:sp>
      <p:sp>
        <p:nvSpPr>
          <p:cNvPr id="202" name="CBg"/>
          <p:cNvSpPr/>
          <p:nvPr/>
        </p:nvSpPr>
        <p:spPr>
          <a:xfrm>
            <a:off x="279400" y="4749800"/>
            <a:ext cx="56896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2" name="CBar"/>
          <p:cNvSpPr/>
          <p:nvPr/>
        </p:nvSpPr>
        <p:spPr>
          <a:xfrm>
            <a:off x="279400" y="4749800"/>
            <a:ext cx="50800" cy="12700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22" name="CTag"/>
          <p:cNvSpPr/>
          <p:nvPr/>
        </p:nvSpPr>
        <p:spPr>
          <a:xfrm>
            <a:off x="381000" y="4826000"/>
            <a:ext cx="762000" cy="2286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MACRO</a:t>
            </a:r>
          </a:p>
        </p:txBody>
      </p:sp>
      <p:sp>
        <p:nvSpPr>
          <p:cNvPr id="232" name="CHdr"/>
          <p:cNvSpPr/>
          <p:nvPr/>
        </p:nvSpPr>
        <p:spPr>
          <a:xfrm>
            <a:off x="1219200" y="4826000"/>
            <a:ext cx="4673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GOLD STRUCTURAL TAILWINDS INTACT</a:t>
            </a:r>
          </a:p>
        </p:txBody>
      </p:sp>
      <p:sp>
        <p:nvSpPr>
          <p:cNvPr id="242" name="CBody"/>
          <p:cNvSpPr/>
          <p:nvPr/>
        </p:nvSpPr>
        <p:spPr>
          <a:xfrm>
            <a:off x="381000" y="5105400"/>
            <a:ext cx="551180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Gold &gt;$5,200/oz driven by real rate decline, USD weakness, &gt;1,000 tonne/yr CB buying (highest since 1967). Each +$100/oz adds ~$335M to annual EBITDA. Structural demand shift — not speculative cycle.</a:t>
            </a:r>
          </a:p>
        </p:txBody>
      </p:sp>
      <p:sp>
        <p:nvSpPr>
          <p:cNvPr id="205" name="CBg"/>
          <p:cNvSpPr/>
          <p:nvPr/>
        </p:nvSpPr>
        <p:spPr>
          <a:xfrm>
            <a:off x="6146800" y="4749800"/>
            <a:ext cx="56896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15" name="CBar"/>
          <p:cNvSpPr/>
          <p:nvPr/>
        </p:nvSpPr>
        <p:spPr>
          <a:xfrm>
            <a:off x="6146800" y="4749800"/>
            <a:ext cx="50800" cy="12700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225" name="CTag"/>
          <p:cNvSpPr/>
          <p:nvPr/>
        </p:nvSpPr>
        <p:spPr>
          <a:xfrm>
            <a:off x="6248400" y="4826000"/>
            <a:ext cx="762000" cy="2286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NAV</a:t>
            </a:r>
          </a:p>
        </p:txBody>
      </p:sp>
      <p:sp>
        <p:nvSpPr>
          <p:cNvPr id="235" name="CHdr"/>
          <p:cNvSpPr/>
          <p:nvPr/>
        </p:nvSpPr>
        <p:spPr>
          <a:xfrm>
            <a:off x="7086600" y="4826000"/>
            <a:ext cx="4673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EFC400"/>
                </a:solidFill>
              </a:rPr>
              <a:t>RECORD 55.4 Moz P&amp;P — #1 PURE-PLAY</a:t>
            </a:r>
          </a:p>
        </p:txBody>
      </p:sp>
      <p:sp>
        <p:nvSpPr>
          <p:cNvPr id="245" name="CBody"/>
          <p:cNvSpPr/>
          <p:nvPr/>
        </p:nvSpPr>
        <p:spPr>
          <a:xfrm>
            <a:off x="6248400" y="5105400"/>
            <a:ext cx="551180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Record 55.4 Moz P&amp;P gold reserves (Dec 31, 2025), +2.1% YoY. Replaced 100%+ of mined reserves organically for 5+ consecutive years. M&amp;I resources 43.0 Moz (+9.6% YoY). 15-year average mine life.</a:t>
            </a:r>
          </a:p>
        </p:txBody>
      </p:sp>
      <p:sp>
        <p:nvSpPr>
          <p:cNvPr id="300" name="ConcBg"/>
          <p:cNvSpPr/>
          <p:nvPr/>
        </p:nvSpPr>
        <p:spPr>
          <a:xfrm>
            <a:off x="279400" y="6045200"/>
            <a:ext cx="11633200" cy="533400"/>
          </a:xfrm>
          <a:prstGeom prst="rect">
            <a:avLst/>
          </a:prstGeom>
          <a:solidFill>
            <a:srgbClr val="FFF8E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301" name="ConcBar"/>
          <p:cNvSpPr/>
          <p:nvPr/>
        </p:nvSpPr>
        <p:spPr>
          <a:xfrm>
            <a:off x="279400" y="6045200"/>
            <a:ext cx="50800" cy="5334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302" name="Conc"/>
          <p:cNvSpPr/>
          <p:nvPr/>
        </p:nvSpPr>
        <p:spPr>
          <a:xfrm>
            <a:off x="355600" y="6096000"/>
            <a:ext cx="114808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8A6C00"/>
                </a:solidFill>
              </a:rPr>
              <a:t>INITIATE: BUY, $300.00 price target. AEM offers the optimal combination of cost moat, jurisdictional safety, organic growth, and gold macro leverage — the highest quality risk/reward in the senior gold producer universe. Jaden Kwek | jadenkwek.com | February 23, 2026</a:t>
            </a:r>
          </a:p>
        </p:txBody>
      </p:sp>
    </p:spTree>
    <p:extLst>
      <p:ext uri="{BB962C8B-B14F-4D97-AF65-F5344CB8AC3E}">
        <p14:creationId xmlns:p14="http://schemas.microsoft.com/office/powerpoint/2010/main" val="1748417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ecLbl"/>
          <p:cNvSpPr/>
          <p:nvPr/>
        </p:nvSpPr>
        <p:spPr>
          <a:xfrm>
            <a:off x="279400" y="127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dirty="0">
                <a:solidFill>
                  <a:srgbClr val="8A6C00"/>
                </a:solidFill>
              </a:rPr>
              <a:t>APPENDIX — SUPPLEMENTAL DATA</a:t>
            </a:r>
          </a:p>
        </p:txBody>
      </p:sp>
      <p:sp>
        <p:nvSpPr>
          <p:cNvPr id="105" name="SNum"/>
          <p:cNvSpPr/>
          <p:nvPr/>
        </p:nvSpPr>
        <p:spPr>
          <a:xfrm>
            <a:off x="11582400" y="127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900" dirty="0">
                <a:solidFill>
                  <a:srgbClr val="555555"/>
                </a:solidFill>
              </a:rPr>
              <a:t>A</a:t>
            </a:r>
          </a:p>
        </p:txBody>
      </p:sp>
      <p:sp>
        <p:nvSpPr>
          <p:cNvPr id="106" name="Title"/>
          <p:cNvSpPr/>
          <p:nvPr/>
        </p:nvSpPr>
        <p:spPr>
          <a:xfrm>
            <a:off x="2794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600" dirty="0">
                <a:solidFill>
                  <a:srgbClr val="221F1F"/>
                </a:solidFill>
              </a:rPr>
              <a:t>DCF Sensitivity, NAVPS by Gold Price &amp; Discount Rate, and Model Key Parameters</a:t>
            </a:r>
          </a:p>
        </p:txBody>
      </p:sp>
      <p:sp>
        <p:nvSpPr>
          <p:cNvPr id="107" name="BuyBg"/>
          <p:cNvSpPr/>
          <p:nvPr/>
        </p:nvSpPr>
        <p:spPr>
          <a:xfrm>
            <a:off x="8788400" y="330200"/>
            <a:ext cx="3200400" cy="50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08" name="BuyTxt"/>
          <p:cNvSpPr/>
          <p:nvPr/>
        </p:nvSpPr>
        <p:spPr>
          <a:xfrm>
            <a:off x="8864600" y="3683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200" b="1" dirty="0">
                <a:solidFill>
                  <a:srgbClr val="EFC400"/>
                </a:solidFill>
              </a:rPr>
              <a:t>BUY  |  $300.00 PT  |  +24.7% Upside</a:t>
            </a:r>
          </a:p>
        </p:txBody>
      </p:sp>
      <p:sp>
        <p:nvSpPr>
          <p:cNvPr id="109" name="BuySub"/>
          <p:cNvSpPr/>
          <p:nvPr/>
        </p:nvSpPr>
        <p:spPr>
          <a:xfrm>
            <a:off x="8864600" y="5969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8A6C00"/>
                </a:solidFill>
              </a:rPr>
              <a:t>Current: $240.49  |  Feb 23, 2026  |  J. Kwek</a:t>
            </a:r>
          </a:p>
        </p:txBody>
      </p:sp>
      <p:sp>
        <p:nvSpPr>
          <p:cNvPr id="110" name="Div1"/>
          <p:cNvSpPr/>
          <p:nvPr/>
        </p:nvSpPr>
        <p:spPr>
          <a:xfrm>
            <a:off x="279400" y="889000"/>
            <a:ext cx="11633200" cy="25400"/>
          </a:xfrm>
          <a:prstGeom prst="rect">
            <a:avLst/>
          </a:prstGeom>
          <a:solidFill>
            <a:srgbClr val="EFC40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11" name="DSHdr"/>
          <p:cNvSpPr/>
          <p:nvPr/>
        </p:nvSpPr>
        <p:spPr>
          <a:xfrm>
            <a:off x="279400" y="9779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DCF SENSITIVITY — IMPLIED SHARE PRICE (Exit Multiple vs. WACC)</a:t>
            </a:r>
          </a:p>
        </p:txBody>
      </p:sp>
      <p:sp>
        <p:nvSpPr>
          <p:cNvPr id="200" name="DH0"/>
          <p:cNvSpPr/>
          <p:nvPr/>
        </p:nvSpPr>
        <p:spPr>
          <a:xfrm>
            <a:off x="279400" y="1231900"/>
            <a:ext cx="1219200" cy="2794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Exit Mult.</a:t>
            </a:r>
          </a:p>
        </p:txBody>
      </p:sp>
      <p:sp>
        <p:nvSpPr>
          <p:cNvPr id="201" name="DH1"/>
          <p:cNvSpPr/>
          <p:nvPr/>
        </p:nvSpPr>
        <p:spPr>
          <a:xfrm>
            <a:off x="1549400" y="1231900"/>
            <a:ext cx="736600" cy="2794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b="1" dirty="0">
                <a:solidFill>
                  <a:srgbClr val="8A6C00"/>
                </a:solidFill>
              </a:rPr>
              <a:t>6.0%</a:t>
            </a:r>
          </a:p>
        </p:txBody>
      </p:sp>
      <p:sp>
        <p:nvSpPr>
          <p:cNvPr id="202" name="DH2"/>
          <p:cNvSpPr/>
          <p:nvPr/>
        </p:nvSpPr>
        <p:spPr>
          <a:xfrm>
            <a:off x="2336800" y="1231900"/>
            <a:ext cx="736600" cy="2794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b="1" dirty="0">
                <a:solidFill>
                  <a:srgbClr val="8A6C00"/>
                </a:solidFill>
              </a:rPr>
              <a:t>6.5%</a:t>
            </a:r>
          </a:p>
        </p:txBody>
      </p:sp>
      <p:sp>
        <p:nvSpPr>
          <p:cNvPr id="203" name="DH3"/>
          <p:cNvSpPr/>
          <p:nvPr/>
        </p:nvSpPr>
        <p:spPr>
          <a:xfrm>
            <a:off x="3124200" y="1231900"/>
            <a:ext cx="736600" cy="2794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b="1" dirty="0">
                <a:solidFill>
                  <a:srgbClr val="8A6C00"/>
                </a:solidFill>
              </a:rPr>
              <a:t>7.0%</a:t>
            </a:r>
          </a:p>
        </p:txBody>
      </p:sp>
      <p:sp>
        <p:nvSpPr>
          <p:cNvPr id="204" name="DH4"/>
          <p:cNvSpPr/>
          <p:nvPr/>
        </p:nvSpPr>
        <p:spPr>
          <a:xfrm>
            <a:off x="3911600" y="1231900"/>
            <a:ext cx="736600" cy="2794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b="1" dirty="0">
                <a:solidFill>
                  <a:srgbClr val="8A6C00"/>
                </a:solidFill>
              </a:rPr>
              <a:t>7.59%</a:t>
            </a:r>
          </a:p>
        </p:txBody>
      </p:sp>
      <p:sp>
        <p:nvSpPr>
          <p:cNvPr id="205" name="DH5"/>
          <p:cNvSpPr/>
          <p:nvPr/>
        </p:nvSpPr>
        <p:spPr>
          <a:xfrm>
            <a:off x="4699000" y="1231900"/>
            <a:ext cx="736600" cy="2794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b="1" dirty="0">
                <a:solidFill>
                  <a:srgbClr val="8A6C00"/>
                </a:solidFill>
              </a:rPr>
              <a:t>8.0%</a:t>
            </a:r>
          </a:p>
        </p:txBody>
      </p:sp>
      <p:sp>
        <p:nvSpPr>
          <p:cNvPr id="206" name="DH6"/>
          <p:cNvSpPr/>
          <p:nvPr/>
        </p:nvSpPr>
        <p:spPr>
          <a:xfrm>
            <a:off x="5486400" y="1231900"/>
            <a:ext cx="635000" cy="2794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b="1" dirty="0">
                <a:solidFill>
                  <a:srgbClr val="8A6C00"/>
                </a:solidFill>
              </a:rPr>
              <a:t>9.0%</a:t>
            </a:r>
          </a:p>
        </p:txBody>
      </p:sp>
      <p:sp>
        <p:nvSpPr>
          <p:cNvPr id="210" name="DE0"/>
          <p:cNvSpPr/>
          <p:nvPr/>
        </p:nvSpPr>
        <p:spPr>
          <a:xfrm>
            <a:off x="279400" y="1536700"/>
            <a:ext cx="12192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6x</a:t>
            </a:r>
          </a:p>
        </p:txBody>
      </p:sp>
      <p:sp>
        <p:nvSpPr>
          <p:cNvPr id="211" name="DV0_0"/>
          <p:cNvSpPr/>
          <p:nvPr/>
        </p:nvSpPr>
        <p:spPr>
          <a:xfrm>
            <a:off x="1549400" y="1536700"/>
            <a:ext cx="7366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$308</a:t>
            </a:r>
          </a:p>
        </p:txBody>
      </p:sp>
      <p:sp>
        <p:nvSpPr>
          <p:cNvPr id="212" name="DV0_1"/>
          <p:cNvSpPr/>
          <p:nvPr/>
        </p:nvSpPr>
        <p:spPr>
          <a:xfrm>
            <a:off x="2336800" y="1536700"/>
            <a:ext cx="7366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$287</a:t>
            </a:r>
          </a:p>
        </p:txBody>
      </p:sp>
      <p:sp>
        <p:nvSpPr>
          <p:cNvPr id="213" name="DV0_2"/>
          <p:cNvSpPr/>
          <p:nvPr/>
        </p:nvSpPr>
        <p:spPr>
          <a:xfrm>
            <a:off x="3124200" y="1536700"/>
            <a:ext cx="7366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$268</a:t>
            </a:r>
          </a:p>
        </p:txBody>
      </p:sp>
      <p:sp>
        <p:nvSpPr>
          <p:cNvPr id="214" name="DV0_3"/>
          <p:cNvSpPr/>
          <p:nvPr/>
        </p:nvSpPr>
        <p:spPr>
          <a:xfrm>
            <a:off x="3911600" y="1536700"/>
            <a:ext cx="7366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$248</a:t>
            </a:r>
          </a:p>
        </p:txBody>
      </p:sp>
      <p:sp>
        <p:nvSpPr>
          <p:cNvPr id="215" name="DV0_4"/>
          <p:cNvSpPr/>
          <p:nvPr/>
        </p:nvSpPr>
        <p:spPr>
          <a:xfrm>
            <a:off x="4699000" y="1536700"/>
            <a:ext cx="7366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$240</a:t>
            </a:r>
          </a:p>
        </p:txBody>
      </p:sp>
      <p:sp>
        <p:nvSpPr>
          <p:cNvPr id="216" name="DV0_5"/>
          <p:cNvSpPr/>
          <p:nvPr/>
        </p:nvSpPr>
        <p:spPr>
          <a:xfrm>
            <a:off x="5486400" y="1536700"/>
            <a:ext cx="6350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$218</a:t>
            </a:r>
          </a:p>
        </p:txBody>
      </p:sp>
      <p:sp>
        <p:nvSpPr>
          <p:cNvPr id="220" name="DE1"/>
          <p:cNvSpPr/>
          <p:nvPr/>
        </p:nvSpPr>
        <p:spPr>
          <a:xfrm>
            <a:off x="279400" y="1828800"/>
            <a:ext cx="12192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7x</a:t>
            </a:r>
          </a:p>
        </p:txBody>
      </p:sp>
      <p:sp>
        <p:nvSpPr>
          <p:cNvPr id="221" name="DV1_0"/>
          <p:cNvSpPr/>
          <p:nvPr/>
        </p:nvSpPr>
        <p:spPr>
          <a:xfrm>
            <a:off x="1549400" y="1828800"/>
            <a:ext cx="7366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$342</a:t>
            </a:r>
          </a:p>
        </p:txBody>
      </p:sp>
      <p:sp>
        <p:nvSpPr>
          <p:cNvPr id="222" name="DV1_1"/>
          <p:cNvSpPr/>
          <p:nvPr/>
        </p:nvSpPr>
        <p:spPr>
          <a:xfrm>
            <a:off x="2336800" y="1828800"/>
            <a:ext cx="7366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$321</a:t>
            </a:r>
          </a:p>
        </p:txBody>
      </p:sp>
      <p:sp>
        <p:nvSpPr>
          <p:cNvPr id="223" name="DV1_2"/>
          <p:cNvSpPr/>
          <p:nvPr/>
        </p:nvSpPr>
        <p:spPr>
          <a:xfrm>
            <a:off x="3124200" y="1828800"/>
            <a:ext cx="7366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$301</a:t>
            </a:r>
          </a:p>
        </p:txBody>
      </p:sp>
      <p:sp>
        <p:nvSpPr>
          <p:cNvPr id="224" name="DV1_3"/>
          <p:cNvSpPr/>
          <p:nvPr/>
        </p:nvSpPr>
        <p:spPr>
          <a:xfrm>
            <a:off x="3911600" y="1828800"/>
            <a:ext cx="7366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$280</a:t>
            </a:r>
          </a:p>
        </p:txBody>
      </p:sp>
      <p:sp>
        <p:nvSpPr>
          <p:cNvPr id="225" name="DV1_4"/>
          <p:cNvSpPr/>
          <p:nvPr/>
        </p:nvSpPr>
        <p:spPr>
          <a:xfrm>
            <a:off x="4699000" y="1828800"/>
            <a:ext cx="7366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$271</a:t>
            </a:r>
          </a:p>
        </p:txBody>
      </p:sp>
      <p:sp>
        <p:nvSpPr>
          <p:cNvPr id="226" name="DV1_5"/>
          <p:cNvSpPr/>
          <p:nvPr/>
        </p:nvSpPr>
        <p:spPr>
          <a:xfrm>
            <a:off x="5486400" y="1828800"/>
            <a:ext cx="6350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$246</a:t>
            </a:r>
          </a:p>
        </p:txBody>
      </p:sp>
      <p:sp>
        <p:nvSpPr>
          <p:cNvPr id="230" name="DE2"/>
          <p:cNvSpPr/>
          <p:nvPr/>
        </p:nvSpPr>
        <p:spPr>
          <a:xfrm>
            <a:off x="279400" y="2120900"/>
            <a:ext cx="12192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8x</a:t>
            </a:r>
          </a:p>
        </p:txBody>
      </p:sp>
      <p:sp>
        <p:nvSpPr>
          <p:cNvPr id="231" name="DV2_0"/>
          <p:cNvSpPr/>
          <p:nvPr/>
        </p:nvSpPr>
        <p:spPr>
          <a:xfrm>
            <a:off x="1549400" y="2120900"/>
            <a:ext cx="7366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$389</a:t>
            </a:r>
          </a:p>
        </p:txBody>
      </p:sp>
      <p:sp>
        <p:nvSpPr>
          <p:cNvPr id="232" name="DV2_1"/>
          <p:cNvSpPr/>
          <p:nvPr/>
        </p:nvSpPr>
        <p:spPr>
          <a:xfrm>
            <a:off x="2336800" y="2120900"/>
            <a:ext cx="7366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$368</a:t>
            </a:r>
          </a:p>
        </p:txBody>
      </p:sp>
      <p:sp>
        <p:nvSpPr>
          <p:cNvPr id="233" name="DV2_2"/>
          <p:cNvSpPr/>
          <p:nvPr/>
        </p:nvSpPr>
        <p:spPr>
          <a:xfrm>
            <a:off x="3124200" y="2120900"/>
            <a:ext cx="7366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$347</a:t>
            </a:r>
          </a:p>
        </p:txBody>
      </p:sp>
      <p:sp>
        <p:nvSpPr>
          <p:cNvPr id="234" name="DV2_3"/>
          <p:cNvSpPr/>
          <p:nvPr/>
        </p:nvSpPr>
        <p:spPr>
          <a:xfrm>
            <a:off x="3911600" y="2120900"/>
            <a:ext cx="736600" cy="2794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$371 ★</a:t>
            </a:r>
          </a:p>
        </p:txBody>
      </p:sp>
      <p:sp>
        <p:nvSpPr>
          <p:cNvPr id="235" name="DV2_4"/>
          <p:cNvSpPr/>
          <p:nvPr/>
        </p:nvSpPr>
        <p:spPr>
          <a:xfrm>
            <a:off x="4699000" y="2120900"/>
            <a:ext cx="7366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$328</a:t>
            </a:r>
          </a:p>
        </p:txBody>
      </p:sp>
      <p:sp>
        <p:nvSpPr>
          <p:cNvPr id="236" name="DV2_5"/>
          <p:cNvSpPr/>
          <p:nvPr/>
        </p:nvSpPr>
        <p:spPr>
          <a:xfrm>
            <a:off x="5486400" y="2120900"/>
            <a:ext cx="6350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$296</a:t>
            </a:r>
          </a:p>
        </p:txBody>
      </p:sp>
      <p:sp>
        <p:nvSpPr>
          <p:cNvPr id="240" name="DE3"/>
          <p:cNvSpPr/>
          <p:nvPr/>
        </p:nvSpPr>
        <p:spPr>
          <a:xfrm>
            <a:off x="279400" y="2413000"/>
            <a:ext cx="12192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9x</a:t>
            </a:r>
          </a:p>
        </p:txBody>
      </p:sp>
      <p:sp>
        <p:nvSpPr>
          <p:cNvPr id="241" name="DV3_0"/>
          <p:cNvSpPr/>
          <p:nvPr/>
        </p:nvSpPr>
        <p:spPr>
          <a:xfrm>
            <a:off x="1549400" y="2413000"/>
            <a:ext cx="7366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$430</a:t>
            </a:r>
          </a:p>
        </p:txBody>
      </p:sp>
      <p:sp>
        <p:nvSpPr>
          <p:cNvPr id="242" name="DV3_1"/>
          <p:cNvSpPr/>
          <p:nvPr/>
        </p:nvSpPr>
        <p:spPr>
          <a:xfrm>
            <a:off x="2336800" y="2413000"/>
            <a:ext cx="7366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$409</a:t>
            </a:r>
          </a:p>
        </p:txBody>
      </p:sp>
      <p:sp>
        <p:nvSpPr>
          <p:cNvPr id="243" name="DV3_2"/>
          <p:cNvSpPr/>
          <p:nvPr/>
        </p:nvSpPr>
        <p:spPr>
          <a:xfrm>
            <a:off x="3124200" y="2413000"/>
            <a:ext cx="7366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$388</a:t>
            </a:r>
          </a:p>
        </p:txBody>
      </p:sp>
      <p:sp>
        <p:nvSpPr>
          <p:cNvPr id="244" name="DV3_3"/>
          <p:cNvSpPr/>
          <p:nvPr/>
        </p:nvSpPr>
        <p:spPr>
          <a:xfrm>
            <a:off x="3911600" y="2413000"/>
            <a:ext cx="7366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$410</a:t>
            </a:r>
          </a:p>
        </p:txBody>
      </p:sp>
      <p:sp>
        <p:nvSpPr>
          <p:cNvPr id="245" name="DV3_4"/>
          <p:cNvSpPr/>
          <p:nvPr/>
        </p:nvSpPr>
        <p:spPr>
          <a:xfrm>
            <a:off x="4699000" y="2413000"/>
            <a:ext cx="7366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$362</a:t>
            </a:r>
          </a:p>
        </p:txBody>
      </p:sp>
      <p:sp>
        <p:nvSpPr>
          <p:cNvPr id="246" name="DV3_5"/>
          <p:cNvSpPr/>
          <p:nvPr/>
        </p:nvSpPr>
        <p:spPr>
          <a:xfrm>
            <a:off x="5486400" y="2413000"/>
            <a:ext cx="6350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$329</a:t>
            </a:r>
          </a:p>
        </p:txBody>
      </p:sp>
      <p:sp>
        <p:nvSpPr>
          <p:cNvPr id="250" name="DE4"/>
          <p:cNvSpPr/>
          <p:nvPr/>
        </p:nvSpPr>
        <p:spPr>
          <a:xfrm>
            <a:off x="279400" y="2705100"/>
            <a:ext cx="12192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10x</a:t>
            </a:r>
          </a:p>
        </p:txBody>
      </p:sp>
      <p:sp>
        <p:nvSpPr>
          <p:cNvPr id="251" name="DV4_0"/>
          <p:cNvSpPr/>
          <p:nvPr/>
        </p:nvSpPr>
        <p:spPr>
          <a:xfrm>
            <a:off x="1549400" y="2705100"/>
            <a:ext cx="7366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$478</a:t>
            </a:r>
          </a:p>
        </p:txBody>
      </p:sp>
      <p:sp>
        <p:nvSpPr>
          <p:cNvPr id="252" name="DV4_1"/>
          <p:cNvSpPr/>
          <p:nvPr/>
        </p:nvSpPr>
        <p:spPr>
          <a:xfrm>
            <a:off x="2336800" y="2705100"/>
            <a:ext cx="7366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$456</a:t>
            </a:r>
          </a:p>
        </p:txBody>
      </p:sp>
      <p:sp>
        <p:nvSpPr>
          <p:cNvPr id="253" name="DV4_2"/>
          <p:cNvSpPr/>
          <p:nvPr/>
        </p:nvSpPr>
        <p:spPr>
          <a:xfrm>
            <a:off x="3124200" y="2705100"/>
            <a:ext cx="7366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$434</a:t>
            </a:r>
          </a:p>
        </p:txBody>
      </p:sp>
      <p:sp>
        <p:nvSpPr>
          <p:cNvPr id="254" name="DV4_3"/>
          <p:cNvSpPr/>
          <p:nvPr/>
        </p:nvSpPr>
        <p:spPr>
          <a:xfrm>
            <a:off x="3911600" y="2705100"/>
            <a:ext cx="7366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$458</a:t>
            </a:r>
          </a:p>
        </p:txBody>
      </p:sp>
      <p:sp>
        <p:nvSpPr>
          <p:cNvPr id="255" name="DV4_4"/>
          <p:cNvSpPr/>
          <p:nvPr/>
        </p:nvSpPr>
        <p:spPr>
          <a:xfrm>
            <a:off x="4699000" y="2705100"/>
            <a:ext cx="7366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$397</a:t>
            </a:r>
          </a:p>
        </p:txBody>
      </p:sp>
      <p:sp>
        <p:nvSpPr>
          <p:cNvPr id="256" name="DV4_5"/>
          <p:cNvSpPr/>
          <p:nvPr/>
        </p:nvSpPr>
        <p:spPr>
          <a:xfrm>
            <a:off x="5486400" y="2705100"/>
            <a:ext cx="6350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$361</a:t>
            </a:r>
          </a:p>
        </p:txBody>
      </p:sp>
      <p:sp>
        <p:nvSpPr>
          <p:cNvPr id="260" name="DNote"/>
          <p:cNvSpPr/>
          <p:nvPr/>
        </p:nvSpPr>
        <p:spPr>
          <a:xfrm>
            <a:off x="279400" y="3035300"/>
            <a:ext cx="6223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900" i="1" dirty="0">
                <a:solidFill>
                  <a:srgbClr val="555555"/>
                </a:solidFill>
              </a:rPr>
              <a:t>★ Base case: 8x exit multiple, 7.59% WACC — implies $371/share intrinsic value</a:t>
            </a:r>
          </a:p>
        </p:txBody>
      </p:sp>
      <p:sp>
        <p:nvSpPr>
          <p:cNvPr id="270" name="NHdr"/>
          <p:cNvSpPr/>
          <p:nvPr/>
        </p:nvSpPr>
        <p:spPr>
          <a:xfrm>
            <a:off x="279400" y="3251200"/>
            <a:ext cx="622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NAVPS BY GOLD PRICE &amp; DISCOUNT RATE ($/share)</a:t>
            </a:r>
          </a:p>
        </p:txBody>
      </p:sp>
      <p:sp>
        <p:nvSpPr>
          <p:cNvPr id="280" name="NH0"/>
          <p:cNvSpPr/>
          <p:nvPr/>
        </p:nvSpPr>
        <p:spPr>
          <a:xfrm>
            <a:off x="279400" y="3505200"/>
            <a:ext cx="1422400" cy="2794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Gold Price</a:t>
            </a:r>
          </a:p>
        </p:txBody>
      </p:sp>
      <p:sp>
        <p:nvSpPr>
          <p:cNvPr id="281" name="NH1"/>
          <p:cNvSpPr/>
          <p:nvPr/>
        </p:nvSpPr>
        <p:spPr>
          <a:xfrm>
            <a:off x="1752600" y="3505200"/>
            <a:ext cx="838200" cy="2794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b="1" dirty="0">
                <a:solidFill>
                  <a:srgbClr val="8A6C00"/>
                </a:solidFill>
              </a:rPr>
              <a:t>3% DR</a:t>
            </a:r>
          </a:p>
        </p:txBody>
      </p:sp>
      <p:sp>
        <p:nvSpPr>
          <p:cNvPr id="282" name="NH2"/>
          <p:cNvSpPr/>
          <p:nvPr/>
        </p:nvSpPr>
        <p:spPr>
          <a:xfrm>
            <a:off x="2641600" y="3505200"/>
            <a:ext cx="838200" cy="2794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b="1" dirty="0">
                <a:solidFill>
                  <a:srgbClr val="8A6C00"/>
                </a:solidFill>
              </a:rPr>
              <a:t>5% DR</a:t>
            </a:r>
          </a:p>
        </p:txBody>
      </p:sp>
      <p:sp>
        <p:nvSpPr>
          <p:cNvPr id="283" name="NH3"/>
          <p:cNvSpPr/>
          <p:nvPr/>
        </p:nvSpPr>
        <p:spPr>
          <a:xfrm>
            <a:off x="3530600" y="3505200"/>
            <a:ext cx="838200" cy="2794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b="1" dirty="0">
                <a:solidFill>
                  <a:srgbClr val="8A6C00"/>
                </a:solidFill>
              </a:rPr>
              <a:t>7% DR</a:t>
            </a:r>
          </a:p>
        </p:txBody>
      </p:sp>
      <p:sp>
        <p:nvSpPr>
          <p:cNvPr id="284" name="NH4"/>
          <p:cNvSpPr/>
          <p:nvPr/>
        </p:nvSpPr>
        <p:spPr>
          <a:xfrm>
            <a:off x="4419600" y="3505200"/>
            <a:ext cx="838200" cy="2794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000" b="1" dirty="0">
                <a:solidFill>
                  <a:srgbClr val="8A6C00"/>
                </a:solidFill>
              </a:rPr>
              <a:t>9% DR</a:t>
            </a:r>
          </a:p>
        </p:txBody>
      </p:sp>
      <p:sp>
        <p:nvSpPr>
          <p:cNvPr id="290" name="NV0_0"/>
          <p:cNvSpPr/>
          <p:nvPr/>
        </p:nvSpPr>
        <p:spPr>
          <a:xfrm>
            <a:off x="279400" y="3810000"/>
            <a:ext cx="14224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$3,000/oz</a:t>
            </a:r>
          </a:p>
        </p:txBody>
      </p:sp>
      <p:sp>
        <p:nvSpPr>
          <p:cNvPr id="291" name="NV0_1"/>
          <p:cNvSpPr/>
          <p:nvPr/>
        </p:nvSpPr>
        <p:spPr>
          <a:xfrm>
            <a:off x="1752600" y="3810000"/>
            <a:ext cx="8382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$78</a:t>
            </a:r>
          </a:p>
        </p:txBody>
      </p:sp>
      <p:sp>
        <p:nvSpPr>
          <p:cNvPr id="292" name="NV0_2"/>
          <p:cNvSpPr/>
          <p:nvPr/>
        </p:nvSpPr>
        <p:spPr>
          <a:xfrm>
            <a:off x="2641600" y="3810000"/>
            <a:ext cx="8382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$62</a:t>
            </a:r>
          </a:p>
        </p:txBody>
      </p:sp>
      <p:sp>
        <p:nvSpPr>
          <p:cNvPr id="293" name="NV0_3"/>
          <p:cNvSpPr/>
          <p:nvPr/>
        </p:nvSpPr>
        <p:spPr>
          <a:xfrm>
            <a:off x="3530600" y="3810000"/>
            <a:ext cx="8382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$50</a:t>
            </a:r>
          </a:p>
        </p:txBody>
      </p:sp>
      <p:sp>
        <p:nvSpPr>
          <p:cNvPr id="294" name="NV0_4"/>
          <p:cNvSpPr/>
          <p:nvPr/>
        </p:nvSpPr>
        <p:spPr>
          <a:xfrm>
            <a:off x="4419600" y="3810000"/>
            <a:ext cx="8382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$41</a:t>
            </a:r>
          </a:p>
        </p:txBody>
      </p:sp>
      <p:sp>
        <p:nvSpPr>
          <p:cNvPr id="300" name="NV1_0"/>
          <p:cNvSpPr/>
          <p:nvPr/>
        </p:nvSpPr>
        <p:spPr>
          <a:xfrm>
            <a:off x="279400" y="4102100"/>
            <a:ext cx="14224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$4,000/oz</a:t>
            </a:r>
          </a:p>
        </p:txBody>
      </p:sp>
      <p:sp>
        <p:nvSpPr>
          <p:cNvPr id="301" name="NV1_1"/>
          <p:cNvSpPr/>
          <p:nvPr/>
        </p:nvSpPr>
        <p:spPr>
          <a:xfrm>
            <a:off x="1752600" y="4102100"/>
            <a:ext cx="8382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$113</a:t>
            </a:r>
          </a:p>
        </p:txBody>
      </p:sp>
      <p:sp>
        <p:nvSpPr>
          <p:cNvPr id="302" name="NV1_2"/>
          <p:cNvSpPr/>
          <p:nvPr/>
        </p:nvSpPr>
        <p:spPr>
          <a:xfrm>
            <a:off x="2641600" y="4102100"/>
            <a:ext cx="8382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$91</a:t>
            </a:r>
          </a:p>
        </p:txBody>
      </p:sp>
      <p:sp>
        <p:nvSpPr>
          <p:cNvPr id="303" name="NV1_3"/>
          <p:cNvSpPr/>
          <p:nvPr/>
        </p:nvSpPr>
        <p:spPr>
          <a:xfrm>
            <a:off x="3530600" y="4102100"/>
            <a:ext cx="8382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$74</a:t>
            </a:r>
          </a:p>
        </p:txBody>
      </p:sp>
      <p:sp>
        <p:nvSpPr>
          <p:cNvPr id="304" name="NV1_4"/>
          <p:cNvSpPr/>
          <p:nvPr/>
        </p:nvSpPr>
        <p:spPr>
          <a:xfrm>
            <a:off x="4419600" y="4102100"/>
            <a:ext cx="8382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$61</a:t>
            </a:r>
          </a:p>
        </p:txBody>
      </p:sp>
      <p:sp>
        <p:nvSpPr>
          <p:cNvPr id="310" name="NV2_0"/>
          <p:cNvSpPr/>
          <p:nvPr/>
        </p:nvSpPr>
        <p:spPr>
          <a:xfrm>
            <a:off x="279400" y="4394200"/>
            <a:ext cx="1422400" cy="2794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b="1" dirty="0">
                <a:solidFill>
                  <a:srgbClr val="3D3D3D"/>
                </a:solidFill>
              </a:rPr>
              <a:t>$5,200/oz</a:t>
            </a:r>
          </a:p>
        </p:txBody>
      </p:sp>
      <p:sp>
        <p:nvSpPr>
          <p:cNvPr id="311" name="NV2_1"/>
          <p:cNvSpPr/>
          <p:nvPr/>
        </p:nvSpPr>
        <p:spPr>
          <a:xfrm>
            <a:off x="1752600" y="4394200"/>
            <a:ext cx="838200" cy="2794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3D3D3D"/>
                </a:solidFill>
              </a:rPr>
              <a:t>$162</a:t>
            </a:r>
          </a:p>
        </p:txBody>
      </p:sp>
      <p:sp>
        <p:nvSpPr>
          <p:cNvPr id="312" name="NV2_2"/>
          <p:cNvSpPr/>
          <p:nvPr/>
        </p:nvSpPr>
        <p:spPr>
          <a:xfrm>
            <a:off x="2641600" y="4394200"/>
            <a:ext cx="838200" cy="2794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EFC400"/>
                </a:solidFill>
              </a:rPr>
              <a:t>$131</a:t>
            </a:r>
          </a:p>
        </p:txBody>
      </p:sp>
      <p:sp>
        <p:nvSpPr>
          <p:cNvPr id="313" name="NV2_3"/>
          <p:cNvSpPr/>
          <p:nvPr/>
        </p:nvSpPr>
        <p:spPr>
          <a:xfrm>
            <a:off x="3530600" y="4394200"/>
            <a:ext cx="838200" cy="2794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3D3D3D"/>
                </a:solidFill>
              </a:rPr>
              <a:t>$107</a:t>
            </a:r>
          </a:p>
        </p:txBody>
      </p:sp>
      <p:sp>
        <p:nvSpPr>
          <p:cNvPr id="314" name="NV2_4"/>
          <p:cNvSpPr/>
          <p:nvPr/>
        </p:nvSpPr>
        <p:spPr>
          <a:xfrm>
            <a:off x="4419600" y="4394200"/>
            <a:ext cx="838200" cy="279400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b="1" dirty="0">
                <a:solidFill>
                  <a:srgbClr val="3D3D3D"/>
                </a:solidFill>
              </a:rPr>
              <a:t>$88</a:t>
            </a:r>
          </a:p>
        </p:txBody>
      </p:sp>
      <p:sp>
        <p:nvSpPr>
          <p:cNvPr id="320" name="NV3_0"/>
          <p:cNvSpPr/>
          <p:nvPr/>
        </p:nvSpPr>
        <p:spPr>
          <a:xfrm>
            <a:off x="279400" y="4686300"/>
            <a:ext cx="14224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$6,000/oz</a:t>
            </a:r>
          </a:p>
        </p:txBody>
      </p:sp>
      <p:sp>
        <p:nvSpPr>
          <p:cNvPr id="321" name="NV3_1"/>
          <p:cNvSpPr/>
          <p:nvPr/>
        </p:nvSpPr>
        <p:spPr>
          <a:xfrm>
            <a:off x="1752600" y="4686300"/>
            <a:ext cx="8382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$194</a:t>
            </a:r>
          </a:p>
        </p:txBody>
      </p:sp>
      <p:sp>
        <p:nvSpPr>
          <p:cNvPr id="322" name="NV3_2"/>
          <p:cNvSpPr/>
          <p:nvPr/>
        </p:nvSpPr>
        <p:spPr>
          <a:xfrm>
            <a:off x="2641600" y="4686300"/>
            <a:ext cx="8382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$156</a:t>
            </a:r>
          </a:p>
        </p:txBody>
      </p:sp>
      <p:sp>
        <p:nvSpPr>
          <p:cNvPr id="323" name="NV3_3"/>
          <p:cNvSpPr/>
          <p:nvPr/>
        </p:nvSpPr>
        <p:spPr>
          <a:xfrm>
            <a:off x="3530600" y="4686300"/>
            <a:ext cx="8382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$127</a:t>
            </a:r>
          </a:p>
        </p:txBody>
      </p:sp>
      <p:sp>
        <p:nvSpPr>
          <p:cNvPr id="324" name="NV3_4"/>
          <p:cNvSpPr/>
          <p:nvPr/>
        </p:nvSpPr>
        <p:spPr>
          <a:xfrm>
            <a:off x="4419600" y="4686300"/>
            <a:ext cx="8382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$105</a:t>
            </a:r>
          </a:p>
        </p:txBody>
      </p:sp>
      <p:sp>
        <p:nvSpPr>
          <p:cNvPr id="330" name="NV4_0"/>
          <p:cNvSpPr/>
          <p:nvPr/>
        </p:nvSpPr>
        <p:spPr>
          <a:xfrm>
            <a:off x="279400" y="4978400"/>
            <a:ext cx="14224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100" dirty="0">
                <a:solidFill>
                  <a:srgbClr val="3D3D3D"/>
                </a:solidFill>
              </a:rPr>
              <a:t>$7,000/oz</a:t>
            </a:r>
          </a:p>
        </p:txBody>
      </p:sp>
      <p:sp>
        <p:nvSpPr>
          <p:cNvPr id="331" name="NV4_1"/>
          <p:cNvSpPr/>
          <p:nvPr/>
        </p:nvSpPr>
        <p:spPr>
          <a:xfrm>
            <a:off x="1752600" y="4978400"/>
            <a:ext cx="8382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$232</a:t>
            </a:r>
          </a:p>
        </p:txBody>
      </p:sp>
      <p:sp>
        <p:nvSpPr>
          <p:cNvPr id="332" name="NV4_2"/>
          <p:cNvSpPr/>
          <p:nvPr/>
        </p:nvSpPr>
        <p:spPr>
          <a:xfrm>
            <a:off x="2641600" y="4978400"/>
            <a:ext cx="8382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$187</a:t>
            </a:r>
          </a:p>
        </p:txBody>
      </p:sp>
      <p:sp>
        <p:nvSpPr>
          <p:cNvPr id="333" name="NV4_3"/>
          <p:cNvSpPr/>
          <p:nvPr/>
        </p:nvSpPr>
        <p:spPr>
          <a:xfrm>
            <a:off x="3530600" y="4978400"/>
            <a:ext cx="8382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$153</a:t>
            </a:r>
          </a:p>
        </p:txBody>
      </p:sp>
      <p:sp>
        <p:nvSpPr>
          <p:cNvPr id="334" name="NV4_4"/>
          <p:cNvSpPr/>
          <p:nvPr/>
        </p:nvSpPr>
        <p:spPr>
          <a:xfrm>
            <a:off x="4419600" y="4978400"/>
            <a:ext cx="838200" cy="2794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en-US" sz="1100" dirty="0">
                <a:solidFill>
                  <a:srgbClr val="3D3D3D"/>
                </a:solidFill>
              </a:rPr>
              <a:t>$126</a:t>
            </a:r>
          </a:p>
        </p:txBody>
      </p:sp>
      <p:sp>
        <p:nvSpPr>
          <p:cNvPr id="2" name="VDiv"/>
          <p:cNvSpPr/>
          <p:nvPr/>
        </p:nvSpPr>
        <p:spPr>
          <a:xfrm>
            <a:off x="6477000" y="889000"/>
            <a:ext cx="25400" cy="58420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3" name="KMHdr"/>
          <p:cNvSpPr/>
          <p:nvPr/>
        </p:nvSpPr>
        <p:spPr>
          <a:xfrm>
            <a:off x="6604000" y="9779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sz="1000" b="1" dirty="0">
                <a:solidFill>
                  <a:srgbClr val="8A6C00"/>
                </a:solidFill>
              </a:rPr>
              <a:t>KEY MODEL PARAMETERS</a:t>
            </a:r>
          </a:p>
        </p:txBody>
      </p:sp>
      <p:sp>
        <p:nvSpPr>
          <p:cNvPr id="4" name="Param0"/>
          <p:cNvSpPr/>
          <p:nvPr/>
        </p:nvSpPr>
        <p:spPr>
          <a:xfrm>
            <a:off x="6604000" y="12319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Gold Price (FY2026E): $6,000/oz  |  (FY2025A): $3,454/oz</a:t>
            </a:r>
          </a:p>
        </p:txBody>
      </p:sp>
      <p:sp>
        <p:nvSpPr>
          <p:cNvPr id="5" name="Param1"/>
          <p:cNvSpPr/>
          <p:nvPr/>
        </p:nvSpPr>
        <p:spPr>
          <a:xfrm>
            <a:off x="6604000" y="15367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WACC: 7.59%  |  Ke: 9.2%  |  Kd: 5.1%  |  D/TC: 10%  |  Tax: 28%</a:t>
            </a:r>
          </a:p>
        </p:txBody>
      </p:sp>
      <p:sp>
        <p:nvSpPr>
          <p:cNvPr id="6" name="Param2"/>
          <p:cNvSpPr/>
          <p:nvPr/>
        </p:nvSpPr>
        <p:spPr>
          <a:xfrm>
            <a:off x="6604000" y="18415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Capex: $2,285M FY2026E  |  $2,300M FY2027E  |  $2,390M FY2028E</a:t>
            </a:r>
          </a:p>
        </p:txBody>
      </p:sp>
      <p:sp>
        <p:nvSpPr>
          <p:cNvPr id="7" name="Param3"/>
          <p:cNvSpPr/>
          <p:nvPr/>
        </p:nvSpPr>
        <p:spPr>
          <a:xfrm>
            <a:off x="6604000" y="21463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Terminal Value: 8x FY2029E EBITDA ($18,853M)  =  $150.8B TV</a:t>
            </a:r>
          </a:p>
        </p:txBody>
      </p:sp>
      <p:sp>
        <p:nvSpPr>
          <p:cNvPr id="8" name="Param4"/>
          <p:cNvSpPr/>
          <p:nvPr/>
        </p:nvSpPr>
        <p:spPr>
          <a:xfrm>
            <a:off x="6604000" y="24511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Shares Outstanding: ~493M (diluted)  |  Share Price: $240.49</a:t>
            </a:r>
          </a:p>
        </p:txBody>
      </p:sp>
      <p:sp>
        <p:nvSpPr>
          <p:cNvPr id="315" name="Param5"/>
          <p:cNvSpPr/>
          <p:nvPr/>
        </p:nvSpPr>
        <p:spPr>
          <a:xfrm>
            <a:off x="6604000" y="27559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100" dirty="0">
                <a:solidFill>
                  <a:srgbClr val="4A4A4A"/>
                </a:solidFill>
              </a:rPr>
              <a:t>NAV: 55.4 Moz P&amp;P @ $300/oz long-run gold  =  $162.37/share</a:t>
            </a:r>
          </a:p>
        </p:txBody>
      </p:sp>
      <p:sp>
        <p:nvSpPr>
          <p:cNvPr id="316" name="PMSep"/>
          <p:cNvSpPr/>
          <p:nvPr/>
        </p:nvSpPr>
        <p:spPr>
          <a:xfrm>
            <a:off x="6604000" y="3060700"/>
            <a:ext cx="5334000" cy="25400"/>
          </a:xfrm>
          <a:prstGeom prst="rect">
            <a:avLst/>
          </a:prstGeom>
          <a:solidFill>
            <a:srgbClr val="62666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9" name="KBg0"/>
          <p:cNvSpPr/>
          <p:nvPr/>
        </p:nvSpPr>
        <p:spPr>
          <a:xfrm>
            <a:off x="6604000" y="3162300"/>
            <a:ext cx="2590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326" name="KLbl0"/>
          <p:cNvSpPr/>
          <p:nvPr/>
        </p:nvSpPr>
        <p:spPr>
          <a:xfrm>
            <a:off x="6680200" y="3213100"/>
            <a:ext cx="24638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FY2026E Revenue</a:t>
            </a:r>
          </a:p>
        </p:txBody>
      </p:sp>
      <p:sp>
        <p:nvSpPr>
          <p:cNvPr id="10" name="KVal0"/>
          <p:cNvSpPr/>
          <p:nvPr/>
        </p:nvSpPr>
        <p:spPr>
          <a:xfrm>
            <a:off x="6680200" y="3441700"/>
            <a:ext cx="2463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200" b="1" dirty="0">
                <a:solidFill>
                  <a:srgbClr val="EFC400"/>
                </a:solidFill>
              </a:rPr>
              <a:t>$20.4B</a:t>
            </a:r>
          </a:p>
        </p:txBody>
      </p:sp>
      <p:sp>
        <p:nvSpPr>
          <p:cNvPr id="11" name="KBg1"/>
          <p:cNvSpPr/>
          <p:nvPr/>
        </p:nvSpPr>
        <p:spPr>
          <a:xfrm>
            <a:off x="9271000" y="3162300"/>
            <a:ext cx="2590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327" name="KLbl1"/>
          <p:cNvSpPr/>
          <p:nvPr/>
        </p:nvSpPr>
        <p:spPr>
          <a:xfrm>
            <a:off x="9347200" y="3213100"/>
            <a:ext cx="24638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FY2026E EBITDA</a:t>
            </a:r>
          </a:p>
        </p:txBody>
      </p:sp>
      <p:sp>
        <p:nvSpPr>
          <p:cNvPr id="12" name="KVal1"/>
          <p:cNvSpPr/>
          <p:nvPr/>
        </p:nvSpPr>
        <p:spPr>
          <a:xfrm>
            <a:off x="9347200" y="3441700"/>
            <a:ext cx="2463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200" b="1" dirty="0">
                <a:solidFill>
                  <a:srgbClr val="EFC400"/>
                </a:solidFill>
              </a:rPr>
              <a:t>$16.2B (79.3%)</a:t>
            </a:r>
          </a:p>
        </p:txBody>
      </p:sp>
      <p:sp>
        <p:nvSpPr>
          <p:cNvPr id="13" name="KBg2"/>
          <p:cNvSpPr/>
          <p:nvPr/>
        </p:nvSpPr>
        <p:spPr>
          <a:xfrm>
            <a:off x="6604000" y="3797300"/>
            <a:ext cx="2590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328" name="KLbl2"/>
          <p:cNvSpPr/>
          <p:nvPr/>
        </p:nvSpPr>
        <p:spPr>
          <a:xfrm>
            <a:off x="6680200" y="3848100"/>
            <a:ext cx="24638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FY2026E FCF</a:t>
            </a:r>
          </a:p>
        </p:txBody>
      </p:sp>
      <p:sp>
        <p:nvSpPr>
          <p:cNvPr id="14" name="KVal2"/>
          <p:cNvSpPr/>
          <p:nvPr/>
        </p:nvSpPr>
        <p:spPr>
          <a:xfrm>
            <a:off x="6680200" y="4076700"/>
            <a:ext cx="2463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200" b="1" dirty="0">
                <a:solidFill>
                  <a:srgbClr val="EFC400"/>
                </a:solidFill>
              </a:rPr>
              <a:t>$8.9B ($17.96/sh)</a:t>
            </a:r>
          </a:p>
        </p:txBody>
      </p:sp>
      <p:sp>
        <p:nvSpPr>
          <p:cNvPr id="15" name="KBg3"/>
          <p:cNvSpPr/>
          <p:nvPr/>
        </p:nvSpPr>
        <p:spPr>
          <a:xfrm>
            <a:off x="9271000" y="3797300"/>
            <a:ext cx="2590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329" name="KLbl3"/>
          <p:cNvSpPr/>
          <p:nvPr/>
        </p:nvSpPr>
        <p:spPr>
          <a:xfrm>
            <a:off x="9347200" y="3848100"/>
            <a:ext cx="24638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FY2026E EPS</a:t>
            </a:r>
          </a:p>
        </p:txBody>
      </p:sp>
      <p:sp>
        <p:nvSpPr>
          <p:cNvPr id="335" name="KVal3"/>
          <p:cNvSpPr/>
          <p:nvPr/>
        </p:nvSpPr>
        <p:spPr>
          <a:xfrm>
            <a:off x="9347200" y="4076700"/>
            <a:ext cx="2463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200" b="1" dirty="0">
                <a:solidFill>
                  <a:srgbClr val="221F1F"/>
                </a:solidFill>
              </a:rPr>
              <a:t>$19.15/share</a:t>
            </a:r>
          </a:p>
        </p:txBody>
      </p:sp>
      <p:sp>
        <p:nvSpPr>
          <p:cNvPr id="16" name="KBg4"/>
          <p:cNvSpPr/>
          <p:nvPr/>
        </p:nvSpPr>
        <p:spPr>
          <a:xfrm>
            <a:off x="6604000" y="4432300"/>
            <a:ext cx="2590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7" name="KLbl4"/>
          <p:cNvSpPr/>
          <p:nvPr/>
        </p:nvSpPr>
        <p:spPr>
          <a:xfrm>
            <a:off x="6680200" y="4483100"/>
            <a:ext cx="24638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NAVPS (Reserve)</a:t>
            </a:r>
          </a:p>
        </p:txBody>
      </p:sp>
      <p:sp>
        <p:nvSpPr>
          <p:cNvPr id="336" name="KVal4"/>
          <p:cNvSpPr/>
          <p:nvPr/>
        </p:nvSpPr>
        <p:spPr>
          <a:xfrm>
            <a:off x="6680200" y="4711700"/>
            <a:ext cx="2463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200" b="1" dirty="0">
                <a:solidFill>
                  <a:srgbClr val="221F1F"/>
                </a:solidFill>
              </a:rPr>
              <a:t>$162.37/share</a:t>
            </a:r>
          </a:p>
        </p:txBody>
      </p:sp>
      <p:sp>
        <p:nvSpPr>
          <p:cNvPr id="325" name="KBg5"/>
          <p:cNvSpPr/>
          <p:nvPr/>
        </p:nvSpPr>
        <p:spPr>
          <a:xfrm>
            <a:off x="9271000" y="4432300"/>
            <a:ext cx="2590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endParaRPr/>
          </a:p>
        </p:txBody>
      </p:sp>
      <p:sp>
        <p:nvSpPr>
          <p:cNvPr id="18" name="KLbl5"/>
          <p:cNvSpPr/>
          <p:nvPr/>
        </p:nvSpPr>
        <p:spPr>
          <a:xfrm>
            <a:off x="9347200" y="4483100"/>
            <a:ext cx="24638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solidFill>
                  <a:srgbClr val="62666A"/>
                </a:solidFill>
              </a:rPr>
              <a:t>DCF Intrinsic Value</a:t>
            </a:r>
          </a:p>
        </p:txBody>
      </p:sp>
      <p:sp>
        <p:nvSpPr>
          <p:cNvPr id="337" name="KVal5"/>
          <p:cNvSpPr/>
          <p:nvPr/>
        </p:nvSpPr>
        <p:spPr>
          <a:xfrm>
            <a:off x="9347200" y="4711700"/>
            <a:ext cx="2463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200" b="1" dirty="0">
                <a:solidFill>
                  <a:srgbClr val="EFC400"/>
                </a:solidFill>
              </a:rPr>
              <a:t>$371/share (50% wt)</a:t>
            </a:r>
          </a:p>
        </p:txBody>
      </p:sp>
      <p:sp>
        <p:nvSpPr>
          <p:cNvPr id="400" name="SrcHdr"/>
          <p:cNvSpPr/>
          <p:nvPr/>
        </p:nvSpPr>
        <p:spPr>
          <a:xfrm>
            <a:off x="279400" y="5346700"/>
            <a:ext cx="116332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i="1" dirty="0">
                <a:solidFill>
                  <a:srgbClr val="555555"/>
                </a:solidFill>
              </a:rPr>
              <a:t>SOURCES: AEM Q4 2025 News Release (Feb 12, 2026) | AEM-model.xlsx (Jaden Kwek, Feb 23, 2026) | Company filings | Bloomberg (Feb 2026)</a:t>
            </a:r>
          </a:p>
        </p:txBody>
      </p:sp>
      <p:sp>
        <p:nvSpPr>
          <p:cNvPr id="401" name="Disc"/>
          <p:cNvSpPr/>
          <p:nvPr/>
        </p:nvSpPr>
        <p:spPr>
          <a:xfrm>
            <a:off x="279400" y="5575300"/>
            <a:ext cx="1163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lang="en-US" sz="900" i="1" dirty="0">
                <a:solidFill>
                  <a:srgbClr val="555555"/>
                </a:solidFill>
              </a:rPr>
              <a:t>For informational and educational purposes only. Not investment advice. All projections are author estimates. Author: Jaden Kwek | jadenkwek.com</a:t>
            </a:r>
          </a:p>
        </p:txBody>
      </p:sp>
    </p:spTree>
    <p:extLst>
      <p:ext uri="{BB962C8B-B14F-4D97-AF65-F5344CB8AC3E}">
        <p14:creationId xmlns:p14="http://schemas.microsoft.com/office/powerpoint/2010/main" val="3978388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F2E"/>
      </a:dk1>
      <a:lt1>
        <a:srgbClr val="FFFFFF"/>
      </a:lt1>
      <a:dk2>
        <a:srgbClr val="0D1B2A"/>
      </a:dk2>
      <a:lt2>
        <a:srgbClr val="F4F5F7"/>
      </a:lt2>
      <a:accent1>
        <a:srgbClr val="C9A84C"/>
      </a:accent1>
      <a:accent2>
        <a:srgbClr val="2E5D9B"/>
      </a:accent2>
      <a:accent3>
        <a:srgbClr val="3A9E6C"/>
      </a:accent3>
      <a:accent4>
        <a:srgbClr val="D4463A"/>
      </a:accent4>
      <a:accent5>
        <a:srgbClr val="7B8FA6"/>
      </a:accent5>
      <a:accent6>
        <a:srgbClr val="E8B84B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76427EE-7F01-4381-9E8C-AD39D2F33AC6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5138</Words>
  <Application>Microsoft Office PowerPoint</Application>
  <PresentationFormat>Widescreen</PresentationFormat>
  <Paragraphs>923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Jaden Kwek</dc:creator>
  <cp:lastModifiedBy>Jaden Kwek</cp:lastModifiedBy>
  <cp:revision>1</cp:revision>
  <dcterms:created xsi:type="dcterms:W3CDTF">2026-02-23T22:19:55Z</dcterms:created>
  <dcterms:modified xsi:type="dcterms:W3CDTF">2026-02-24T04:35:05Z</dcterms:modified>
</cp:coreProperties>
</file>